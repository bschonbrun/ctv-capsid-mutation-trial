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Executive summary: the finding, the evidence spine, the plan, the ask — and what it demonstrates about the AI method.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finding: the prototype exists, the gate is a two-gene pair, and movement/titer are untouched by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not the coat: falsified on sequence identity (240/240). Round-3 correction: the 17/90 'functional null' was never in Shilts 2020 — struck from the record. What survives: CPm is still the foregut ligand.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Approaches A/B/C as mechanism bets. A leads; B prices the p33 alternative; C waits for A's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Method summary for executives: speed from structure; and the platform lesson — portfolio over vendor, in the team's own experience.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Cost and clock: 20 weeks, roughly $8-13K, gated at week nine. Pass line pre-registered at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ask: five record questions, one afternoon. Parallel AI work continues while the greenhouse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bounded downside, platform upside. The ask stands — confirm the inputs, start the alignment.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812"/>
        </a:solidFill>
      </p:bgPr>
    </p:bg>
    <p:spTree>
      <p:nvGrpSpPr>
        <p:cNvPr id="1" name=""/>
        <p:cNvGrpSpPr/>
        <p:nvPr/>
      </p:nvGrpSpPr>
      <p:grpSpPr>
        <a:xfrm>
          <a:off x="0" y="0"/>
          <a:ext cx="0" cy="0"/>
          <a:chOff x="0" y="0"/>
          <a:chExt cx="0" cy="0"/>
        </a:xfrm>
      </p:grpSpPr>
      <p:sp>
        <p:nvSpPr>
          <p:cNvPr id="2" name="Text 0"/>
          <p:cNvSpPr txBox="1"/>
          <p:nvPr/>
        </p:nvSpPr>
        <p:spPr>
          <a:xfrm>
            <a:off x="512064" y="356616"/>
            <a:ext cx="4572000" cy="182880"/>
          </a:xfrm>
          <a:prstGeom prst="rect">
            <a:avLst/>
          </a:prstGeom>
          <a:noFill/>
          <a:ln/>
        </p:spPr>
        <p:txBody>
          <a:bodyPr wrap="square" lIns="0" tIns="0" rIns="0" bIns="0" rtlCol="0" anchor="ctr"/>
          <a:lstStyle/>
          <a:p>
            <a:pPr indent="0" marL="0">
              <a:buNone/>
            </a:pPr>
            <a:r>
              <a:rPr lang="en-US" sz="650" spc="200" kern="0" dirty="0">
                <a:solidFill>
                  <a:srgbClr val="B3AE9F"/>
                </a:solidFill>
                <a:latin typeface="JetBrains Mono" pitchFamily="34" charset="0"/>
                <a:ea typeface="JetBrains Mono" pitchFamily="34" charset="-122"/>
                <a:cs typeface="JetBrains Mono" pitchFamily="34" charset="-120"/>
              </a:rPr>
              <a:t>SILVEC · BIOLOGICS</a:t>
            </a:r>
            <a:endParaRPr lang="en-US" sz="650" dirty="0"/>
          </a:p>
        </p:txBody>
      </p:sp>
      <p:sp>
        <p:nvSpPr>
          <p:cNvPr id="3" name="Text 1"/>
          <p:cNvSpPr txBox="1"/>
          <p:nvPr/>
        </p:nvSpPr>
        <p:spPr>
          <a:xfrm>
            <a:off x="7114032" y="356616"/>
            <a:ext cx="4572000" cy="182880"/>
          </a:xfrm>
          <a:prstGeom prst="rect">
            <a:avLst/>
          </a:prstGeom>
          <a:noFill/>
          <a:ln/>
        </p:spPr>
        <p:txBody>
          <a:bodyPr wrap="square" lIns="0" tIns="0" rIns="0" bIns="0" rtlCol="0" anchor="ctr"/>
          <a:lstStyle/>
          <a:p>
            <a:pPr algn="r" indent="0" marL="0">
              <a:buNone/>
            </a:pPr>
            <a:r>
              <a:rPr lang="en-US" sz="650" spc="200" kern="0" dirty="0">
                <a:solidFill>
                  <a:srgbClr val="B3AE9F"/>
                </a:solidFill>
                <a:latin typeface="JetBrains Mono" pitchFamily="34" charset="0"/>
                <a:ea typeface="JetBrains Mono" pitchFamily="34" charset="-122"/>
                <a:cs typeface="JetBrains Mono" pitchFamily="34" charset="-120"/>
              </a:rPr>
              <a:t>EXECUTIVE · SUMMARY</a:t>
            </a:r>
            <a:endParaRPr lang="en-US" sz="650" dirty="0"/>
          </a:p>
        </p:txBody>
      </p:sp>
      <p:sp>
        <p:nvSpPr>
          <p:cNvPr id="4" name="Text 2"/>
          <p:cNvSpPr txBox="1"/>
          <p:nvPr/>
        </p:nvSpPr>
        <p:spPr>
          <a:xfrm>
            <a:off x="512064" y="1271016"/>
            <a:ext cx="8229600" cy="201168"/>
          </a:xfrm>
          <a:prstGeom prst="rect">
            <a:avLst/>
          </a:prstGeom>
          <a:noFill/>
          <a:ln/>
        </p:spPr>
        <p:txBody>
          <a:bodyPr wrap="square" lIns="0" tIns="0" rIns="0" bIns="0" rtlCol="0" anchor="ctr"/>
          <a:lstStyle/>
          <a:p>
            <a:pPr indent="0" marL="0">
              <a:buNone/>
            </a:pPr>
            <a:r>
              <a:rPr lang="en-US" sz="750" spc="240" kern="0" dirty="0">
                <a:solidFill>
                  <a:srgbClr val="B8512A"/>
                </a:solidFill>
                <a:latin typeface="JetBrains Mono" pitchFamily="34" charset="0"/>
                <a:ea typeface="JetBrains Mono" pitchFamily="34" charset="-122"/>
                <a:cs typeface="JetBrains Mono" pitchFamily="34" charset="-120"/>
              </a:rPr>
              <a:t>AI · TRIAL · 003 · TRANSMISSION-DEAD CTV</a:t>
            </a:r>
            <a:endParaRPr lang="en-US" sz="750" dirty="0"/>
          </a:p>
        </p:txBody>
      </p:sp>
      <p:sp>
        <p:nvSpPr>
          <p:cNvPr id="5" name="Text 3"/>
          <p:cNvSpPr txBox="1"/>
          <p:nvPr/>
        </p:nvSpPr>
        <p:spPr>
          <a:xfrm>
            <a:off x="512064" y="1737360"/>
            <a:ext cx="10881360" cy="1554480"/>
          </a:xfrm>
          <a:prstGeom prst="rect">
            <a:avLst/>
          </a:prstGeom>
          <a:noFill/>
          <a:ln/>
        </p:spPr>
        <p:txBody>
          <a:bodyPr wrap="square" lIns="0" tIns="0" rIns="0" bIns="0" rtlCol="0" anchor="ctr"/>
          <a:lstStyle/>
          <a:p>
            <a:pPr indent="0" marL="0">
              <a:lnSpc>
                <a:spcPct val="102000"/>
              </a:lnSpc>
              <a:buNone/>
            </a:pPr>
            <a:r>
              <a:rPr lang="en-US" sz="4000" i="1" dirty="0">
                <a:solidFill>
                  <a:srgbClr val="EFE8D6"/>
                </a:solidFill>
                <a:latin typeface="Newsreader" pitchFamily="34" charset="0"/>
                <a:ea typeface="Newsreader" pitchFamily="34" charset="-122"/>
                <a:cs typeface="Newsreader" pitchFamily="34" charset="-120"/>
              </a:rPr>
              <a:t>One experiment,
</a:t>
            </a:r>
            <a:pPr indent="0" marL="0">
              <a:lnSpc>
                <a:spcPct val="102000"/>
              </a:lnSpc>
              <a:buNone/>
            </a:pPr>
            <a:r>
              <a:rPr lang="en-US" sz="4000" i="1" dirty="0">
                <a:solidFill>
                  <a:srgbClr val="B8512A"/>
                </a:solidFill>
                <a:latin typeface="Newsreader" pitchFamily="34" charset="0"/>
                <a:ea typeface="Newsreader" pitchFamily="34" charset="-122"/>
                <a:cs typeface="Newsreader" pitchFamily="34" charset="-120"/>
              </a:rPr>
              <a:t>and the method that found it.</a:t>
            </a:r>
            <a:endParaRPr lang="en-US" sz="4000" dirty="0"/>
          </a:p>
        </p:txBody>
      </p:sp>
      <p:sp>
        <p:nvSpPr>
          <p:cNvPr id="6" name="Text 4"/>
          <p:cNvSpPr txBox="1"/>
          <p:nvPr/>
        </p:nvSpPr>
        <p:spPr>
          <a:xfrm>
            <a:off x="512064" y="3703320"/>
            <a:ext cx="8138160" cy="1188720"/>
          </a:xfrm>
          <a:prstGeom prst="rect">
            <a:avLst/>
          </a:prstGeom>
          <a:noFill/>
          <a:ln/>
        </p:spPr>
        <p:txBody>
          <a:bodyPr wrap="square" lIns="0" tIns="0" rIns="0" bIns="0" rtlCol="0" anchor="t"/>
          <a:lstStyle/>
          <a:p>
            <a:pPr algn="l" indent="0" marL="0">
              <a:lnSpc>
                <a:spcPct val="112000"/>
              </a:lnSpc>
              <a:buNone/>
            </a:pPr>
            <a:r>
              <a:rPr lang="en-US" sz="1150" dirty="0">
                <a:solidFill>
                  <a:srgbClr val="B3AE9F"/>
                </a:solidFill>
                <a:latin typeface="Newsreader" pitchFamily="34" charset="0"/>
                <a:ea typeface="Newsreader" pitchFamily="34" charset="-122"/>
                <a:cs typeface="Newsreader" pitchFamily="34" charset="-120"/>
              </a:rPr>
              <a:t>Eleven substitutions across two viral genes are predicted to leave Citrus tristeza virus fully infectious inside the plant — assembling, moving, holding titer — while making it invisible to the brown citrus aphid. The prediction is grounded in published, re-verified genetics, and it was reached by a multi-model AI workflow that killed five wrong answers before any of them cost a construct.</a:t>
            </a:r>
            <a:endParaRPr lang="en-US" sz="1150" dirty="0"/>
          </a:p>
        </p:txBody>
      </p:sp>
      <p:sp>
        <p:nvSpPr>
          <p:cNvPr id="7" name="Shape 5"/>
          <p:cNvSpPr/>
          <p:nvPr/>
        </p:nvSpPr>
        <p:spPr>
          <a:xfrm>
            <a:off x="512064" y="5623560"/>
            <a:ext cx="11167567" cy="0"/>
          </a:xfrm>
          <a:prstGeom prst="line">
            <a:avLst/>
          </a:prstGeom>
          <a:noFill/>
          <a:ln w="9525">
            <a:solidFill>
              <a:srgbClr val="403D35"/>
            </a:solidFill>
            <a:prstDash val="solid"/>
          </a:ln>
        </p:spPr>
      </p:sp>
      <p:sp>
        <p:nvSpPr>
          <p:cNvPr id="8" name="Text 6"/>
          <p:cNvSpPr txBox="1"/>
          <p:nvPr/>
        </p:nvSpPr>
        <p:spPr>
          <a:xfrm>
            <a:off x="512064" y="6336792"/>
            <a:ext cx="7680960" cy="182880"/>
          </a:xfrm>
          <a:prstGeom prst="rect">
            <a:avLst/>
          </a:prstGeom>
          <a:noFill/>
          <a:ln/>
        </p:spPr>
        <p:txBody>
          <a:bodyPr wrap="square" lIns="0" tIns="0" rIns="0" bIns="0" rtlCol="0" anchor="ctr"/>
          <a:lstStyle/>
          <a:p>
            <a:pPr indent="0" marL="0">
              <a:buNone/>
            </a:pPr>
            <a:r>
              <a:rPr lang="en-US" sz="650" spc="160" kern="0" dirty="0">
                <a:solidFill>
                  <a:srgbClr val="B3AE9F"/>
                </a:solidFill>
                <a:latin typeface="JetBrains Mono" pitchFamily="34" charset="0"/>
                <a:ea typeface="JetBrains Mono" pitchFamily="34" charset="-122"/>
                <a:cs typeface="JetBrains Mono" pitchFamily="34" charset="-120"/>
              </a:rPr>
              <a:t>PREPARED FOR THE SILVEC TEAM · Q3 AI STRATEGY SESSION</a:t>
            </a:r>
            <a:endParaRPr lang="en-US" sz="650" dirty="0"/>
          </a:p>
        </p:txBody>
      </p:sp>
      <p:sp>
        <p:nvSpPr>
          <p:cNvPr id="9" name="Text 7"/>
          <p:cNvSpPr txBox="1"/>
          <p:nvPr/>
        </p:nvSpPr>
        <p:spPr>
          <a:xfrm>
            <a:off x="6199632" y="6336792"/>
            <a:ext cx="5486400" cy="182880"/>
          </a:xfrm>
          <a:prstGeom prst="rect">
            <a:avLst/>
          </a:prstGeom>
          <a:noFill/>
          <a:ln/>
        </p:spPr>
        <p:txBody>
          <a:bodyPr wrap="square" lIns="0" tIns="0" rIns="0" bIns="0" rtlCol="0" anchor="ctr"/>
          <a:lstStyle/>
          <a:p>
            <a:pPr algn="r" indent="0" marL="0">
              <a:buNone/>
            </a:pPr>
            <a:r>
              <a:rPr lang="en-US" sz="650" spc="160" kern="0" dirty="0">
                <a:solidFill>
                  <a:srgbClr val="B3AE9F"/>
                </a:solidFill>
                <a:latin typeface="JetBrains Mono" pitchFamily="34" charset="0"/>
                <a:ea typeface="JetBrains Mono" pitchFamily="34" charset="-122"/>
                <a:cs typeface="JetBrains Mono" pitchFamily="34" charset="-120"/>
              </a:rPr>
              <a:t>FULL DETAIL: TRIAL-003 DECK · 54 SLIDES</a:t>
            </a:r>
            <a:endParaRPr lang="en-US" sz="6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FE8D6"/>
        </a:solidFill>
      </p:bgPr>
    </p:bg>
    <p:spTree>
      <p:nvGrpSpPr>
        <p:cNvPr id="1" name=""/>
        <p:cNvGrpSpPr/>
        <p:nvPr/>
      </p:nvGrpSpPr>
      <p:grpSpPr>
        <a:xfrm>
          <a:off x="0" y="0"/>
          <a:ext cx="0" cy="0"/>
          <a:chOff x="0" y="0"/>
          <a:chExt cx="0" cy="0"/>
        </a:xfrm>
      </p:grpSpPr>
      <p:sp>
        <p:nvSpPr>
          <p:cNvPr id="2" name="Text 0"/>
          <p:cNvSpPr txBox="1"/>
          <p:nvPr/>
        </p:nvSpPr>
        <p:spPr>
          <a:xfrm>
            <a:off x="512064" y="356616"/>
            <a:ext cx="4572000" cy="182880"/>
          </a:xfrm>
          <a:prstGeom prst="rect">
            <a:avLst/>
          </a:prstGeom>
          <a:noFill/>
          <a:ln/>
        </p:spPr>
        <p:txBody>
          <a:bodyPr wrap="square" lIns="0" tIns="0" rIns="0" bIns="0" rtlCol="0" anchor="ctr"/>
          <a:lstStyle/>
          <a:p>
            <a:pPr indent="0" marL="0">
              <a:buNone/>
            </a:pPr>
            <a:r>
              <a:rPr lang="en-US" sz="650" spc="200" kern="0" dirty="0">
                <a:solidFill>
                  <a:srgbClr val="7A766A"/>
                </a:solidFill>
                <a:latin typeface="JetBrains Mono" pitchFamily="34" charset="0"/>
                <a:ea typeface="JetBrains Mono" pitchFamily="34" charset="-122"/>
                <a:cs typeface="JetBrains Mono" pitchFamily="34" charset="-120"/>
              </a:rPr>
              <a:t>SILVEC · BIOLOGICS</a:t>
            </a:r>
            <a:endParaRPr lang="en-US" sz="650" dirty="0"/>
          </a:p>
        </p:txBody>
      </p:sp>
      <p:sp>
        <p:nvSpPr>
          <p:cNvPr id="3" name="Text 1"/>
          <p:cNvSpPr txBox="1"/>
          <p:nvPr/>
        </p:nvSpPr>
        <p:spPr>
          <a:xfrm>
            <a:off x="7114032" y="356616"/>
            <a:ext cx="4572000" cy="182880"/>
          </a:xfrm>
          <a:prstGeom prst="rect">
            <a:avLst/>
          </a:prstGeom>
          <a:noFill/>
          <a:ln/>
        </p:spPr>
        <p:txBody>
          <a:bodyPr wrap="square" lIns="0" tIns="0" rIns="0" bIns="0" rtlCol="0" anchor="ctr"/>
          <a:lstStyle/>
          <a:p>
            <a:pPr algn="r" indent="0" marL="0">
              <a:buNone/>
            </a:pPr>
            <a:r>
              <a:rPr lang="en-US" sz="650" spc="200" kern="0" dirty="0">
                <a:solidFill>
                  <a:srgbClr val="7A766A"/>
                </a:solidFill>
                <a:latin typeface="JetBrains Mono" pitchFamily="34" charset="0"/>
                <a:ea typeface="JetBrains Mono" pitchFamily="34" charset="-122"/>
                <a:cs typeface="JetBrains Mono" pitchFamily="34" charset="-120"/>
              </a:rPr>
              <a:t>02 / 08</a:t>
            </a:r>
            <a:endParaRPr lang="en-US" sz="650" dirty="0"/>
          </a:p>
        </p:txBody>
      </p:sp>
      <p:sp>
        <p:nvSpPr>
          <p:cNvPr id="4" name="Text 2"/>
          <p:cNvSpPr txBox="1"/>
          <p:nvPr/>
        </p:nvSpPr>
        <p:spPr>
          <a:xfrm>
            <a:off x="512064" y="960120"/>
            <a:ext cx="9601200" cy="201168"/>
          </a:xfrm>
          <a:prstGeom prst="rect">
            <a:avLst/>
          </a:prstGeom>
          <a:noFill/>
          <a:ln/>
        </p:spPr>
        <p:txBody>
          <a:bodyPr wrap="square" lIns="0" tIns="0" rIns="0" bIns="0" rtlCol="0" anchor="ctr"/>
          <a:lstStyle/>
          <a:p>
            <a:pPr indent="0" marL="0">
              <a:buNone/>
            </a:pPr>
            <a:r>
              <a:rPr lang="en-US" sz="700" spc="240" kern="0" dirty="0">
                <a:solidFill>
                  <a:srgbClr val="B8512A"/>
                </a:solidFill>
                <a:latin typeface="JetBrains Mono" pitchFamily="34" charset="0"/>
                <a:ea typeface="JetBrains Mono" pitchFamily="34" charset="-122"/>
                <a:cs typeface="JetBrains Mono" pitchFamily="34" charset="-120"/>
              </a:rPr>
              <a:t>THE / FINDING</a:t>
            </a:r>
            <a:endParaRPr lang="en-US" sz="700" dirty="0"/>
          </a:p>
        </p:txBody>
      </p:sp>
      <p:sp>
        <p:nvSpPr>
          <p:cNvPr id="5" name="Text 3"/>
          <p:cNvSpPr txBox="1"/>
          <p:nvPr/>
        </p:nvSpPr>
        <p:spPr>
          <a:xfrm>
            <a:off x="512064" y="1271016"/>
            <a:ext cx="10625328" cy="566928"/>
          </a:xfrm>
          <a:prstGeom prst="rect">
            <a:avLst/>
          </a:prstGeom>
          <a:noFill/>
          <a:ln/>
        </p:spPr>
        <p:txBody>
          <a:bodyPr wrap="square" lIns="0" tIns="0" rIns="0" bIns="0" rtlCol="0" anchor="t"/>
          <a:lstStyle/>
          <a:p>
            <a:pPr indent="0" marL="0">
              <a:buNone/>
            </a:pPr>
            <a:r>
              <a:rPr lang="en-US" sz="2700" dirty="0">
                <a:solidFill>
                  <a:srgbClr val="1A1812"/>
                </a:solidFill>
                <a:latin typeface="Newsreader" pitchFamily="34" charset="0"/>
                <a:ea typeface="Newsreader" pitchFamily="34" charset="-122"/>
                <a:cs typeface="Newsreader" pitchFamily="34" charset="-120"/>
              </a:rPr>
              <a:t>Eleven substitutions, two chaperone genes, one gate.</a:t>
            </a:r>
            <a:endParaRPr lang="en-US" sz="2700" dirty="0"/>
          </a:p>
        </p:txBody>
      </p:sp>
      <p:sp>
        <p:nvSpPr>
          <p:cNvPr id="6" name="Text 4"/>
          <p:cNvSpPr txBox="1"/>
          <p:nvPr/>
        </p:nvSpPr>
        <p:spPr>
          <a:xfrm>
            <a:off x="512064" y="1892808"/>
            <a:ext cx="10058400" cy="530352"/>
          </a:xfrm>
          <a:prstGeom prst="rect">
            <a:avLst/>
          </a:prstGeom>
          <a:noFill/>
          <a:ln/>
        </p:spPr>
        <p:txBody>
          <a:bodyPr wrap="square" lIns="0" tIns="0" rIns="0" bIns="0" rtlCol="0" anchor="t"/>
          <a:lstStyle/>
          <a:p>
            <a:pPr indent="0" marL="0">
              <a:buNone/>
            </a:pPr>
            <a:r>
              <a:rPr lang="en-US" sz="1200" dirty="0">
                <a:solidFill>
                  <a:srgbClr val="5A564D"/>
                </a:solidFill>
                <a:latin typeface="Newsreader" pitchFamily="34" charset="0"/>
                <a:ea typeface="Newsreader" pitchFamily="34" charset="-122"/>
                <a:cs typeface="Newsreader" pitchFamily="34" charset="-120"/>
              </a:rPr>
              <a:t>Nine changes in p61 and two in p65 — the proteins that build the virion's aphid-facing tail — moved from the poorly transmitted T36 isolate into a transmissible backbone.</a:t>
            </a:r>
            <a:endParaRPr lang="en-US" sz="1200" dirty="0"/>
          </a:p>
        </p:txBody>
      </p:sp>
      <p:sp>
        <p:nvSpPr>
          <p:cNvPr id="7" name="Text 5"/>
          <p:cNvSpPr txBox="1"/>
          <p:nvPr/>
        </p:nvSpPr>
        <p:spPr>
          <a:xfrm>
            <a:off x="512064" y="2743200"/>
            <a:ext cx="3200400" cy="566928"/>
          </a:xfrm>
          <a:prstGeom prst="rect">
            <a:avLst/>
          </a:prstGeom>
          <a:noFill/>
          <a:ln/>
        </p:spPr>
        <p:txBody>
          <a:bodyPr wrap="square" lIns="0" tIns="0" rIns="0" bIns="0" rtlCol="0" anchor="t"/>
          <a:lstStyle/>
          <a:p>
            <a:pPr indent="0" marL="0">
              <a:buNone/>
            </a:pPr>
            <a:r>
              <a:rPr lang="en-US" sz="3800" dirty="0">
                <a:solidFill>
                  <a:srgbClr val="1A1812"/>
                </a:solidFill>
                <a:latin typeface="Newsreader" pitchFamily="34" charset="0"/>
                <a:ea typeface="Newsreader" pitchFamily="34" charset="-122"/>
                <a:cs typeface="Newsreader" pitchFamily="34" charset="-120"/>
              </a:rPr>
              <a:t>0.6%</a:t>
            </a:r>
            <a:endParaRPr lang="en-US" sz="3800" dirty="0"/>
          </a:p>
        </p:txBody>
      </p:sp>
      <p:sp>
        <p:nvSpPr>
          <p:cNvPr id="8" name="Text 6"/>
          <p:cNvSpPr txBox="1"/>
          <p:nvPr/>
        </p:nvSpPr>
        <p:spPr>
          <a:xfrm>
            <a:off x="512064" y="3355848"/>
            <a:ext cx="3200400" cy="182880"/>
          </a:xfrm>
          <a:prstGeom prst="rect">
            <a:avLst/>
          </a:prstGeom>
          <a:noFill/>
          <a:ln/>
        </p:spPr>
        <p:txBody>
          <a:bodyPr wrap="square" lIns="0" tIns="0" rIns="0" bIns="0" rtlCol="0" anchor="ctr"/>
          <a:lstStyle/>
          <a:p>
            <a:pPr indent="0" marL="0">
              <a:buNone/>
            </a:pPr>
            <a:r>
              <a:rPr lang="en-US" sz="700" spc="160" kern="0" dirty="0">
                <a:solidFill>
                  <a:srgbClr val="B8512A"/>
                </a:solidFill>
                <a:latin typeface="JetBrains Mono" pitchFamily="34" charset="0"/>
                <a:ea typeface="JetBrains Mono" pitchFamily="34" charset="-122"/>
                <a:cs typeface="JetBrains Mono" pitchFamily="34" charset="-120"/>
              </a:rPr>
              <a:t>T36 CLONE · THE PROTOTYPE</a:t>
            </a:r>
            <a:endParaRPr lang="en-US" sz="700" dirty="0"/>
          </a:p>
        </p:txBody>
      </p:sp>
      <p:sp>
        <p:nvSpPr>
          <p:cNvPr id="9" name="Text 7"/>
          <p:cNvSpPr txBox="1"/>
          <p:nvPr/>
        </p:nvSpPr>
        <p:spPr>
          <a:xfrm>
            <a:off x="512064" y="3575304"/>
            <a:ext cx="3035808" cy="685800"/>
          </a:xfrm>
          <a:prstGeom prst="rect">
            <a:avLst/>
          </a:prstGeom>
          <a:noFill/>
          <a:ln/>
        </p:spPr>
        <p:txBody>
          <a:bodyPr wrap="square" lIns="0" tIns="0" rIns="0" bIns="0" rtlCol="0" anchor="t"/>
          <a:lstStyle/>
          <a:p>
            <a:pPr algn="l" indent="0" marL="0">
              <a:lnSpc>
                <a:spcPct val="104000"/>
              </a:lnSpc>
              <a:buNone/>
            </a:pPr>
            <a:r>
              <a:rPr lang="en-US" sz="950" dirty="0">
                <a:solidFill>
                  <a:srgbClr val="5A564D"/>
                </a:solidFill>
                <a:latin typeface="Newsreader" pitchFamily="34" charset="0"/>
                <a:ea typeface="Newsreader" pitchFamily="34" charset="-122"/>
                <a:cs typeface="Newsreader" pitchFamily="34" charset="-120"/>
              </a:rPr>
              <a:t>Systemic infection, full titer, one plant in 172 via aphid. Nature already built the phenotype.</a:t>
            </a:r>
            <a:endParaRPr lang="en-US" sz="950" dirty="0"/>
          </a:p>
        </p:txBody>
      </p:sp>
      <p:sp>
        <p:nvSpPr>
          <p:cNvPr id="10" name="Shape 8"/>
          <p:cNvSpPr/>
          <p:nvPr/>
        </p:nvSpPr>
        <p:spPr>
          <a:xfrm>
            <a:off x="4169664" y="2697480"/>
            <a:ext cx="0" cy="1600200"/>
          </a:xfrm>
          <a:prstGeom prst="line">
            <a:avLst/>
          </a:prstGeom>
          <a:noFill/>
          <a:ln w="9525">
            <a:solidFill>
              <a:srgbClr val="C9C3B3"/>
            </a:solidFill>
            <a:prstDash val="solid"/>
          </a:ln>
        </p:spPr>
      </p:sp>
      <p:sp>
        <p:nvSpPr>
          <p:cNvPr id="11" name="Text 9"/>
          <p:cNvSpPr txBox="1"/>
          <p:nvPr/>
        </p:nvSpPr>
        <p:spPr>
          <a:xfrm>
            <a:off x="4535424" y="2743200"/>
            <a:ext cx="3200400" cy="566928"/>
          </a:xfrm>
          <a:prstGeom prst="rect">
            <a:avLst/>
          </a:prstGeom>
          <a:noFill/>
          <a:ln/>
        </p:spPr>
        <p:txBody>
          <a:bodyPr wrap="square" lIns="0" tIns="0" rIns="0" bIns="0" rtlCol="0" anchor="t"/>
          <a:lstStyle/>
          <a:p>
            <a:pPr indent="0" marL="0">
              <a:buNone/>
            </a:pPr>
            <a:r>
              <a:rPr lang="en-US" sz="3800" dirty="0">
                <a:solidFill>
                  <a:srgbClr val="1A1812"/>
                </a:solidFill>
                <a:latin typeface="Newsreader" pitchFamily="34" charset="0"/>
                <a:ea typeface="Newsreader" pitchFamily="34" charset="-122"/>
                <a:cs typeface="Newsreader" pitchFamily="34" charset="-120"/>
              </a:rPr>
              <a:t>17.9%</a:t>
            </a:r>
            <a:endParaRPr lang="en-US" sz="3800" dirty="0"/>
          </a:p>
        </p:txBody>
      </p:sp>
      <p:sp>
        <p:nvSpPr>
          <p:cNvPr id="12" name="Text 10"/>
          <p:cNvSpPr txBox="1"/>
          <p:nvPr/>
        </p:nvSpPr>
        <p:spPr>
          <a:xfrm>
            <a:off x="4535424" y="3355848"/>
            <a:ext cx="3200400" cy="182880"/>
          </a:xfrm>
          <a:prstGeom prst="rect">
            <a:avLst/>
          </a:prstGeom>
          <a:noFill/>
          <a:ln/>
        </p:spPr>
        <p:txBody>
          <a:bodyPr wrap="square" lIns="0" tIns="0" rIns="0" bIns="0" rtlCol="0" anchor="ctr"/>
          <a:lstStyle/>
          <a:p>
            <a:pPr indent="0" marL="0">
              <a:buNone/>
            </a:pPr>
            <a:r>
              <a:rPr lang="en-US" sz="700" spc="160" kern="0" dirty="0">
                <a:solidFill>
                  <a:srgbClr val="B8512A"/>
                </a:solidFill>
                <a:latin typeface="JetBrains Mono" pitchFamily="34" charset="0"/>
                <a:ea typeface="JetBrains Mono" pitchFamily="34" charset="-122"/>
                <a:cs typeface="JetBrains Mono" pitchFamily="34" charset="-120"/>
              </a:rPr>
              <a:t>THE PAIR RESTORES IT</a:t>
            </a:r>
            <a:endParaRPr lang="en-US" sz="700" dirty="0"/>
          </a:p>
        </p:txBody>
      </p:sp>
      <p:sp>
        <p:nvSpPr>
          <p:cNvPr id="13" name="Text 11"/>
          <p:cNvSpPr txBox="1"/>
          <p:nvPr/>
        </p:nvSpPr>
        <p:spPr>
          <a:xfrm>
            <a:off x="4535424" y="3575304"/>
            <a:ext cx="3035808" cy="685800"/>
          </a:xfrm>
          <a:prstGeom prst="rect">
            <a:avLst/>
          </a:prstGeom>
          <a:noFill/>
          <a:ln/>
        </p:spPr>
        <p:txBody>
          <a:bodyPr wrap="square" lIns="0" tIns="0" rIns="0" bIns="0" rtlCol="0" anchor="t"/>
          <a:lstStyle/>
          <a:p>
            <a:pPr algn="l" indent="0" marL="0">
              <a:lnSpc>
                <a:spcPct val="104000"/>
              </a:lnSpc>
              <a:buNone/>
            </a:pPr>
            <a:r>
              <a:rPr lang="en-US" sz="950" dirty="0">
                <a:solidFill>
                  <a:srgbClr val="5A564D"/>
                </a:solidFill>
                <a:latin typeface="Newsreader" pitchFamily="34" charset="0"/>
                <a:ea typeface="Newsreader" pitchFamily="34" charset="-122"/>
                <a:cs typeface="Newsreader" pitchFamily="34" charset="-120"/>
              </a:rPr>
              <a:t>FS577 p65+p61 into T36: singles reach 1.9% / 4.0%; the pair 17.9% (n=196). Synergy, published.</a:t>
            </a:r>
            <a:endParaRPr lang="en-US" sz="950" dirty="0"/>
          </a:p>
        </p:txBody>
      </p:sp>
      <p:sp>
        <p:nvSpPr>
          <p:cNvPr id="14" name="Shape 12"/>
          <p:cNvSpPr/>
          <p:nvPr/>
        </p:nvSpPr>
        <p:spPr>
          <a:xfrm>
            <a:off x="8193024" y="2697480"/>
            <a:ext cx="0" cy="1600200"/>
          </a:xfrm>
          <a:prstGeom prst="line">
            <a:avLst/>
          </a:prstGeom>
          <a:noFill/>
          <a:ln w="9525">
            <a:solidFill>
              <a:srgbClr val="C9C3B3"/>
            </a:solidFill>
            <a:prstDash val="solid"/>
          </a:ln>
        </p:spPr>
      </p:sp>
      <p:sp>
        <p:nvSpPr>
          <p:cNvPr id="15" name="Text 13"/>
          <p:cNvSpPr txBox="1"/>
          <p:nvPr/>
        </p:nvSpPr>
        <p:spPr>
          <a:xfrm>
            <a:off x="8558784" y="2743200"/>
            <a:ext cx="3200400" cy="566928"/>
          </a:xfrm>
          <a:prstGeom prst="rect">
            <a:avLst/>
          </a:prstGeom>
          <a:noFill/>
          <a:ln/>
        </p:spPr>
        <p:txBody>
          <a:bodyPr wrap="square" lIns="0" tIns="0" rIns="0" bIns="0" rtlCol="0" anchor="t"/>
          <a:lstStyle/>
          <a:p>
            <a:pPr indent="0" marL="0">
              <a:buNone/>
            </a:pPr>
            <a:r>
              <a:rPr lang="en-US" sz="3800" dirty="0">
                <a:solidFill>
                  <a:srgbClr val="4F5A2C"/>
                </a:solidFill>
                <a:latin typeface="Newsreader" pitchFamily="34" charset="0"/>
                <a:ea typeface="Newsreader" pitchFamily="34" charset="-122"/>
                <a:cs typeface="Newsreader" pitchFamily="34" charset="-120"/>
              </a:rPr>
              <a:t>p &gt; 0.05</a:t>
            </a:r>
            <a:endParaRPr lang="en-US" sz="3800" dirty="0"/>
          </a:p>
        </p:txBody>
      </p:sp>
      <p:sp>
        <p:nvSpPr>
          <p:cNvPr id="16" name="Text 14"/>
          <p:cNvSpPr txBox="1"/>
          <p:nvPr/>
        </p:nvSpPr>
        <p:spPr>
          <a:xfrm>
            <a:off x="8558784" y="3355848"/>
            <a:ext cx="3200400" cy="182880"/>
          </a:xfrm>
          <a:prstGeom prst="rect">
            <a:avLst/>
          </a:prstGeom>
          <a:noFill/>
          <a:ln/>
        </p:spPr>
        <p:txBody>
          <a:bodyPr wrap="square" lIns="0" tIns="0" rIns="0" bIns="0" rtlCol="0" anchor="ctr"/>
          <a:lstStyle/>
          <a:p>
            <a:pPr indent="0" marL="0">
              <a:buNone/>
            </a:pPr>
            <a:r>
              <a:rPr lang="en-US" sz="700" spc="160" kern="0" dirty="0">
                <a:solidFill>
                  <a:srgbClr val="B8512A"/>
                </a:solidFill>
                <a:latin typeface="JetBrains Mono" pitchFamily="34" charset="0"/>
                <a:ea typeface="JetBrains Mono" pitchFamily="34" charset="-122"/>
                <a:cs typeface="JetBrains Mono" pitchFamily="34" charset="-120"/>
              </a:rPr>
              <a:t>TITER UNCHANGED</a:t>
            </a:r>
            <a:endParaRPr lang="en-US" sz="700" dirty="0"/>
          </a:p>
        </p:txBody>
      </p:sp>
      <p:sp>
        <p:nvSpPr>
          <p:cNvPr id="17" name="Text 15"/>
          <p:cNvSpPr txBox="1"/>
          <p:nvPr/>
        </p:nvSpPr>
        <p:spPr>
          <a:xfrm>
            <a:off x="8558784" y="3575304"/>
            <a:ext cx="3035808" cy="685800"/>
          </a:xfrm>
          <a:prstGeom prst="rect">
            <a:avLst/>
          </a:prstGeom>
          <a:noFill/>
          <a:ln/>
        </p:spPr>
        <p:txBody>
          <a:bodyPr wrap="square" lIns="0" tIns="0" rIns="0" bIns="0" rtlCol="0" anchor="t"/>
          <a:lstStyle/>
          <a:p>
            <a:pPr algn="l" indent="0" marL="0">
              <a:lnSpc>
                <a:spcPct val="104000"/>
              </a:lnSpc>
              <a:buNone/>
            </a:pPr>
            <a:r>
              <a:rPr lang="en-US" sz="950" dirty="0">
                <a:solidFill>
                  <a:srgbClr val="5A564D"/>
                </a:solidFill>
                <a:latin typeface="Newsreader" pitchFamily="34" charset="0"/>
                <a:ea typeface="Newsreader" pitchFamily="34" charset="-122"/>
                <a:cs typeface="Newsreader" pitchFamily="34" charset="-120"/>
              </a:rPr>
              <a:t>RT-qPCR and ELISA identical across every hybrid. The gate is the aphid interface, not plant fitness.</a:t>
            </a:r>
            <a:endParaRPr lang="en-US" sz="950" dirty="0"/>
          </a:p>
        </p:txBody>
      </p:sp>
      <p:sp>
        <p:nvSpPr>
          <p:cNvPr id="18" name="Shape 16"/>
          <p:cNvSpPr/>
          <p:nvPr/>
        </p:nvSpPr>
        <p:spPr>
          <a:xfrm>
            <a:off x="512064" y="6053328"/>
            <a:ext cx="11167567" cy="0"/>
          </a:xfrm>
          <a:prstGeom prst="line">
            <a:avLst/>
          </a:prstGeom>
          <a:noFill/>
          <a:ln w="9525">
            <a:solidFill>
              <a:srgbClr val="C9C3B3"/>
            </a:solidFill>
            <a:prstDash val="solid"/>
          </a:ln>
        </p:spPr>
      </p:sp>
      <p:sp>
        <p:nvSpPr>
          <p:cNvPr id="19" name="Text 17"/>
          <p:cNvSpPr txBox="1"/>
          <p:nvPr/>
        </p:nvSpPr>
        <p:spPr>
          <a:xfrm>
            <a:off x="512064" y="6144768"/>
            <a:ext cx="11167567" cy="182880"/>
          </a:xfrm>
          <a:prstGeom prst="rect">
            <a:avLst/>
          </a:prstGeom>
          <a:noFill/>
          <a:ln/>
        </p:spPr>
        <p:txBody>
          <a:bodyPr wrap="square" lIns="0" tIns="0" rIns="0" bIns="0" rtlCol="0" anchor="ctr"/>
          <a:lstStyle/>
          <a:p>
            <a:pPr algn="l" indent="0" marL="0">
              <a:buNone/>
            </a:pPr>
            <a:r>
              <a:rPr lang="en-US" sz="750" spc="180" kern="0" dirty="0">
                <a:solidFill>
                  <a:srgbClr val="B8512A"/>
                </a:solidFill>
                <a:latin typeface="JetBrains Mono" pitchFamily="34" charset="0"/>
                <a:ea typeface="JetBrains Mono" pitchFamily="34" charset="-122"/>
                <a:cs typeface="JetBrains Mono" pitchFamily="34" charset="-120"/>
              </a:rPr>
              <a:t>THE PREDICTION: T36's ELEVEN RESIDUES SILENCE FS577 — 24.1% DOWN TO ≤5% AT PARENTAL TITER</a:t>
            </a:r>
            <a:endParaRPr lang="en-US" sz="750" dirty="0"/>
          </a:p>
        </p:txBody>
      </p:sp>
      <p:sp>
        <p:nvSpPr>
          <p:cNvPr id="20" name="Text 18"/>
          <p:cNvSpPr txBox="1"/>
          <p:nvPr/>
        </p:nvSpPr>
        <p:spPr>
          <a:xfrm>
            <a:off x="512064" y="6336792"/>
            <a:ext cx="7680960" cy="182880"/>
          </a:xfrm>
          <a:prstGeom prst="rect">
            <a:avLst/>
          </a:prstGeom>
          <a:noFill/>
          <a:ln/>
        </p:spPr>
        <p:txBody>
          <a:bodyPr wrap="square" lIns="0" tIns="0" rIns="0" bIns="0" rtlCol="0" anchor="ctr"/>
          <a:lstStyle/>
          <a:p>
            <a:pPr indent="0" marL="0">
              <a:buNone/>
            </a:pPr>
            <a:r>
              <a:rPr lang="en-US" sz="650" spc="160" kern="0" dirty="0">
                <a:solidFill>
                  <a:srgbClr val="7A766A"/>
                </a:solidFill>
                <a:latin typeface="JetBrains Mono" pitchFamily="34" charset="0"/>
                <a:ea typeface="JetBrains Mono" pitchFamily="34" charset="-122"/>
                <a:cs typeface="JetBrains Mono" pitchFamily="34" charset="-120"/>
              </a:rPr>
              <a:t>02 / 08</a:t>
            </a:r>
            <a:endParaRPr lang="en-US" sz="650" dirty="0"/>
          </a:p>
        </p:txBody>
      </p:sp>
      <p:sp>
        <p:nvSpPr>
          <p:cNvPr id="21" name="Text 19"/>
          <p:cNvSpPr txBox="1"/>
          <p:nvPr/>
        </p:nvSpPr>
        <p:spPr>
          <a:xfrm>
            <a:off x="6199632" y="6336792"/>
            <a:ext cx="5486400" cy="182880"/>
          </a:xfrm>
          <a:prstGeom prst="rect">
            <a:avLst/>
          </a:prstGeom>
          <a:noFill/>
          <a:ln/>
        </p:spPr>
        <p:txBody>
          <a:bodyPr wrap="square" lIns="0" tIns="0" rIns="0" bIns="0" rtlCol="0" anchor="ctr"/>
          <a:lstStyle/>
          <a:p>
            <a:pPr algn="r" indent="0" marL="0">
              <a:buNone/>
            </a:pPr>
            <a:r>
              <a:rPr lang="en-US" sz="650" spc="160" kern="0" dirty="0">
                <a:solidFill>
                  <a:srgbClr val="7A766A"/>
                </a:solidFill>
                <a:latin typeface="JetBrains Mono" pitchFamily="34" charset="0"/>
                <a:ea typeface="JetBrains Mono" pitchFamily="34" charset="-122"/>
                <a:cs typeface="JetBrains Mono" pitchFamily="34" charset="-120"/>
              </a:rPr>
              <a:t>HARPER 2016 · VERIFIED FROM THE PAPER</a:t>
            </a:r>
            <a:endParaRPr lang="en-US" sz="6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FE8D6"/>
        </a:solidFill>
      </p:bgPr>
    </p:bg>
    <p:spTree>
      <p:nvGrpSpPr>
        <p:cNvPr id="1" name=""/>
        <p:cNvGrpSpPr/>
        <p:nvPr/>
      </p:nvGrpSpPr>
      <p:grpSpPr>
        <a:xfrm>
          <a:off x="0" y="0"/>
          <a:ext cx="0" cy="0"/>
          <a:chOff x="0" y="0"/>
          <a:chExt cx="0" cy="0"/>
        </a:xfrm>
      </p:grpSpPr>
      <p:sp>
        <p:nvSpPr>
          <p:cNvPr id="2" name="Text 0"/>
          <p:cNvSpPr txBox="1"/>
          <p:nvPr/>
        </p:nvSpPr>
        <p:spPr>
          <a:xfrm>
            <a:off x="512064" y="356616"/>
            <a:ext cx="4572000" cy="182880"/>
          </a:xfrm>
          <a:prstGeom prst="rect">
            <a:avLst/>
          </a:prstGeom>
          <a:noFill/>
          <a:ln/>
        </p:spPr>
        <p:txBody>
          <a:bodyPr wrap="square" lIns="0" tIns="0" rIns="0" bIns="0" rtlCol="0" anchor="ctr"/>
          <a:lstStyle/>
          <a:p>
            <a:pPr indent="0" marL="0">
              <a:buNone/>
            </a:pPr>
            <a:r>
              <a:rPr lang="en-US" sz="650" spc="200" kern="0" dirty="0">
                <a:solidFill>
                  <a:srgbClr val="7A766A"/>
                </a:solidFill>
                <a:latin typeface="JetBrains Mono" pitchFamily="34" charset="0"/>
                <a:ea typeface="JetBrains Mono" pitchFamily="34" charset="-122"/>
                <a:cs typeface="JetBrains Mono" pitchFamily="34" charset="-120"/>
              </a:rPr>
              <a:t>SILVEC · BIOLOGICS</a:t>
            </a:r>
            <a:endParaRPr lang="en-US" sz="650" dirty="0"/>
          </a:p>
        </p:txBody>
      </p:sp>
      <p:sp>
        <p:nvSpPr>
          <p:cNvPr id="3" name="Text 1"/>
          <p:cNvSpPr txBox="1"/>
          <p:nvPr/>
        </p:nvSpPr>
        <p:spPr>
          <a:xfrm>
            <a:off x="7114032" y="356616"/>
            <a:ext cx="4572000" cy="182880"/>
          </a:xfrm>
          <a:prstGeom prst="rect">
            <a:avLst/>
          </a:prstGeom>
          <a:noFill/>
          <a:ln/>
        </p:spPr>
        <p:txBody>
          <a:bodyPr wrap="square" lIns="0" tIns="0" rIns="0" bIns="0" rtlCol="0" anchor="ctr"/>
          <a:lstStyle/>
          <a:p>
            <a:pPr algn="r" indent="0" marL="0">
              <a:buNone/>
            </a:pPr>
            <a:r>
              <a:rPr lang="en-US" sz="650" spc="200" kern="0" dirty="0">
                <a:solidFill>
                  <a:srgbClr val="7A766A"/>
                </a:solidFill>
                <a:latin typeface="JetBrains Mono" pitchFamily="34" charset="0"/>
                <a:ea typeface="JetBrains Mono" pitchFamily="34" charset="-122"/>
                <a:cs typeface="JetBrains Mono" pitchFamily="34" charset="-120"/>
              </a:rPr>
              <a:t>03 / 08</a:t>
            </a:r>
            <a:endParaRPr lang="en-US" sz="650" dirty="0"/>
          </a:p>
        </p:txBody>
      </p:sp>
      <p:sp>
        <p:nvSpPr>
          <p:cNvPr id="4" name="Text 2"/>
          <p:cNvSpPr txBox="1"/>
          <p:nvPr/>
        </p:nvSpPr>
        <p:spPr>
          <a:xfrm>
            <a:off x="512064" y="960120"/>
            <a:ext cx="9601200" cy="201168"/>
          </a:xfrm>
          <a:prstGeom prst="rect">
            <a:avLst/>
          </a:prstGeom>
          <a:noFill/>
          <a:ln/>
        </p:spPr>
        <p:txBody>
          <a:bodyPr wrap="square" lIns="0" tIns="0" rIns="0" bIns="0" rtlCol="0" anchor="ctr"/>
          <a:lstStyle/>
          <a:p>
            <a:pPr indent="0" marL="0">
              <a:buNone/>
            </a:pPr>
            <a:r>
              <a:rPr lang="en-US" sz="700" spc="240" kern="0" dirty="0">
                <a:solidFill>
                  <a:srgbClr val="B8512A"/>
                </a:solidFill>
                <a:latin typeface="JetBrains Mono" pitchFamily="34" charset="0"/>
                <a:ea typeface="JetBrains Mono" pitchFamily="34" charset="-122"/>
                <a:cs typeface="JetBrains Mono" pitchFamily="34" charset="-120"/>
              </a:rPr>
              <a:t>WHY / NOT THE COAT</a:t>
            </a:r>
            <a:endParaRPr lang="en-US" sz="700" dirty="0"/>
          </a:p>
        </p:txBody>
      </p:sp>
      <p:sp>
        <p:nvSpPr>
          <p:cNvPr id="5" name="Text 3"/>
          <p:cNvSpPr txBox="1"/>
          <p:nvPr/>
        </p:nvSpPr>
        <p:spPr>
          <a:xfrm>
            <a:off x="512064" y="1271016"/>
            <a:ext cx="10625328" cy="566928"/>
          </a:xfrm>
          <a:prstGeom prst="rect">
            <a:avLst/>
          </a:prstGeom>
          <a:noFill/>
          <a:ln/>
        </p:spPr>
        <p:txBody>
          <a:bodyPr wrap="square" lIns="0" tIns="0" rIns="0" bIns="0" rtlCol="0" anchor="t"/>
          <a:lstStyle/>
          <a:p>
            <a:pPr indent="0" marL="0">
              <a:buNone/>
            </a:pPr>
            <a:r>
              <a:rPr lang="en-US" sz="2700" dirty="0">
                <a:solidFill>
                  <a:srgbClr val="1A1812"/>
                </a:solidFill>
                <a:latin typeface="Newsreader" pitchFamily="34" charset="0"/>
                <a:ea typeface="Newsreader" pitchFamily="34" charset="-122"/>
                <a:cs typeface="Newsreader" pitchFamily="34" charset="-120"/>
              </a:rPr>
              <a:t>The obvious target was falsified on the sequence.</a:t>
            </a:r>
            <a:endParaRPr lang="en-US" sz="2700" dirty="0"/>
          </a:p>
        </p:txBody>
      </p:sp>
      <p:sp>
        <p:nvSpPr>
          <p:cNvPr id="6" name="Text 4"/>
          <p:cNvSpPr txBox="1"/>
          <p:nvPr/>
        </p:nvSpPr>
        <p:spPr>
          <a:xfrm>
            <a:off x="512064" y="1892808"/>
            <a:ext cx="10058400" cy="530352"/>
          </a:xfrm>
          <a:prstGeom prst="rect">
            <a:avLst/>
          </a:prstGeom>
          <a:noFill/>
          <a:ln/>
        </p:spPr>
        <p:txBody>
          <a:bodyPr wrap="square" lIns="0" tIns="0" rIns="0" bIns="0" rtlCol="0" anchor="t"/>
          <a:lstStyle/>
          <a:p>
            <a:pPr indent="0" marL="0">
              <a:buNone/>
            </a:pPr>
            <a:r>
              <a:rPr lang="en-US" sz="1200" dirty="0">
                <a:solidFill>
                  <a:srgbClr val="5A564D"/>
                </a:solidFill>
                <a:latin typeface="Newsreader" pitchFamily="34" charset="0"/>
                <a:ea typeface="Newsreader" pitchFamily="34" charset="-122"/>
                <a:cs typeface="Newsreader" pitchFamily="34" charset="-120"/>
              </a:rPr>
              <a:t>CPm, the minor coat protein, was everyone's starting guess. Identity killed it; a second 'test' once cited in support turned out not to exist — and was struck.</a:t>
            </a:r>
            <a:endParaRPr lang="en-US" sz="1200" dirty="0"/>
          </a:p>
        </p:txBody>
      </p:sp>
      <p:sp>
        <p:nvSpPr>
          <p:cNvPr id="7" name="Text 5"/>
          <p:cNvSpPr txBox="1"/>
          <p:nvPr/>
        </p:nvSpPr>
        <p:spPr>
          <a:xfrm>
            <a:off x="512064" y="2743200"/>
            <a:ext cx="3200400" cy="475488"/>
          </a:xfrm>
          <a:prstGeom prst="rect">
            <a:avLst/>
          </a:prstGeom>
          <a:noFill/>
          <a:ln/>
        </p:spPr>
        <p:txBody>
          <a:bodyPr wrap="square" lIns="0" tIns="0" rIns="0" bIns="0" rtlCol="0" anchor="t"/>
          <a:lstStyle/>
          <a:p>
            <a:pPr indent="0" marL="0">
              <a:buNone/>
            </a:pPr>
            <a:r>
              <a:rPr lang="en-US" sz="3400" dirty="0">
                <a:solidFill>
                  <a:srgbClr val="1A1812"/>
                </a:solidFill>
                <a:latin typeface="Newsreader" pitchFamily="34" charset="0"/>
                <a:ea typeface="Newsreader" pitchFamily="34" charset="-122"/>
                <a:cs typeface="Newsreader" pitchFamily="34" charset="-120"/>
              </a:rPr>
              <a:t>240 / 240</a:t>
            </a:r>
            <a:endParaRPr lang="en-US" sz="3400" dirty="0"/>
          </a:p>
        </p:txBody>
      </p:sp>
      <p:sp>
        <p:nvSpPr>
          <p:cNvPr id="8" name="Text 6"/>
          <p:cNvSpPr txBox="1"/>
          <p:nvPr/>
        </p:nvSpPr>
        <p:spPr>
          <a:xfrm>
            <a:off x="512064" y="3264408"/>
            <a:ext cx="3200400" cy="182880"/>
          </a:xfrm>
          <a:prstGeom prst="rect">
            <a:avLst/>
          </a:prstGeom>
          <a:noFill/>
          <a:ln/>
        </p:spPr>
        <p:txBody>
          <a:bodyPr wrap="square" lIns="0" tIns="0" rIns="0" bIns="0" rtlCol="0" anchor="ctr"/>
          <a:lstStyle/>
          <a:p>
            <a:pPr indent="0" marL="0">
              <a:buNone/>
            </a:pPr>
            <a:r>
              <a:rPr lang="en-US" sz="700" spc="160" kern="0" dirty="0">
                <a:solidFill>
                  <a:srgbClr val="B8512A"/>
                </a:solidFill>
                <a:latin typeface="JetBrains Mono" pitchFamily="34" charset="0"/>
                <a:ea typeface="JetBrains Mono" pitchFamily="34" charset="-122"/>
                <a:cs typeface="JetBrains Mono" pitchFamily="34" charset="-120"/>
              </a:rPr>
              <a:t>CPM IDENTICAL · FS577 VS T36</a:t>
            </a:r>
            <a:endParaRPr lang="en-US" sz="700" dirty="0"/>
          </a:p>
        </p:txBody>
      </p:sp>
      <p:sp>
        <p:nvSpPr>
          <p:cNvPr id="9" name="Text 7"/>
          <p:cNvSpPr txBox="1"/>
          <p:nvPr/>
        </p:nvSpPr>
        <p:spPr>
          <a:xfrm>
            <a:off x="512064" y="3483864"/>
            <a:ext cx="3035808" cy="685800"/>
          </a:xfrm>
          <a:prstGeom prst="rect">
            <a:avLst/>
          </a:prstGeom>
          <a:noFill/>
          <a:ln/>
        </p:spPr>
        <p:txBody>
          <a:bodyPr wrap="square" lIns="0" tIns="0" rIns="0" bIns="0" rtlCol="0" anchor="t"/>
          <a:lstStyle/>
          <a:p>
            <a:pPr algn="l" indent="0" marL="0">
              <a:lnSpc>
                <a:spcPct val="104000"/>
              </a:lnSpc>
              <a:buNone/>
            </a:pPr>
            <a:r>
              <a:rPr lang="en-US" sz="950" dirty="0">
                <a:solidFill>
                  <a:srgbClr val="5A564D"/>
                </a:solidFill>
                <a:latin typeface="Newsreader" pitchFamily="34" charset="0"/>
                <a:ea typeface="Newsreader" pitchFamily="34" charset="-122"/>
                <a:cs typeface="Newsreader" pitchFamily="34" charset="-120"/>
              </a:rPr>
              <a:t>Zero sequence difference across a 16-fold transmission gap.</a:t>
            </a:r>
            <a:endParaRPr lang="en-US" sz="950" dirty="0"/>
          </a:p>
        </p:txBody>
      </p:sp>
      <p:sp>
        <p:nvSpPr>
          <p:cNvPr id="10" name="Shape 8"/>
          <p:cNvSpPr/>
          <p:nvPr/>
        </p:nvSpPr>
        <p:spPr>
          <a:xfrm>
            <a:off x="4169664" y="2697480"/>
            <a:ext cx="0" cy="1463040"/>
          </a:xfrm>
          <a:prstGeom prst="line">
            <a:avLst/>
          </a:prstGeom>
          <a:noFill/>
          <a:ln w="9525">
            <a:solidFill>
              <a:srgbClr val="C9C3B3"/>
            </a:solidFill>
            <a:prstDash val="solid"/>
          </a:ln>
        </p:spPr>
      </p:sp>
      <p:sp>
        <p:nvSpPr>
          <p:cNvPr id="11" name="Text 9"/>
          <p:cNvSpPr txBox="1"/>
          <p:nvPr/>
        </p:nvSpPr>
        <p:spPr>
          <a:xfrm>
            <a:off x="4535424" y="2743200"/>
            <a:ext cx="3200400" cy="475488"/>
          </a:xfrm>
          <a:prstGeom prst="rect">
            <a:avLst/>
          </a:prstGeom>
          <a:noFill/>
          <a:ln/>
        </p:spPr>
        <p:txBody>
          <a:bodyPr wrap="square" lIns="0" tIns="0" rIns="0" bIns="0" rtlCol="0" anchor="t"/>
          <a:lstStyle/>
          <a:p>
            <a:pPr indent="0" marL="0">
              <a:buNone/>
            </a:pPr>
            <a:r>
              <a:rPr lang="en-US" sz="3400" dirty="0">
                <a:solidFill>
                  <a:srgbClr val="1A1812"/>
                </a:solidFill>
                <a:latin typeface="Newsreader" pitchFamily="34" charset="0"/>
                <a:ea typeface="Newsreader" pitchFamily="34" charset="-122"/>
                <a:cs typeface="Newsreader" pitchFamily="34" charset="-120"/>
              </a:rPr>
              <a:t>WITHDRAWN</a:t>
            </a:r>
            <a:endParaRPr lang="en-US" sz="3400" dirty="0"/>
          </a:p>
        </p:txBody>
      </p:sp>
      <p:sp>
        <p:nvSpPr>
          <p:cNvPr id="12" name="Text 10"/>
          <p:cNvSpPr txBox="1"/>
          <p:nvPr/>
        </p:nvSpPr>
        <p:spPr>
          <a:xfrm>
            <a:off x="4535424" y="3264408"/>
            <a:ext cx="3200400" cy="182880"/>
          </a:xfrm>
          <a:prstGeom prst="rect">
            <a:avLst/>
          </a:prstGeom>
          <a:noFill/>
          <a:ln/>
        </p:spPr>
        <p:txBody>
          <a:bodyPr wrap="square" lIns="0" tIns="0" rIns="0" bIns="0" rtlCol="0" anchor="ctr"/>
          <a:lstStyle/>
          <a:p>
            <a:pPr indent="0" marL="0">
              <a:buNone/>
            </a:pPr>
            <a:r>
              <a:rPr lang="en-US" sz="700" spc="160" kern="0" dirty="0">
                <a:solidFill>
                  <a:srgbClr val="B8512A"/>
                </a:solidFill>
                <a:latin typeface="JetBrains Mono" pitchFamily="34" charset="0"/>
                <a:ea typeface="JetBrains Mono" pitchFamily="34" charset="-122"/>
                <a:cs typeface="JetBrains Mono" pitchFamily="34" charset="-120"/>
              </a:rPr>
              <a:t>THE 17/90 'FUNCTIONAL NULL'</a:t>
            </a:r>
            <a:endParaRPr lang="en-US" sz="700" dirty="0"/>
          </a:p>
        </p:txBody>
      </p:sp>
      <p:sp>
        <p:nvSpPr>
          <p:cNvPr id="13" name="Text 11"/>
          <p:cNvSpPr txBox="1"/>
          <p:nvPr/>
        </p:nvSpPr>
        <p:spPr>
          <a:xfrm>
            <a:off x="4535424" y="3483864"/>
            <a:ext cx="3035808" cy="685800"/>
          </a:xfrm>
          <a:prstGeom prst="rect">
            <a:avLst/>
          </a:prstGeom>
          <a:noFill/>
          <a:ln/>
        </p:spPr>
        <p:txBody>
          <a:bodyPr wrap="square" lIns="0" tIns="0" rIns="0" bIns="0" rtlCol="0" anchor="t"/>
          <a:lstStyle/>
          <a:p>
            <a:pPr algn="l" indent="0" marL="0">
              <a:lnSpc>
                <a:spcPct val="104000"/>
              </a:lnSpc>
              <a:buNone/>
            </a:pPr>
            <a:r>
              <a:rPr lang="en-US" sz="950" dirty="0">
                <a:solidFill>
                  <a:srgbClr val="5A564D"/>
                </a:solidFill>
                <a:latin typeface="Newsreader" pitchFamily="34" charset="0"/>
                <a:ea typeface="Newsreader" pitchFamily="34" charset="-122"/>
                <a:cs typeface="Newsreader" pitchFamily="34" charset="-120"/>
              </a:rPr>
              <a:t>A 17/90 CPm+5′UTR construct was cited from Shilts 2020 — no such construct exists in the paper. The 240/240 identity now carries the coat falsification alone.</a:t>
            </a:r>
            <a:endParaRPr lang="en-US" sz="950" dirty="0"/>
          </a:p>
        </p:txBody>
      </p:sp>
      <p:sp>
        <p:nvSpPr>
          <p:cNvPr id="14" name="Shape 12"/>
          <p:cNvSpPr/>
          <p:nvPr/>
        </p:nvSpPr>
        <p:spPr>
          <a:xfrm>
            <a:off x="8193024" y="2697480"/>
            <a:ext cx="0" cy="1463040"/>
          </a:xfrm>
          <a:prstGeom prst="line">
            <a:avLst/>
          </a:prstGeom>
          <a:noFill/>
          <a:ln w="9525">
            <a:solidFill>
              <a:srgbClr val="C9C3B3"/>
            </a:solidFill>
            <a:prstDash val="solid"/>
          </a:ln>
        </p:spPr>
      </p:sp>
      <p:sp>
        <p:nvSpPr>
          <p:cNvPr id="15" name="Shape 13"/>
          <p:cNvSpPr/>
          <p:nvPr/>
        </p:nvSpPr>
        <p:spPr>
          <a:xfrm>
            <a:off x="8558784" y="2697480"/>
            <a:ext cx="3611880" cy="1691640"/>
          </a:xfrm>
          <a:prstGeom prst="rect">
            <a:avLst/>
          </a:prstGeom>
          <a:solidFill>
            <a:srgbClr val="E7D3BF"/>
          </a:solidFill>
          <a:ln w="9525">
            <a:solidFill>
              <a:srgbClr val="D9D4BE"/>
            </a:solidFill>
            <a:prstDash val="solid"/>
          </a:ln>
        </p:spPr>
      </p:sp>
      <p:sp>
        <p:nvSpPr>
          <p:cNvPr id="16" name="Text 14"/>
          <p:cNvSpPr txBox="1"/>
          <p:nvPr/>
        </p:nvSpPr>
        <p:spPr>
          <a:xfrm>
            <a:off x="8741664" y="2880360"/>
            <a:ext cx="3246120" cy="1371600"/>
          </a:xfrm>
          <a:prstGeom prst="rect">
            <a:avLst/>
          </a:prstGeom>
          <a:noFill/>
          <a:ln/>
        </p:spPr>
        <p:txBody>
          <a:bodyPr wrap="square" lIns="0" tIns="0" rIns="0" bIns="0" rtlCol="0" anchor="t"/>
          <a:lstStyle/>
          <a:p>
            <a:pPr algn="l" indent="0" marL="0">
              <a:lnSpc>
                <a:spcPct val="104000"/>
              </a:lnSpc>
              <a:buNone/>
            </a:pPr>
            <a:r>
              <a:rPr lang="en-US" sz="950" i="1" dirty="0">
                <a:solidFill>
                  <a:srgbClr val="1A1812"/>
                </a:solidFill>
                <a:latin typeface="Newsreader" pitchFamily="34" charset="0"/>
                <a:ea typeface="Newsreader" pitchFamily="34" charset="-122"/>
                <a:cs typeface="Newsreader" pitchFamily="34" charset="-120"/>
              </a:rPr>
              <a:t>What survives:  </a:t>
            </a:r>
            <a:pPr algn="l" indent="0" marL="0">
              <a:lnSpc>
                <a:spcPct val="104000"/>
              </a:lnSpc>
              <a:buNone/>
            </a:pPr>
            <a:r>
              <a:rPr lang="en-US" sz="950" dirty="0">
                <a:solidFill>
                  <a:srgbClr val="5A564D"/>
                </a:solidFill>
                <a:latin typeface="Newsreader" pitchFamily="34" charset="0"/>
                <a:ea typeface="Newsreader" pitchFamily="34" charset="-122"/>
                <a:cs typeface="Newsreader" pitchFamily="34" charset="-120"/>
              </a:rPr>
              <a:t>CPm remains the physical ligand at the aphid foregut — a knockout target, not the explanation. The interface is the tail complex it shares with p65 and p61.</a:t>
            </a:r>
            <a:endParaRPr lang="en-US" sz="950" dirty="0"/>
          </a:p>
        </p:txBody>
      </p:sp>
      <p:sp>
        <p:nvSpPr>
          <p:cNvPr id="17" name="Shape 15"/>
          <p:cNvSpPr/>
          <p:nvPr/>
        </p:nvSpPr>
        <p:spPr>
          <a:xfrm>
            <a:off x="512064" y="6053328"/>
            <a:ext cx="11167567" cy="0"/>
          </a:xfrm>
          <a:prstGeom prst="line">
            <a:avLst/>
          </a:prstGeom>
          <a:noFill/>
          <a:ln w="9525">
            <a:solidFill>
              <a:srgbClr val="C9C3B3"/>
            </a:solidFill>
            <a:prstDash val="solid"/>
          </a:ln>
        </p:spPr>
      </p:sp>
      <p:sp>
        <p:nvSpPr>
          <p:cNvPr id="18" name="Text 16"/>
          <p:cNvSpPr txBox="1"/>
          <p:nvPr/>
        </p:nvSpPr>
        <p:spPr>
          <a:xfrm>
            <a:off x="512064" y="6144768"/>
            <a:ext cx="11167567" cy="182880"/>
          </a:xfrm>
          <a:prstGeom prst="rect">
            <a:avLst/>
          </a:prstGeom>
          <a:noFill/>
          <a:ln/>
        </p:spPr>
        <p:txBody>
          <a:bodyPr wrap="square" lIns="0" tIns="0" rIns="0" bIns="0" rtlCol="0" anchor="ctr"/>
          <a:lstStyle/>
          <a:p>
            <a:pPr algn="l" indent="0" marL="0">
              <a:buNone/>
            </a:pPr>
            <a:r>
              <a:rPr lang="en-US" sz="750" spc="180" kern="0" dirty="0">
                <a:solidFill>
                  <a:srgbClr val="B8512A"/>
                </a:solidFill>
                <a:latin typeface="JetBrains Mono" pitchFamily="34" charset="0"/>
                <a:ea typeface="JetBrains Mono" pitchFamily="34" charset="-122"/>
                <a:cs typeface="JetBrains Mono" pitchFamily="34" charset="-120"/>
              </a:rPr>
              <a:t>WHERE THE APHID READS THE VIRION: FREE p27, p61 AND p65 COMPETE FOREGUT BINDING — p25 DOES NOT</a:t>
            </a:r>
            <a:endParaRPr lang="en-US" sz="750" dirty="0"/>
          </a:p>
        </p:txBody>
      </p:sp>
      <p:sp>
        <p:nvSpPr>
          <p:cNvPr id="19" name="Text 17"/>
          <p:cNvSpPr txBox="1"/>
          <p:nvPr/>
        </p:nvSpPr>
        <p:spPr>
          <a:xfrm>
            <a:off x="512064" y="6336792"/>
            <a:ext cx="7680960" cy="182880"/>
          </a:xfrm>
          <a:prstGeom prst="rect">
            <a:avLst/>
          </a:prstGeom>
          <a:noFill/>
          <a:ln/>
        </p:spPr>
        <p:txBody>
          <a:bodyPr wrap="square" lIns="0" tIns="0" rIns="0" bIns="0" rtlCol="0" anchor="ctr"/>
          <a:lstStyle/>
          <a:p>
            <a:pPr indent="0" marL="0">
              <a:buNone/>
            </a:pPr>
            <a:r>
              <a:rPr lang="en-US" sz="650" spc="160" kern="0" dirty="0">
                <a:solidFill>
                  <a:srgbClr val="7A766A"/>
                </a:solidFill>
                <a:latin typeface="JetBrains Mono" pitchFamily="34" charset="0"/>
                <a:ea typeface="JetBrains Mono" pitchFamily="34" charset="-122"/>
                <a:cs typeface="JetBrains Mono" pitchFamily="34" charset="-120"/>
              </a:rPr>
              <a:t>03 / 08</a:t>
            </a:r>
            <a:endParaRPr lang="en-US" sz="650" dirty="0"/>
          </a:p>
        </p:txBody>
      </p:sp>
      <p:sp>
        <p:nvSpPr>
          <p:cNvPr id="20" name="Text 18"/>
          <p:cNvSpPr txBox="1"/>
          <p:nvPr/>
        </p:nvSpPr>
        <p:spPr>
          <a:xfrm>
            <a:off x="6199632" y="6336792"/>
            <a:ext cx="5486400" cy="182880"/>
          </a:xfrm>
          <a:prstGeom prst="rect">
            <a:avLst/>
          </a:prstGeom>
          <a:noFill/>
          <a:ln/>
        </p:spPr>
        <p:txBody>
          <a:bodyPr wrap="square" lIns="0" tIns="0" rIns="0" bIns="0" rtlCol="0" anchor="ctr"/>
          <a:lstStyle/>
          <a:p>
            <a:pPr algn="r" indent="0" marL="0">
              <a:buNone/>
            </a:pPr>
            <a:r>
              <a:rPr lang="en-US" sz="650" spc="160" kern="0" dirty="0">
                <a:solidFill>
                  <a:srgbClr val="7A766A"/>
                </a:solidFill>
                <a:latin typeface="JetBrains Mono" pitchFamily="34" charset="0"/>
                <a:ea typeface="JetBrains Mono" pitchFamily="34" charset="-122"/>
                <a:cs typeface="JetBrains Mono" pitchFamily="34" charset="-120"/>
              </a:rPr>
              <a:t>KILLINY 2016 · OUR ALIGNMENT · SHILTS 2020</a:t>
            </a:r>
            <a:endParaRPr lang="en-US" sz="6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FE8D6"/>
        </a:solidFill>
      </p:bgPr>
    </p:bg>
    <p:spTree>
      <p:nvGrpSpPr>
        <p:cNvPr id="1" name=""/>
        <p:cNvGrpSpPr/>
        <p:nvPr/>
      </p:nvGrpSpPr>
      <p:grpSpPr>
        <a:xfrm>
          <a:off x="0" y="0"/>
          <a:ext cx="0" cy="0"/>
          <a:chOff x="0" y="0"/>
          <a:chExt cx="0" cy="0"/>
        </a:xfrm>
      </p:grpSpPr>
      <p:sp>
        <p:nvSpPr>
          <p:cNvPr id="2" name="Text 0"/>
          <p:cNvSpPr txBox="1"/>
          <p:nvPr/>
        </p:nvSpPr>
        <p:spPr>
          <a:xfrm>
            <a:off x="512064" y="356616"/>
            <a:ext cx="4572000" cy="182880"/>
          </a:xfrm>
          <a:prstGeom prst="rect">
            <a:avLst/>
          </a:prstGeom>
          <a:noFill/>
          <a:ln/>
        </p:spPr>
        <p:txBody>
          <a:bodyPr wrap="square" lIns="0" tIns="0" rIns="0" bIns="0" rtlCol="0" anchor="ctr"/>
          <a:lstStyle/>
          <a:p>
            <a:pPr indent="0" marL="0">
              <a:buNone/>
            </a:pPr>
            <a:r>
              <a:rPr lang="en-US" sz="650" spc="200" kern="0" dirty="0">
                <a:solidFill>
                  <a:srgbClr val="7A766A"/>
                </a:solidFill>
                <a:latin typeface="JetBrains Mono" pitchFamily="34" charset="0"/>
                <a:ea typeface="JetBrains Mono" pitchFamily="34" charset="-122"/>
                <a:cs typeface="JetBrains Mono" pitchFamily="34" charset="-120"/>
              </a:rPr>
              <a:t>SILVEC · BIOLOGICS</a:t>
            </a:r>
            <a:endParaRPr lang="en-US" sz="650" dirty="0"/>
          </a:p>
        </p:txBody>
      </p:sp>
      <p:sp>
        <p:nvSpPr>
          <p:cNvPr id="3" name="Text 1"/>
          <p:cNvSpPr txBox="1"/>
          <p:nvPr/>
        </p:nvSpPr>
        <p:spPr>
          <a:xfrm>
            <a:off x="7114032" y="356616"/>
            <a:ext cx="4572000" cy="182880"/>
          </a:xfrm>
          <a:prstGeom prst="rect">
            <a:avLst/>
          </a:prstGeom>
          <a:noFill/>
          <a:ln/>
        </p:spPr>
        <p:txBody>
          <a:bodyPr wrap="square" lIns="0" tIns="0" rIns="0" bIns="0" rtlCol="0" anchor="ctr"/>
          <a:lstStyle/>
          <a:p>
            <a:pPr algn="r" indent="0" marL="0">
              <a:buNone/>
            </a:pPr>
            <a:r>
              <a:rPr lang="en-US" sz="650" spc="200" kern="0" dirty="0">
                <a:solidFill>
                  <a:srgbClr val="7A766A"/>
                </a:solidFill>
                <a:latin typeface="JetBrains Mono" pitchFamily="34" charset="0"/>
                <a:ea typeface="JetBrains Mono" pitchFamily="34" charset="-122"/>
                <a:cs typeface="JetBrains Mono" pitchFamily="34" charset="-120"/>
              </a:rPr>
              <a:t>04 / 08</a:t>
            </a:r>
            <a:endParaRPr lang="en-US" sz="650" dirty="0"/>
          </a:p>
        </p:txBody>
      </p:sp>
      <p:sp>
        <p:nvSpPr>
          <p:cNvPr id="4" name="Text 2"/>
          <p:cNvSpPr txBox="1"/>
          <p:nvPr/>
        </p:nvSpPr>
        <p:spPr>
          <a:xfrm>
            <a:off x="512064" y="960120"/>
            <a:ext cx="9601200" cy="201168"/>
          </a:xfrm>
          <a:prstGeom prst="rect">
            <a:avLst/>
          </a:prstGeom>
          <a:noFill/>
          <a:ln/>
        </p:spPr>
        <p:txBody>
          <a:bodyPr wrap="square" lIns="0" tIns="0" rIns="0" bIns="0" rtlCol="0" anchor="ctr"/>
          <a:lstStyle/>
          <a:p>
            <a:pPr indent="0" marL="0">
              <a:buNone/>
            </a:pPr>
            <a:r>
              <a:rPr lang="en-US" sz="700" spc="240" kern="0" dirty="0">
                <a:solidFill>
                  <a:srgbClr val="B8512A"/>
                </a:solidFill>
                <a:latin typeface="JetBrains Mono" pitchFamily="34" charset="0"/>
                <a:ea typeface="JetBrains Mono" pitchFamily="34" charset="-122"/>
                <a:cs typeface="JetBrains Mono" pitchFamily="34" charset="-120"/>
              </a:rPr>
              <a:t>THE / THREE APPROACHES</a:t>
            </a:r>
            <a:endParaRPr lang="en-US" sz="700" dirty="0"/>
          </a:p>
        </p:txBody>
      </p:sp>
      <p:sp>
        <p:nvSpPr>
          <p:cNvPr id="5" name="Text 3"/>
          <p:cNvSpPr txBox="1"/>
          <p:nvPr/>
        </p:nvSpPr>
        <p:spPr>
          <a:xfrm>
            <a:off x="512064" y="1271016"/>
            <a:ext cx="10625328" cy="566928"/>
          </a:xfrm>
          <a:prstGeom prst="rect">
            <a:avLst/>
          </a:prstGeom>
          <a:noFill/>
          <a:ln/>
        </p:spPr>
        <p:txBody>
          <a:bodyPr wrap="square" lIns="0" tIns="0" rIns="0" bIns="0" rtlCol="0" anchor="t"/>
          <a:lstStyle/>
          <a:p>
            <a:pPr indent="0" marL="0">
              <a:buNone/>
            </a:pPr>
            <a:r>
              <a:rPr lang="en-US" sz="2700" dirty="0">
                <a:solidFill>
                  <a:srgbClr val="1A1812"/>
                </a:solidFill>
                <a:latin typeface="Newsreader" pitchFamily="34" charset="0"/>
                <a:ea typeface="Newsreader" pitchFamily="34" charset="-122"/>
                <a:cs typeface="Newsreader" pitchFamily="34" charset="-120"/>
              </a:rPr>
              <a:t>One season, three wagers, different measurements.</a:t>
            </a:r>
            <a:endParaRPr lang="en-US" sz="2700" dirty="0"/>
          </a:p>
        </p:txBody>
      </p:sp>
      <p:sp>
        <p:nvSpPr>
          <p:cNvPr id="6" name="Text 4"/>
          <p:cNvSpPr txBox="1"/>
          <p:nvPr/>
        </p:nvSpPr>
        <p:spPr>
          <a:xfrm>
            <a:off x="512064" y="1892808"/>
            <a:ext cx="10058400" cy="530352"/>
          </a:xfrm>
          <a:prstGeom prst="rect">
            <a:avLst/>
          </a:prstGeom>
          <a:noFill/>
          <a:ln/>
        </p:spPr>
        <p:txBody>
          <a:bodyPr wrap="square" lIns="0" tIns="0" rIns="0" bIns="0" rtlCol="0" anchor="t"/>
          <a:lstStyle/>
          <a:p>
            <a:pPr indent="0" marL="0">
              <a:buNone/>
            </a:pPr>
            <a:r>
              <a:rPr lang="en-US" sz="1200" dirty="0">
                <a:solidFill>
                  <a:srgbClr val="5A564D"/>
                </a:solidFill>
                <a:latin typeface="Newsreader" pitchFamily="34" charset="0"/>
                <a:ea typeface="Newsreader" pitchFamily="34" charset="-122"/>
                <a:cs typeface="Newsreader" pitchFamily="34" charset="-120"/>
              </a:rPr>
              <a:t>Run as competing mechanism bets sharing one protocol — so the season adjudicates which story is true.</a:t>
            </a:r>
            <a:endParaRPr lang="en-US" sz="1200" dirty="0"/>
          </a:p>
        </p:txBody>
      </p:sp>
      <p:sp>
        <p:nvSpPr>
          <p:cNvPr id="7" name="Text 5"/>
          <p:cNvSpPr txBox="1"/>
          <p:nvPr/>
        </p:nvSpPr>
        <p:spPr>
          <a:xfrm>
            <a:off x="512064" y="2743200"/>
            <a:ext cx="1051560" cy="201168"/>
          </a:xfrm>
          <a:prstGeom prst="rect">
            <a:avLst/>
          </a:prstGeom>
          <a:noFill/>
          <a:ln/>
        </p:spPr>
        <p:txBody>
          <a:bodyPr wrap="square" lIns="0" tIns="0" rIns="0" bIns="0" rtlCol="0" anchor="ctr"/>
          <a:lstStyle/>
          <a:p>
            <a:pPr indent="0" marL="0">
              <a:buNone/>
            </a:pPr>
            <a:endParaRPr lang="en-US" sz="650" dirty="0"/>
          </a:p>
        </p:txBody>
      </p:sp>
      <p:sp>
        <p:nvSpPr>
          <p:cNvPr id="8" name="Text 6"/>
          <p:cNvSpPr txBox="1"/>
          <p:nvPr/>
        </p:nvSpPr>
        <p:spPr>
          <a:xfrm>
            <a:off x="1700784" y="2743200"/>
            <a:ext cx="3246120" cy="201168"/>
          </a:xfrm>
          <a:prstGeom prst="rect">
            <a:avLst/>
          </a:prstGeom>
          <a:noFill/>
          <a:ln/>
        </p:spPr>
        <p:txBody>
          <a:bodyPr wrap="square" lIns="0" tIns="0" rIns="0" bIns="0" rtlCol="0" anchor="ctr"/>
          <a:lstStyle/>
          <a:p>
            <a:pPr indent="0" marL="0">
              <a:buNone/>
            </a:pPr>
            <a:r>
              <a:rPr lang="en-US" sz="650" spc="220" kern="0" dirty="0">
                <a:solidFill>
                  <a:srgbClr val="9E9A8C"/>
                </a:solidFill>
                <a:latin typeface="JetBrains Mono" pitchFamily="34" charset="0"/>
                <a:ea typeface="JetBrains Mono" pitchFamily="34" charset="-122"/>
                <a:cs typeface="JetBrains Mono" pitchFamily="34" charset="-120"/>
              </a:rPr>
              <a:t>A · THE KNOCKOUT — LEAD</a:t>
            </a:r>
            <a:endParaRPr lang="en-US" sz="650" dirty="0"/>
          </a:p>
        </p:txBody>
      </p:sp>
      <p:sp>
        <p:nvSpPr>
          <p:cNvPr id="9" name="Text 7"/>
          <p:cNvSpPr txBox="1"/>
          <p:nvPr/>
        </p:nvSpPr>
        <p:spPr>
          <a:xfrm>
            <a:off x="5084064" y="2743200"/>
            <a:ext cx="3154680" cy="201168"/>
          </a:xfrm>
          <a:prstGeom prst="rect">
            <a:avLst/>
          </a:prstGeom>
          <a:noFill/>
          <a:ln/>
        </p:spPr>
        <p:txBody>
          <a:bodyPr wrap="square" lIns="0" tIns="0" rIns="0" bIns="0" rtlCol="0" anchor="ctr"/>
          <a:lstStyle/>
          <a:p>
            <a:pPr indent="0" marL="0">
              <a:buNone/>
            </a:pPr>
            <a:r>
              <a:rPr lang="en-US" sz="650" spc="220" kern="0" dirty="0">
                <a:solidFill>
                  <a:srgbClr val="9E9A8C"/>
                </a:solidFill>
                <a:latin typeface="JetBrains Mono" pitchFamily="34" charset="0"/>
                <a:ea typeface="JetBrains Mono" pitchFamily="34" charset="-122"/>
                <a:cs typeface="JetBrains Mono" pitchFamily="34" charset="-120"/>
              </a:rPr>
              <a:t>B · THE VIROPORIN ARM</a:t>
            </a:r>
            <a:endParaRPr lang="en-US" sz="650" dirty="0"/>
          </a:p>
        </p:txBody>
      </p:sp>
      <p:sp>
        <p:nvSpPr>
          <p:cNvPr id="10" name="Text 8"/>
          <p:cNvSpPr txBox="1"/>
          <p:nvPr/>
        </p:nvSpPr>
        <p:spPr>
          <a:xfrm>
            <a:off x="8375904" y="2743200"/>
            <a:ext cx="3108960" cy="201168"/>
          </a:xfrm>
          <a:prstGeom prst="rect">
            <a:avLst/>
          </a:prstGeom>
          <a:noFill/>
          <a:ln/>
        </p:spPr>
        <p:txBody>
          <a:bodyPr wrap="square" lIns="0" tIns="0" rIns="0" bIns="0" rtlCol="0" anchor="ctr"/>
          <a:lstStyle/>
          <a:p>
            <a:pPr indent="0" marL="0">
              <a:buNone/>
            </a:pPr>
            <a:r>
              <a:rPr lang="en-US" sz="650" spc="220" kern="0" dirty="0">
                <a:solidFill>
                  <a:srgbClr val="9E9A8C"/>
                </a:solidFill>
                <a:latin typeface="JetBrains Mono" pitchFamily="34" charset="0"/>
                <a:ea typeface="JetBrains Mono" pitchFamily="34" charset="-122"/>
                <a:cs typeface="JetBrains Mono" pitchFamily="34" charset="-120"/>
              </a:rPr>
              <a:t>C · THE TRUE CAPSID MUTANT</a:t>
            </a:r>
            <a:endParaRPr lang="en-US" sz="650" dirty="0"/>
          </a:p>
        </p:txBody>
      </p:sp>
      <p:sp>
        <p:nvSpPr>
          <p:cNvPr id="11" name="Shape 9"/>
          <p:cNvSpPr/>
          <p:nvPr/>
        </p:nvSpPr>
        <p:spPr>
          <a:xfrm>
            <a:off x="512064" y="2980944"/>
            <a:ext cx="11167567" cy="0"/>
          </a:xfrm>
          <a:prstGeom prst="line">
            <a:avLst/>
          </a:prstGeom>
          <a:noFill/>
          <a:ln w="9525">
            <a:solidFill>
              <a:srgbClr val="C9C3B3"/>
            </a:solidFill>
            <a:prstDash val="solid"/>
          </a:ln>
        </p:spPr>
      </p:sp>
      <p:sp>
        <p:nvSpPr>
          <p:cNvPr id="12" name="Text 10"/>
          <p:cNvSpPr txBox="1"/>
          <p:nvPr/>
        </p:nvSpPr>
        <p:spPr>
          <a:xfrm>
            <a:off x="512064" y="3063240"/>
            <a:ext cx="1024128" cy="457200"/>
          </a:xfrm>
          <a:prstGeom prst="rect">
            <a:avLst/>
          </a:prstGeom>
          <a:noFill/>
          <a:ln/>
        </p:spPr>
        <p:txBody>
          <a:bodyPr wrap="square" lIns="0" tIns="0" rIns="0" bIns="0" rtlCol="0" anchor="t"/>
          <a:lstStyle/>
          <a:p>
            <a:pPr indent="0" marL="0">
              <a:lnSpc>
                <a:spcPct val="102000"/>
              </a:lnSpc>
              <a:buNone/>
            </a:pPr>
            <a:r>
              <a:rPr lang="en-US" sz="600" dirty="0">
                <a:solidFill>
                  <a:srgbClr val="9E9A8C"/>
                </a:solidFill>
                <a:latin typeface="JetBrains Mono" pitchFamily="34" charset="0"/>
                <a:ea typeface="JetBrains Mono" pitchFamily="34" charset="-122"/>
                <a:cs typeface="JetBrains Mono" pitchFamily="34" charset="-120"/>
              </a:rPr>
              <a:t>CONSTRUCT</a:t>
            </a:r>
            <a:endParaRPr lang="en-US" sz="600" dirty="0"/>
          </a:p>
        </p:txBody>
      </p:sp>
      <p:sp>
        <p:nvSpPr>
          <p:cNvPr id="13" name="Text 11"/>
          <p:cNvSpPr txBox="1"/>
          <p:nvPr/>
        </p:nvSpPr>
        <p:spPr>
          <a:xfrm>
            <a:off x="1700784" y="3063240"/>
            <a:ext cx="3218688" cy="457200"/>
          </a:xfrm>
          <a:prstGeom prst="rect">
            <a:avLst/>
          </a:prstGeom>
          <a:noFill/>
          <a:ln/>
        </p:spPr>
        <p:txBody>
          <a:bodyPr wrap="square" lIns="0" tIns="0" rIns="0" bIns="0" rtlCol="0" anchor="t"/>
          <a:lstStyle/>
          <a:p>
            <a:pPr indent="0" marL="0">
              <a:lnSpc>
                <a:spcPct val="102000"/>
              </a:lnSpc>
              <a:buNone/>
            </a:pPr>
            <a:r>
              <a:rPr lang="en-US" sz="950" dirty="0">
                <a:solidFill>
                  <a:srgbClr val="5A564D"/>
                </a:solidFill>
                <a:latin typeface="Newsreader" pitchFamily="34" charset="0"/>
                <a:ea typeface="Newsreader" pitchFamily="34" charset="-122"/>
                <a:cs typeface="Newsreader" pitchFamily="34" charset="-120"/>
              </a:rPr>
              <a:t>FS577 + T36's p61 (9) + p65 (2)</a:t>
            </a:r>
            <a:endParaRPr lang="en-US" sz="950" dirty="0"/>
          </a:p>
        </p:txBody>
      </p:sp>
      <p:sp>
        <p:nvSpPr>
          <p:cNvPr id="14" name="Text 12"/>
          <p:cNvSpPr txBox="1"/>
          <p:nvPr/>
        </p:nvSpPr>
        <p:spPr>
          <a:xfrm>
            <a:off x="5084064" y="3063240"/>
            <a:ext cx="3127248" cy="457200"/>
          </a:xfrm>
          <a:prstGeom prst="rect">
            <a:avLst/>
          </a:prstGeom>
          <a:noFill/>
          <a:ln/>
        </p:spPr>
        <p:txBody>
          <a:bodyPr wrap="square" lIns="0" tIns="0" rIns="0" bIns="0" rtlCol="0" anchor="t"/>
          <a:lstStyle/>
          <a:p>
            <a:pPr indent="0" marL="0">
              <a:lnSpc>
                <a:spcPct val="102000"/>
              </a:lnSpc>
              <a:buNone/>
            </a:pPr>
            <a:r>
              <a:rPr lang="en-US" sz="950" dirty="0">
                <a:solidFill>
                  <a:srgbClr val="5A564D"/>
                </a:solidFill>
                <a:latin typeface="Newsreader" pitchFamily="34" charset="0"/>
                <a:ea typeface="Newsreader" pitchFamily="34" charset="-122"/>
                <a:cs typeface="Newsreader" pitchFamily="34" charset="-120"/>
              </a:rPr>
              <a:t>FS577 + T36 p33, whole gene, titer-matched</a:t>
            </a:r>
            <a:endParaRPr lang="en-US" sz="950" dirty="0"/>
          </a:p>
        </p:txBody>
      </p:sp>
      <p:sp>
        <p:nvSpPr>
          <p:cNvPr id="15" name="Text 13"/>
          <p:cNvSpPr txBox="1"/>
          <p:nvPr/>
        </p:nvSpPr>
        <p:spPr>
          <a:xfrm>
            <a:off x="8375904" y="3063240"/>
            <a:ext cx="3081528" cy="457200"/>
          </a:xfrm>
          <a:prstGeom prst="rect">
            <a:avLst/>
          </a:prstGeom>
          <a:noFill/>
          <a:ln/>
        </p:spPr>
        <p:txBody>
          <a:bodyPr wrap="square" lIns="0" tIns="0" rIns="0" bIns="0" rtlCol="0" anchor="t"/>
          <a:lstStyle/>
          <a:p>
            <a:pPr indent="0" marL="0">
              <a:lnSpc>
                <a:spcPct val="102000"/>
              </a:lnSpc>
              <a:buNone/>
            </a:pPr>
            <a:r>
              <a:rPr lang="en-US" sz="950" dirty="0">
                <a:solidFill>
                  <a:srgbClr val="5A564D"/>
                </a:solidFill>
                <a:latin typeface="Newsreader" pitchFamily="34" charset="0"/>
                <a:ea typeface="Newsreader" pitchFamily="34" charset="-122"/>
                <a:cs typeface="Newsreader" pitchFamily="34" charset="-120"/>
              </a:rPr>
              <a:t>p27 point edits, aimed by A's residue map</a:t>
            </a:r>
            <a:endParaRPr lang="en-US" sz="950" dirty="0"/>
          </a:p>
        </p:txBody>
      </p:sp>
      <p:sp>
        <p:nvSpPr>
          <p:cNvPr id="16" name="Shape 14"/>
          <p:cNvSpPr/>
          <p:nvPr/>
        </p:nvSpPr>
        <p:spPr>
          <a:xfrm>
            <a:off x="512064" y="3465576"/>
            <a:ext cx="11167567" cy="0"/>
          </a:xfrm>
          <a:prstGeom prst="line">
            <a:avLst/>
          </a:prstGeom>
          <a:noFill/>
          <a:ln w="9525">
            <a:solidFill>
              <a:srgbClr val="D9D4BE"/>
            </a:solidFill>
            <a:prstDash val="solid"/>
          </a:ln>
        </p:spPr>
      </p:sp>
      <p:sp>
        <p:nvSpPr>
          <p:cNvPr id="17" name="Text 15"/>
          <p:cNvSpPr txBox="1"/>
          <p:nvPr/>
        </p:nvSpPr>
        <p:spPr>
          <a:xfrm>
            <a:off x="512064" y="3520440"/>
            <a:ext cx="1024128" cy="457200"/>
          </a:xfrm>
          <a:prstGeom prst="rect">
            <a:avLst/>
          </a:prstGeom>
          <a:noFill/>
          <a:ln/>
        </p:spPr>
        <p:txBody>
          <a:bodyPr wrap="square" lIns="0" tIns="0" rIns="0" bIns="0" rtlCol="0" anchor="t"/>
          <a:lstStyle/>
          <a:p>
            <a:pPr indent="0" marL="0">
              <a:lnSpc>
                <a:spcPct val="102000"/>
              </a:lnSpc>
              <a:buNone/>
            </a:pPr>
            <a:r>
              <a:rPr lang="en-US" sz="600" dirty="0">
                <a:solidFill>
                  <a:srgbClr val="9E9A8C"/>
                </a:solidFill>
                <a:latin typeface="JetBrains Mono" pitchFamily="34" charset="0"/>
                <a:ea typeface="JetBrains Mono" pitchFamily="34" charset="-122"/>
                <a:cs typeface="JetBrains Mono" pitchFamily="34" charset="-120"/>
              </a:rPr>
              <a:t>WAGERS</a:t>
            </a:r>
            <a:endParaRPr lang="en-US" sz="600" dirty="0"/>
          </a:p>
        </p:txBody>
      </p:sp>
      <p:sp>
        <p:nvSpPr>
          <p:cNvPr id="18" name="Text 16"/>
          <p:cNvSpPr txBox="1"/>
          <p:nvPr/>
        </p:nvSpPr>
        <p:spPr>
          <a:xfrm>
            <a:off x="1700784" y="3520440"/>
            <a:ext cx="3218688" cy="457200"/>
          </a:xfrm>
          <a:prstGeom prst="rect">
            <a:avLst/>
          </a:prstGeom>
          <a:noFill/>
          <a:ln/>
        </p:spPr>
        <p:txBody>
          <a:bodyPr wrap="square" lIns="0" tIns="0" rIns="0" bIns="0" rtlCol="0" anchor="t"/>
          <a:lstStyle/>
          <a:p>
            <a:pPr indent="0" marL="0">
              <a:lnSpc>
                <a:spcPct val="102000"/>
              </a:lnSpc>
              <a:buNone/>
            </a:pPr>
            <a:r>
              <a:rPr lang="en-US" sz="950" dirty="0">
                <a:solidFill>
                  <a:srgbClr val="5A564D"/>
                </a:solidFill>
                <a:latin typeface="Newsreader" pitchFamily="34" charset="0"/>
                <a:ea typeface="Newsreader" pitchFamily="34" charset="-122"/>
                <a:cs typeface="Newsreader" pitchFamily="34" charset="-120"/>
              </a:rPr>
              <a:t>The tail interface gates transmission</a:t>
            </a:r>
            <a:endParaRPr lang="en-US" sz="950" dirty="0"/>
          </a:p>
        </p:txBody>
      </p:sp>
      <p:sp>
        <p:nvSpPr>
          <p:cNvPr id="19" name="Text 17"/>
          <p:cNvSpPr txBox="1"/>
          <p:nvPr/>
        </p:nvSpPr>
        <p:spPr>
          <a:xfrm>
            <a:off x="5084064" y="3520440"/>
            <a:ext cx="3127248" cy="457200"/>
          </a:xfrm>
          <a:prstGeom prst="rect">
            <a:avLst/>
          </a:prstGeom>
          <a:noFill/>
          <a:ln/>
        </p:spPr>
        <p:txBody>
          <a:bodyPr wrap="square" lIns="0" tIns="0" rIns="0" bIns="0" rtlCol="0" anchor="t"/>
          <a:lstStyle/>
          <a:p>
            <a:pPr indent="0" marL="0">
              <a:lnSpc>
                <a:spcPct val="102000"/>
              </a:lnSpc>
              <a:buNone/>
            </a:pPr>
            <a:r>
              <a:rPr lang="en-US" sz="950" dirty="0">
                <a:solidFill>
                  <a:srgbClr val="5A564D"/>
                </a:solidFill>
                <a:latin typeface="Newsreader" pitchFamily="34" charset="0"/>
                <a:ea typeface="Newsreader" pitchFamily="34" charset="-122"/>
                <a:cs typeface="Newsreader" pitchFamily="34" charset="-120"/>
              </a:rPr>
              <a:t>Transmission tracks viral accumulation, not docking</a:t>
            </a:r>
            <a:endParaRPr lang="en-US" sz="950" dirty="0"/>
          </a:p>
        </p:txBody>
      </p:sp>
      <p:sp>
        <p:nvSpPr>
          <p:cNvPr id="20" name="Text 18"/>
          <p:cNvSpPr txBox="1"/>
          <p:nvPr/>
        </p:nvSpPr>
        <p:spPr>
          <a:xfrm>
            <a:off x="8375904" y="3520440"/>
            <a:ext cx="3081528" cy="457200"/>
          </a:xfrm>
          <a:prstGeom prst="rect">
            <a:avLst/>
          </a:prstGeom>
          <a:noFill/>
          <a:ln/>
        </p:spPr>
        <p:txBody>
          <a:bodyPr wrap="square" lIns="0" tIns="0" rIns="0" bIns="0" rtlCol="0" anchor="t"/>
          <a:lstStyle/>
          <a:p>
            <a:pPr indent="0" marL="0">
              <a:lnSpc>
                <a:spcPct val="102000"/>
              </a:lnSpc>
              <a:buNone/>
            </a:pPr>
            <a:r>
              <a:rPr lang="en-US" sz="950" dirty="0">
                <a:solidFill>
                  <a:srgbClr val="5A564D"/>
                </a:solidFill>
                <a:latin typeface="Newsreader" pitchFamily="34" charset="0"/>
                <a:ea typeface="Newsreader" pitchFamily="34" charset="-122"/>
                <a:cs typeface="Newsreader" pitchFamily="34" charset="-120"/>
              </a:rPr>
              <a:t>The docking ligand itself can be edited</a:t>
            </a:r>
            <a:endParaRPr lang="en-US" sz="950" dirty="0"/>
          </a:p>
        </p:txBody>
      </p:sp>
      <p:sp>
        <p:nvSpPr>
          <p:cNvPr id="21" name="Shape 19"/>
          <p:cNvSpPr/>
          <p:nvPr/>
        </p:nvSpPr>
        <p:spPr>
          <a:xfrm>
            <a:off x="512064" y="3922776"/>
            <a:ext cx="11167567" cy="0"/>
          </a:xfrm>
          <a:prstGeom prst="line">
            <a:avLst/>
          </a:prstGeom>
          <a:noFill/>
          <a:ln w="9525">
            <a:solidFill>
              <a:srgbClr val="D9D4BE"/>
            </a:solidFill>
            <a:prstDash val="solid"/>
          </a:ln>
        </p:spPr>
      </p:sp>
      <p:sp>
        <p:nvSpPr>
          <p:cNvPr id="22" name="Text 20"/>
          <p:cNvSpPr txBox="1"/>
          <p:nvPr/>
        </p:nvSpPr>
        <p:spPr>
          <a:xfrm>
            <a:off x="512064" y="3977640"/>
            <a:ext cx="1024128" cy="457200"/>
          </a:xfrm>
          <a:prstGeom prst="rect">
            <a:avLst/>
          </a:prstGeom>
          <a:noFill/>
          <a:ln/>
        </p:spPr>
        <p:txBody>
          <a:bodyPr wrap="square" lIns="0" tIns="0" rIns="0" bIns="0" rtlCol="0" anchor="t"/>
          <a:lstStyle/>
          <a:p>
            <a:pPr indent="0" marL="0">
              <a:lnSpc>
                <a:spcPct val="102000"/>
              </a:lnSpc>
              <a:buNone/>
            </a:pPr>
            <a:r>
              <a:rPr lang="en-US" sz="600" dirty="0">
                <a:solidFill>
                  <a:srgbClr val="9E9A8C"/>
                </a:solidFill>
                <a:latin typeface="JetBrains Mono" pitchFamily="34" charset="0"/>
                <a:ea typeface="JetBrains Mono" pitchFamily="34" charset="-122"/>
                <a:cs typeface="JetBrains Mono" pitchFamily="34" charset="-120"/>
              </a:rPr>
              <a:t>READS AS</a:t>
            </a:r>
            <a:endParaRPr lang="en-US" sz="600" dirty="0"/>
          </a:p>
        </p:txBody>
      </p:sp>
      <p:sp>
        <p:nvSpPr>
          <p:cNvPr id="23" name="Text 21"/>
          <p:cNvSpPr txBox="1"/>
          <p:nvPr/>
        </p:nvSpPr>
        <p:spPr>
          <a:xfrm>
            <a:off x="1700784" y="3977640"/>
            <a:ext cx="3218688" cy="457200"/>
          </a:xfrm>
          <a:prstGeom prst="rect">
            <a:avLst/>
          </a:prstGeom>
          <a:noFill/>
          <a:ln/>
        </p:spPr>
        <p:txBody>
          <a:bodyPr wrap="square" lIns="0" tIns="0" rIns="0" bIns="0" rtlCol="0" anchor="t"/>
          <a:lstStyle/>
          <a:p>
            <a:pPr indent="0" marL="0">
              <a:lnSpc>
                <a:spcPct val="102000"/>
              </a:lnSpc>
              <a:buNone/>
            </a:pPr>
            <a:r>
              <a:rPr lang="en-US" sz="950" dirty="0">
                <a:solidFill>
                  <a:srgbClr val="B8512A"/>
                </a:solidFill>
                <a:latin typeface="Newsreader" pitchFamily="34" charset="0"/>
                <a:ea typeface="Newsreader" pitchFamily="34" charset="-122"/>
                <a:cs typeface="Newsreader" pitchFamily="34" charset="-120"/>
              </a:rPr>
              <a:t>Binding dead · titer normal · ≤5%</a:t>
            </a:r>
            <a:endParaRPr lang="en-US" sz="950" dirty="0"/>
          </a:p>
        </p:txBody>
      </p:sp>
      <p:sp>
        <p:nvSpPr>
          <p:cNvPr id="24" name="Text 22"/>
          <p:cNvSpPr txBox="1"/>
          <p:nvPr/>
        </p:nvSpPr>
        <p:spPr>
          <a:xfrm>
            <a:off x="5084064" y="3977640"/>
            <a:ext cx="3127248" cy="457200"/>
          </a:xfrm>
          <a:prstGeom prst="rect">
            <a:avLst/>
          </a:prstGeom>
          <a:noFill/>
          <a:ln/>
        </p:spPr>
        <p:txBody>
          <a:bodyPr wrap="square" lIns="0" tIns="0" rIns="0" bIns="0" rtlCol="0" anchor="t"/>
          <a:lstStyle/>
          <a:p>
            <a:pPr indent="0" marL="0">
              <a:lnSpc>
                <a:spcPct val="102000"/>
              </a:lnSpc>
              <a:buNone/>
            </a:pPr>
            <a:r>
              <a:rPr lang="en-US" sz="950" dirty="0">
                <a:solidFill>
                  <a:srgbClr val="5A564D"/>
                </a:solidFill>
                <a:latin typeface="Newsreader" pitchFamily="34" charset="0"/>
                <a:ea typeface="Newsreader" pitchFamily="34" charset="-122"/>
                <a:cs typeface="Newsreader" pitchFamily="34" charset="-120"/>
              </a:rPr>
              <a:t>Titer falls in step; binding unchanged</a:t>
            </a:r>
            <a:endParaRPr lang="en-US" sz="950" dirty="0"/>
          </a:p>
        </p:txBody>
      </p:sp>
      <p:sp>
        <p:nvSpPr>
          <p:cNvPr id="25" name="Text 23"/>
          <p:cNvSpPr txBox="1"/>
          <p:nvPr/>
        </p:nvSpPr>
        <p:spPr>
          <a:xfrm>
            <a:off x="8375904" y="3977640"/>
            <a:ext cx="3081528" cy="457200"/>
          </a:xfrm>
          <a:prstGeom prst="rect">
            <a:avLst/>
          </a:prstGeom>
          <a:noFill/>
          <a:ln/>
        </p:spPr>
        <p:txBody>
          <a:bodyPr wrap="square" lIns="0" tIns="0" rIns="0" bIns="0" rtlCol="0" anchor="t"/>
          <a:lstStyle/>
          <a:p>
            <a:pPr indent="0" marL="0">
              <a:lnSpc>
                <a:spcPct val="102000"/>
              </a:lnSpc>
              <a:buNone/>
            </a:pPr>
            <a:r>
              <a:rPr lang="en-US" sz="950" dirty="0">
                <a:solidFill>
                  <a:srgbClr val="5A564D"/>
                </a:solidFill>
                <a:latin typeface="Newsreader" pitchFamily="34" charset="0"/>
                <a:ea typeface="Newsreader" pitchFamily="34" charset="-122"/>
                <a:cs typeface="Newsreader" pitchFamily="34" charset="-120"/>
              </a:rPr>
              <a:t>Docking specifically dead; titer normal</a:t>
            </a:r>
            <a:endParaRPr lang="en-US" sz="950" dirty="0"/>
          </a:p>
        </p:txBody>
      </p:sp>
      <p:sp>
        <p:nvSpPr>
          <p:cNvPr id="26" name="Shape 24"/>
          <p:cNvSpPr/>
          <p:nvPr/>
        </p:nvSpPr>
        <p:spPr>
          <a:xfrm>
            <a:off x="512064" y="4379976"/>
            <a:ext cx="11167567" cy="0"/>
          </a:xfrm>
          <a:prstGeom prst="line">
            <a:avLst/>
          </a:prstGeom>
          <a:noFill/>
          <a:ln w="9525">
            <a:solidFill>
              <a:srgbClr val="D9D4BE"/>
            </a:solidFill>
            <a:prstDash val="solid"/>
          </a:ln>
        </p:spPr>
      </p:sp>
      <p:sp>
        <p:nvSpPr>
          <p:cNvPr id="27" name="Text 25"/>
          <p:cNvSpPr txBox="1"/>
          <p:nvPr/>
        </p:nvSpPr>
        <p:spPr>
          <a:xfrm>
            <a:off x="512064" y="4480560"/>
            <a:ext cx="10607040" cy="731520"/>
          </a:xfrm>
          <a:prstGeom prst="rect">
            <a:avLst/>
          </a:prstGeom>
          <a:noFill/>
          <a:ln/>
        </p:spPr>
        <p:txBody>
          <a:bodyPr wrap="square" lIns="0" tIns="0" rIns="0" bIns="0" rtlCol="0" anchor="t"/>
          <a:lstStyle/>
          <a:p>
            <a:pPr algn="l" indent="0" marL="0">
              <a:lnSpc>
                <a:spcPct val="110000"/>
              </a:lnSpc>
              <a:buNone/>
            </a:pPr>
            <a:r>
              <a:rPr lang="en-US" sz="1050" i="1" dirty="0">
                <a:solidFill>
                  <a:srgbClr val="1A1812"/>
                </a:solidFill>
                <a:latin typeface="Newsreader" pitchFamily="34" charset="0"/>
                <a:ea typeface="Newsreader" pitchFamily="34" charset="-122"/>
                <a:cs typeface="Newsreader" pitchFamily="34" charset="-120"/>
              </a:rPr>
              <a:t>Lead goes to A:  </a:t>
            </a:r>
            <a:pPr algn="l" indent="0" marL="0">
              <a:lnSpc>
                <a:spcPct val="110000"/>
              </a:lnSpc>
              <a:buNone/>
            </a:pPr>
            <a:r>
              <a:rPr lang="en-US" sz="1050" dirty="0">
                <a:solidFill>
                  <a:srgbClr val="5A564D"/>
                </a:solidFill>
                <a:latin typeface="Newsreader" pitchFamily="34" charset="0"/>
                <a:ea typeface="Newsreader" pitchFamily="34" charset="-122"/>
                <a:cs typeface="Newsreader" pitchFamily="34" charset="-120"/>
              </a:rPr>
              <a:t>largest verified effect, published protocol, pre-registered pass line. B is the cheap parallel bet; C inherits A's map. Residue 174 — the 'switch' an abstract once named — fails on sufficiency (T30 carries R174 at 1.57%; Harper's K174-retaining hybrids still transmit 17.9–20.6%). It appears only in the log.</a:t>
            </a:r>
            <a:endParaRPr lang="en-US" sz="1050" dirty="0"/>
          </a:p>
        </p:txBody>
      </p:sp>
      <p:sp>
        <p:nvSpPr>
          <p:cNvPr id="28" name="Shape 26"/>
          <p:cNvSpPr/>
          <p:nvPr/>
        </p:nvSpPr>
        <p:spPr>
          <a:xfrm>
            <a:off x="512064" y="6053328"/>
            <a:ext cx="11167567" cy="0"/>
          </a:xfrm>
          <a:prstGeom prst="line">
            <a:avLst/>
          </a:prstGeom>
          <a:noFill/>
          <a:ln w="9525">
            <a:solidFill>
              <a:srgbClr val="C9C3B3"/>
            </a:solidFill>
            <a:prstDash val="solid"/>
          </a:ln>
        </p:spPr>
      </p:sp>
      <p:sp>
        <p:nvSpPr>
          <p:cNvPr id="29" name="Text 27"/>
          <p:cNvSpPr txBox="1"/>
          <p:nvPr/>
        </p:nvSpPr>
        <p:spPr>
          <a:xfrm>
            <a:off x="512064" y="6144768"/>
            <a:ext cx="11167567" cy="182880"/>
          </a:xfrm>
          <a:prstGeom prst="rect">
            <a:avLst/>
          </a:prstGeom>
          <a:noFill/>
          <a:ln/>
        </p:spPr>
        <p:txBody>
          <a:bodyPr wrap="square" lIns="0" tIns="0" rIns="0" bIns="0" rtlCol="0" anchor="ctr"/>
          <a:lstStyle/>
          <a:p>
            <a:pPr algn="l" indent="0" marL="0">
              <a:buNone/>
            </a:pPr>
            <a:r>
              <a:rPr lang="en-US" sz="750" spc="180" kern="0" dirty="0">
                <a:solidFill>
                  <a:srgbClr val="B8512A"/>
                </a:solidFill>
                <a:latin typeface="JetBrains Mono" pitchFamily="34" charset="0"/>
                <a:ea typeface="JetBrains Mono" pitchFamily="34" charset="-122"/>
                <a:cs typeface="JetBrains Mono" pitchFamily="34" charset="-120"/>
              </a:rPr>
              <a:t>WHICHEVER COLUMN MOVES, SILVEC LEARNS WHICH MACHINE IT IS EDITING</a:t>
            </a:r>
            <a:endParaRPr lang="en-US" sz="750" dirty="0"/>
          </a:p>
        </p:txBody>
      </p:sp>
      <p:sp>
        <p:nvSpPr>
          <p:cNvPr id="30" name="Text 28"/>
          <p:cNvSpPr txBox="1"/>
          <p:nvPr/>
        </p:nvSpPr>
        <p:spPr>
          <a:xfrm>
            <a:off x="512064" y="6336792"/>
            <a:ext cx="7680960" cy="182880"/>
          </a:xfrm>
          <a:prstGeom prst="rect">
            <a:avLst/>
          </a:prstGeom>
          <a:noFill/>
          <a:ln/>
        </p:spPr>
        <p:txBody>
          <a:bodyPr wrap="square" lIns="0" tIns="0" rIns="0" bIns="0" rtlCol="0" anchor="ctr"/>
          <a:lstStyle/>
          <a:p>
            <a:pPr indent="0" marL="0">
              <a:buNone/>
            </a:pPr>
            <a:r>
              <a:rPr lang="en-US" sz="650" spc="160" kern="0" dirty="0">
                <a:solidFill>
                  <a:srgbClr val="7A766A"/>
                </a:solidFill>
                <a:latin typeface="JetBrains Mono" pitchFamily="34" charset="0"/>
                <a:ea typeface="JetBrains Mono" pitchFamily="34" charset="-122"/>
                <a:cs typeface="JetBrains Mono" pitchFamily="34" charset="-120"/>
              </a:rPr>
              <a:t>04 / 08</a:t>
            </a:r>
            <a:endParaRPr lang="en-US" sz="650" dirty="0"/>
          </a:p>
        </p:txBody>
      </p:sp>
      <p:sp>
        <p:nvSpPr>
          <p:cNvPr id="31" name="Text 29"/>
          <p:cNvSpPr txBox="1"/>
          <p:nvPr/>
        </p:nvSpPr>
        <p:spPr>
          <a:xfrm>
            <a:off x="6199632" y="6336792"/>
            <a:ext cx="5486400" cy="182880"/>
          </a:xfrm>
          <a:prstGeom prst="rect">
            <a:avLst/>
          </a:prstGeom>
          <a:noFill/>
          <a:ln/>
        </p:spPr>
        <p:txBody>
          <a:bodyPr wrap="square" lIns="0" tIns="0" rIns="0" bIns="0" rtlCol="0" anchor="ctr"/>
          <a:lstStyle/>
          <a:p>
            <a:pPr algn="r" indent="0" marL="0">
              <a:buNone/>
            </a:pPr>
            <a:r>
              <a:rPr lang="en-US" sz="650" spc="160" kern="0" dirty="0">
                <a:solidFill>
                  <a:srgbClr val="7A766A"/>
                </a:solidFill>
                <a:latin typeface="JetBrains Mono" pitchFamily="34" charset="0"/>
                <a:ea typeface="JetBrains Mono" pitchFamily="34" charset="-122"/>
                <a:cs typeface="JetBrains Mono" pitchFamily="34" charset="-120"/>
              </a:rPr>
              <a:t>SILVEC BIOLOGICS · CONFIDENTIAL</a:t>
            </a:r>
            <a:endParaRPr lang="en-US" sz="6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FE8D6"/>
        </a:solidFill>
      </p:bgPr>
    </p:bg>
    <p:spTree>
      <p:nvGrpSpPr>
        <p:cNvPr id="1" name=""/>
        <p:cNvGrpSpPr/>
        <p:nvPr/>
      </p:nvGrpSpPr>
      <p:grpSpPr>
        <a:xfrm>
          <a:off x="0" y="0"/>
          <a:ext cx="0" cy="0"/>
          <a:chOff x="0" y="0"/>
          <a:chExt cx="0" cy="0"/>
        </a:xfrm>
      </p:grpSpPr>
      <p:sp>
        <p:nvSpPr>
          <p:cNvPr id="2" name="Text 0"/>
          <p:cNvSpPr txBox="1"/>
          <p:nvPr/>
        </p:nvSpPr>
        <p:spPr>
          <a:xfrm>
            <a:off x="512064" y="356616"/>
            <a:ext cx="4572000" cy="182880"/>
          </a:xfrm>
          <a:prstGeom prst="rect">
            <a:avLst/>
          </a:prstGeom>
          <a:noFill/>
          <a:ln/>
        </p:spPr>
        <p:txBody>
          <a:bodyPr wrap="square" lIns="0" tIns="0" rIns="0" bIns="0" rtlCol="0" anchor="ctr"/>
          <a:lstStyle/>
          <a:p>
            <a:pPr indent="0" marL="0">
              <a:buNone/>
            </a:pPr>
            <a:r>
              <a:rPr lang="en-US" sz="650" spc="200" kern="0" dirty="0">
                <a:solidFill>
                  <a:srgbClr val="7A766A"/>
                </a:solidFill>
                <a:latin typeface="JetBrains Mono" pitchFamily="34" charset="0"/>
                <a:ea typeface="JetBrains Mono" pitchFamily="34" charset="-122"/>
                <a:cs typeface="JetBrains Mono" pitchFamily="34" charset="-120"/>
              </a:rPr>
              <a:t>SILVEC · BIOLOGICS</a:t>
            </a:r>
            <a:endParaRPr lang="en-US" sz="650" dirty="0"/>
          </a:p>
        </p:txBody>
      </p:sp>
      <p:sp>
        <p:nvSpPr>
          <p:cNvPr id="3" name="Text 1"/>
          <p:cNvSpPr txBox="1"/>
          <p:nvPr/>
        </p:nvSpPr>
        <p:spPr>
          <a:xfrm>
            <a:off x="7114032" y="356616"/>
            <a:ext cx="4572000" cy="182880"/>
          </a:xfrm>
          <a:prstGeom prst="rect">
            <a:avLst/>
          </a:prstGeom>
          <a:noFill/>
          <a:ln/>
        </p:spPr>
        <p:txBody>
          <a:bodyPr wrap="square" lIns="0" tIns="0" rIns="0" bIns="0" rtlCol="0" anchor="ctr"/>
          <a:lstStyle/>
          <a:p>
            <a:pPr algn="r" indent="0" marL="0">
              <a:buNone/>
            </a:pPr>
            <a:r>
              <a:rPr lang="en-US" sz="650" spc="200" kern="0" dirty="0">
                <a:solidFill>
                  <a:srgbClr val="7A766A"/>
                </a:solidFill>
                <a:latin typeface="JetBrains Mono" pitchFamily="34" charset="0"/>
                <a:ea typeface="JetBrains Mono" pitchFamily="34" charset="-122"/>
                <a:cs typeface="JetBrains Mono" pitchFamily="34" charset="-120"/>
              </a:rPr>
              <a:t>05 / 08</a:t>
            </a:r>
            <a:endParaRPr lang="en-US" sz="650" dirty="0"/>
          </a:p>
        </p:txBody>
      </p:sp>
      <p:sp>
        <p:nvSpPr>
          <p:cNvPr id="4" name="Text 2"/>
          <p:cNvSpPr txBox="1"/>
          <p:nvPr/>
        </p:nvSpPr>
        <p:spPr>
          <a:xfrm>
            <a:off x="512064" y="1143000"/>
            <a:ext cx="9601200" cy="201168"/>
          </a:xfrm>
          <a:prstGeom prst="rect">
            <a:avLst/>
          </a:prstGeom>
          <a:noFill/>
          <a:ln/>
        </p:spPr>
        <p:txBody>
          <a:bodyPr wrap="square" lIns="0" tIns="0" rIns="0" bIns="0" rtlCol="0" anchor="ctr"/>
          <a:lstStyle/>
          <a:p>
            <a:pPr indent="0" marL="0">
              <a:buNone/>
            </a:pPr>
            <a:r>
              <a:rPr lang="en-US" sz="700" spc="240" kern="0" dirty="0">
                <a:solidFill>
                  <a:srgbClr val="B8512A"/>
                </a:solidFill>
                <a:latin typeface="JetBrains Mono" pitchFamily="34" charset="0"/>
                <a:ea typeface="JetBrains Mono" pitchFamily="34" charset="-122"/>
                <a:cs typeface="JetBrains Mono" pitchFamily="34" charset="-120"/>
              </a:rPr>
              <a:t>HOW / IT WAS FOUND</a:t>
            </a:r>
            <a:endParaRPr lang="en-US" sz="700" dirty="0"/>
          </a:p>
        </p:txBody>
      </p:sp>
      <p:sp>
        <p:nvSpPr>
          <p:cNvPr id="5" name="Text 3"/>
          <p:cNvSpPr txBox="1"/>
          <p:nvPr/>
        </p:nvSpPr>
        <p:spPr>
          <a:xfrm>
            <a:off x="512064" y="1453896"/>
            <a:ext cx="10625328" cy="566928"/>
          </a:xfrm>
          <a:prstGeom prst="rect">
            <a:avLst/>
          </a:prstGeom>
          <a:noFill/>
          <a:ln/>
        </p:spPr>
        <p:txBody>
          <a:bodyPr wrap="square" lIns="0" tIns="0" rIns="0" bIns="0" rtlCol="0" anchor="t"/>
          <a:lstStyle/>
          <a:p>
            <a:pPr indent="0" marL="0">
              <a:buNone/>
            </a:pPr>
            <a:r>
              <a:rPr lang="en-US" sz="2700" dirty="0">
                <a:solidFill>
                  <a:srgbClr val="1A1812"/>
                </a:solidFill>
                <a:latin typeface="Newsreader" pitchFamily="34" charset="0"/>
                <a:ea typeface="Newsreader" pitchFamily="34" charset="-122"/>
                <a:cs typeface="Newsreader" pitchFamily="34" charset="-120"/>
              </a:rPr>
              <a:t>The method is the second result.</a:t>
            </a:r>
            <a:endParaRPr lang="en-US" sz="2700" dirty="0"/>
          </a:p>
        </p:txBody>
      </p:sp>
      <p:sp>
        <p:nvSpPr>
          <p:cNvPr id="6" name="Text 4"/>
          <p:cNvSpPr txBox="1"/>
          <p:nvPr/>
        </p:nvSpPr>
        <p:spPr>
          <a:xfrm>
            <a:off x="512064" y="2075688"/>
            <a:ext cx="10058400" cy="530352"/>
          </a:xfrm>
          <a:prstGeom prst="rect">
            <a:avLst/>
          </a:prstGeom>
          <a:noFill/>
          <a:ln/>
        </p:spPr>
        <p:txBody>
          <a:bodyPr wrap="square" lIns="0" tIns="0" rIns="0" bIns="0" rtlCol="0" anchor="t"/>
          <a:lstStyle/>
          <a:p>
            <a:pPr indent="0" marL="0">
              <a:buNone/>
            </a:pPr>
            <a:r>
              <a:rPr lang="en-US" sz="1200" dirty="0">
                <a:solidFill>
                  <a:srgbClr val="5A564D"/>
                </a:solidFill>
                <a:latin typeface="Newsreader" pitchFamily="34" charset="0"/>
                <a:ea typeface="Newsreader" pitchFamily="34" charset="-122"/>
                <a:cs typeface="Newsreader" pitchFamily="34" charset="-120"/>
              </a:rPr>
              <a:t>What the project actually demonstrated about AI in Silvec's research: speed came from structure, not from any single model.</a:t>
            </a:r>
            <a:endParaRPr lang="en-US" sz="1200" dirty="0"/>
          </a:p>
        </p:txBody>
      </p:sp>
      <p:sp>
        <p:nvSpPr>
          <p:cNvPr id="7" name="Text 5"/>
          <p:cNvSpPr txBox="1"/>
          <p:nvPr/>
        </p:nvSpPr>
        <p:spPr>
          <a:xfrm>
            <a:off x="512064" y="2697480"/>
            <a:ext cx="3419856" cy="548640"/>
          </a:xfrm>
          <a:prstGeom prst="rect">
            <a:avLst/>
          </a:prstGeom>
          <a:noFill/>
          <a:ln/>
        </p:spPr>
        <p:txBody>
          <a:bodyPr wrap="square" lIns="0" tIns="0" rIns="0" bIns="0" rtlCol="0" anchor="t"/>
          <a:lstStyle/>
          <a:p>
            <a:pPr indent="0" marL="0">
              <a:buNone/>
            </a:pPr>
            <a:r>
              <a:rPr lang="en-US" sz="3800" dirty="0">
                <a:solidFill>
                  <a:srgbClr val="1A1812"/>
                </a:solidFill>
                <a:latin typeface="Newsreader" pitchFamily="34" charset="0"/>
                <a:ea typeface="Newsreader" pitchFamily="34" charset="-122"/>
                <a:cs typeface="Newsreader" pitchFamily="34" charset="-120"/>
              </a:rPr>
              <a:t>5</a:t>
            </a:r>
            <a:endParaRPr lang="en-US" sz="3800" dirty="0"/>
          </a:p>
        </p:txBody>
      </p:sp>
      <p:sp>
        <p:nvSpPr>
          <p:cNvPr id="8" name="Text 6"/>
          <p:cNvSpPr txBox="1"/>
          <p:nvPr/>
        </p:nvSpPr>
        <p:spPr>
          <a:xfrm>
            <a:off x="512064" y="3291840"/>
            <a:ext cx="3419856" cy="182880"/>
          </a:xfrm>
          <a:prstGeom prst="rect">
            <a:avLst/>
          </a:prstGeom>
          <a:noFill/>
          <a:ln/>
        </p:spPr>
        <p:txBody>
          <a:bodyPr wrap="square" lIns="0" tIns="0" rIns="0" bIns="0" rtlCol="0" anchor="ctr"/>
          <a:lstStyle/>
          <a:p>
            <a:pPr indent="0" marL="0">
              <a:buNone/>
            </a:pPr>
            <a:r>
              <a:rPr lang="en-US" sz="700" spc="160" kern="0" dirty="0">
                <a:solidFill>
                  <a:srgbClr val="B8512A"/>
                </a:solidFill>
                <a:latin typeface="JetBrains Mono" pitchFamily="34" charset="0"/>
                <a:ea typeface="JetBrains Mono" pitchFamily="34" charset="-122"/>
                <a:cs typeface="JetBrains Mono" pitchFamily="34" charset="-120"/>
              </a:rPr>
              <a:t>WRONG ANSWERS KILLED BEFORE THE BENCH</a:t>
            </a:r>
            <a:endParaRPr lang="en-US" sz="700" dirty="0"/>
          </a:p>
        </p:txBody>
      </p:sp>
      <p:sp>
        <p:nvSpPr>
          <p:cNvPr id="9" name="Text 7"/>
          <p:cNvSpPr txBox="1"/>
          <p:nvPr/>
        </p:nvSpPr>
        <p:spPr>
          <a:xfrm>
            <a:off x="512064" y="3511296"/>
            <a:ext cx="3255264" cy="731520"/>
          </a:xfrm>
          <a:prstGeom prst="rect">
            <a:avLst/>
          </a:prstGeom>
          <a:noFill/>
          <a:ln/>
        </p:spPr>
        <p:txBody>
          <a:bodyPr wrap="square" lIns="0" tIns="0" rIns="0" bIns="0" rtlCol="0" anchor="t"/>
          <a:lstStyle/>
          <a:p>
            <a:pPr algn="l" indent="0" marL="0">
              <a:lnSpc>
                <a:spcPct val="104000"/>
              </a:lnSpc>
              <a:buNone/>
            </a:pPr>
            <a:r>
              <a:rPr lang="en-US" sz="950" dirty="0">
                <a:solidFill>
                  <a:srgbClr val="5A564D"/>
                </a:solidFill>
                <a:latin typeface="Newsreader" pitchFamily="34" charset="0"/>
                <a:ea typeface="Newsreader" pitchFamily="34" charset="-122"/>
                <a:cs typeface="Newsreader" pitchFamily="34" charset="-120"/>
              </a:rPr>
              <a:t>CPm, the residue-174 switch, the charged subset, single-gene sufficiency, the titer story</a:t>
            </a:r>
            <a:endParaRPr lang="en-US" sz="950" dirty="0"/>
          </a:p>
        </p:txBody>
      </p:sp>
      <p:sp>
        <p:nvSpPr>
          <p:cNvPr id="10" name="Text 8"/>
          <p:cNvSpPr txBox="1"/>
          <p:nvPr/>
        </p:nvSpPr>
        <p:spPr>
          <a:xfrm>
            <a:off x="4389120" y="2697480"/>
            <a:ext cx="3419856" cy="548640"/>
          </a:xfrm>
          <a:prstGeom prst="rect">
            <a:avLst/>
          </a:prstGeom>
          <a:noFill/>
          <a:ln/>
        </p:spPr>
        <p:txBody>
          <a:bodyPr wrap="square" lIns="0" tIns="0" rIns="0" bIns="0" rtlCol="0" anchor="t"/>
          <a:lstStyle/>
          <a:p>
            <a:pPr indent="0" marL="0">
              <a:buNone/>
            </a:pPr>
            <a:r>
              <a:rPr lang="en-US" sz="3800" dirty="0">
                <a:solidFill>
                  <a:srgbClr val="1A1812"/>
                </a:solidFill>
                <a:latin typeface="Newsreader" pitchFamily="34" charset="0"/>
                <a:ea typeface="Newsreader" pitchFamily="34" charset="-122"/>
                <a:cs typeface="Newsreader" pitchFamily="34" charset="-120"/>
              </a:rPr>
              <a:t>12</a:t>
            </a:r>
            <a:endParaRPr lang="en-US" sz="3800" dirty="0"/>
          </a:p>
        </p:txBody>
      </p:sp>
      <p:sp>
        <p:nvSpPr>
          <p:cNvPr id="11" name="Text 9"/>
          <p:cNvSpPr txBox="1"/>
          <p:nvPr/>
        </p:nvSpPr>
        <p:spPr>
          <a:xfrm>
            <a:off x="4389120" y="3291840"/>
            <a:ext cx="3419856" cy="182880"/>
          </a:xfrm>
          <a:prstGeom prst="rect">
            <a:avLst/>
          </a:prstGeom>
          <a:noFill/>
          <a:ln/>
        </p:spPr>
        <p:txBody>
          <a:bodyPr wrap="square" lIns="0" tIns="0" rIns="0" bIns="0" rtlCol="0" anchor="ctr"/>
          <a:lstStyle/>
          <a:p>
            <a:pPr indent="0" marL="0">
              <a:buNone/>
            </a:pPr>
            <a:r>
              <a:rPr lang="en-US" sz="700" spc="160" kern="0" dirty="0">
                <a:solidFill>
                  <a:srgbClr val="B8512A"/>
                </a:solidFill>
                <a:latin typeface="JetBrains Mono" pitchFamily="34" charset="0"/>
                <a:ea typeface="JetBrains Mono" pitchFamily="34" charset="-122"/>
                <a:cs typeface="JetBrains Mono" pitchFamily="34" charset="-120"/>
              </a:rPr>
              <a:t>ADVERSARIAL REVIEWS · 6 MODELS × 2 ROUNDS</a:t>
            </a:r>
            <a:endParaRPr lang="en-US" sz="700" dirty="0"/>
          </a:p>
        </p:txBody>
      </p:sp>
      <p:sp>
        <p:nvSpPr>
          <p:cNvPr id="12" name="Text 10"/>
          <p:cNvSpPr txBox="1"/>
          <p:nvPr/>
        </p:nvSpPr>
        <p:spPr>
          <a:xfrm>
            <a:off x="4389120" y="3511296"/>
            <a:ext cx="3255264" cy="731520"/>
          </a:xfrm>
          <a:prstGeom prst="rect">
            <a:avLst/>
          </a:prstGeom>
          <a:noFill/>
          <a:ln/>
        </p:spPr>
        <p:txBody>
          <a:bodyPr wrap="square" lIns="0" tIns="0" rIns="0" bIns="0" rtlCol="0" anchor="t"/>
          <a:lstStyle/>
          <a:p>
            <a:pPr algn="l" indent="0" marL="0">
              <a:lnSpc>
                <a:spcPct val="104000"/>
              </a:lnSpc>
              <a:buNone/>
            </a:pPr>
            <a:r>
              <a:rPr lang="en-US" sz="950" dirty="0">
                <a:solidFill>
                  <a:srgbClr val="5A564D"/>
                </a:solidFill>
                <a:latin typeface="Newsreader" pitchFamily="34" charset="0"/>
                <a:ea typeface="Newsreader" pitchFamily="34" charset="-122"/>
                <a:cs typeface="Newsreader" pitchFamily="34" charset="-120"/>
              </a:rPr>
              <a:t>Consensus recomputed, not voted; the panel even corrected itself once sources landed</a:t>
            </a:r>
            <a:endParaRPr lang="en-US" sz="950" dirty="0"/>
          </a:p>
        </p:txBody>
      </p:sp>
      <p:sp>
        <p:nvSpPr>
          <p:cNvPr id="13" name="Text 11"/>
          <p:cNvSpPr txBox="1"/>
          <p:nvPr/>
        </p:nvSpPr>
        <p:spPr>
          <a:xfrm>
            <a:off x="8266176" y="2697480"/>
            <a:ext cx="3419856" cy="548640"/>
          </a:xfrm>
          <a:prstGeom prst="rect">
            <a:avLst/>
          </a:prstGeom>
          <a:noFill/>
          <a:ln/>
        </p:spPr>
        <p:txBody>
          <a:bodyPr wrap="square" lIns="0" tIns="0" rIns="0" bIns="0" rtlCol="0" anchor="t"/>
          <a:lstStyle/>
          <a:p>
            <a:pPr indent="0" marL="0">
              <a:buNone/>
            </a:pPr>
            <a:r>
              <a:rPr lang="en-US" sz="3800" dirty="0">
                <a:solidFill>
                  <a:srgbClr val="1A1812"/>
                </a:solidFill>
                <a:latin typeface="Newsreader" pitchFamily="34" charset="0"/>
                <a:ea typeface="Newsreader" pitchFamily="34" charset="-122"/>
                <a:cs typeface="Newsreader" pitchFamily="34" charset="-120"/>
              </a:rPr>
              <a:t>130</a:t>
            </a:r>
            <a:endParaRPr lang="en-US" sz="3800" dirty="0"/>
          </a:p>
        </p:txBody>
      </p:sp>
      <p:sp>
        <p:nvSpPr>
          <p:cNvPr id="14" name="Text 12"/>
          <p:cNvSpPr txBox="1"/>
          <p:nvPr/>
        </p:nvSpPr>
        <p:spPr>
          <a:xfrm>
            <a:off x="8266176" y="3291840"/>
            <a:ext cx="3419856" cy="182880"/>
          </a:xfrm>
          <a:prstGeom prst="rect">
            <a:avLst/>
          </a:prstGeom>
          <a:noFill/>
          <a:ln/>
        </p:spPr>
        <p:txBody>
          <a:bodyPr wrap="square" lIns="0" tIns="0" rIns="0" bIns="0" rtlCol="0" anchor="ctr"/>
          <a:lstStyle/>
          <a:p>
            <a:pPr indent="0" marL="0">
              <a:buNone/>
            </a:pPr>
            <a:r>
              <a:rPr lang="en-US" sz="700" spc="160" kern="0" dirty="0">
                <a:solidFill>
                  <a:srgbClr val="B8512A"/>
                </a:solidFill>
                <a:latin typeface="JetBrains Mono" pitchFamily="34" charset="0"/>
                <a:ea typeface="JetBrains Mono" pitchFamily="34" charset="-122"/>
                <a:cs typeface="JetBrains Mono" pitchFamily="34" charset="-120"/>
              </a:rPr>
              <a:t>GENOMES CENSUS-ALIGNED</a:t>
            </a:r>
            <a:endParaRPr lang="en-US" sz="700" dirty="0"/>
          </a:p>
        </p:txBody>
      </p:sp>
      <p:sp>
        <p:nvSpPr>
          <p:cNvPr id="15" name="Text 13"/>
          <p:cNvSpPr txBox="1"/>
          <p:nvPr/>
        </p:nvSpPr>
        <p:spPr>
          <a:xfrm>
            <a:off x="8266176" y="3511296"/>
            <a:ext cx="3255264" cy="731520"/>
          </a:xfrm>
          <a:prstGeom prst="rect">
            <a:avLst/>
          </a:prstGeom>
          <a:noFill/>
          <a:ln/>
        </p:spPr>
        <p:txBody>
          <a:bodyPr wrap="square" lIns="0" tIns="0" rIns="0" bIns="0" rtlCol="0" anchor="t"/>
          <a:lstStyle/>
          <a:p>
            <a:pPr algn="l" indent="0" marL="0">
              <a:lnSpc>
                <a:spcPct val="104000"/>
              </a:lnSpc>
              <a:buNone/>
            </a:pPr>
            <a:r>
              <a:rPr lang="en-US" sz="950" dirty="0">
                <a:solidFill>
                  <a:srgbClr val="5A564D"/>
                </a:solidFill>
                <a:latin typeface="Newsreader" pitchFamily="34" charset="0"/>
                <a:ea typeface="Newsreader" pitchFamily="34" charset="-122"/>
                <a:cs typeface="Newsreader" pitchFamily="34" charset="-120"/>
              </a:rPr>
              <a:t>Every residue claim re-derived from accessions, never transcribed from prose</a:t>
            </a:r>
            <a:endParaRPr lang="en-US" sz="950" dirty="0"/>
          </a:p>
        </p:txBody>
      </p:sp>
      <p:sp>
        <p:nvSpPr>
          <p:cNvPr id="16" name="Shape 14"/>
          <p:cNvSpPr/>
          <p:nvPr/>
        </p:nvSpPr>
        <p:spPr>
          <a:xfrm>
            <a:off x="4169664" y="2624328"/>
            <a:ext cx="0" cy="1737360"/>
          </a:xfrm>
          <a:prstGeom prst="line">
            <a:avLst/>
          </a:prstGeom>
          <a:noFill/>
          <a:ln w="9525">
            <a:solidFill>
              <a:srgbClr val="C9C3B3"/>
            </a:solidFill>
            <a:prstDash val="solid"/>
          </a:ln>
        </p:spPr>
      </p:sp>
      <p:sp>
        <p:nvSpPr>
          <p:cNvPr id="17" name="Shape 15"/>
          <p:cNvSpPr/>
          <p:nvPr/>
        </p:nvSpPr>
        <p:spPr>
          <a:xfrm>
            <a:off x="8046720" y="2624328"/>
            <a:ext cx="0" cy="1737360"/>
          </a:xfrm>
          <a:prstGeom prst="line">
            <a:avLst/>
          </a:prstGeom>
          <a:noFill/>
          <a:ln w="9525">
            <a:solidFill>
              <a:srgbClr val="C9C3B3"/>
            </a:solidFill>
            <a:prstDash val="solid"/>
          </a:ln>
        </p:spPr>
      </p:sp>
      <p:sp>
        <p:nvSpPr>
          <p:cNvPr id="18" name="Shape 16"/>
          <p:cNvSpPr/>
          <p:nvPr/>
        </p:nvSpPr>
        <p:spPr>
          <a:xfrm>
            <a:off x="512064" y="4800600"/>
            <a:ext cx="11167567" cy="0"/>
          </a:xfrm>
          <a:prstGeom prst="line">
            <a:avLst/>
          </a:prstGeom>
          <a:noFill/>
          <a:ln w="9525">
            <a:solidFill>
              <a:srgbClr val="C9C3B3"/>
            </a:solidFill>
            <a:prstDash val="solid"/>
          </a:ln>
        </p:spPr>
      </p:sp>
      <p:sp>
        <p:nvSpPr>
          <p:cNvPr id="19" name="Text 17"/>
          <p:cNvSpPr txBox="1"/>
          <p:nvPr/>
        </p:nvSpPr>
        <p:spPr>
          <a:xfrm>
            <a:off x="512064" y="5029200"/>
            <a:ext cx="10607040" cy="868680"/>
          </a:xfrm>
          <a:prstGeom prst="rect">
            <a:avLst/>
          </a:prstGeom>
          <a:noFill/>
          <a:ln/>
        </p:spPr>
        <p:txBody>
          <a:bodyPr wrap="square" lIns="0" tIns="0" rIns="0" bIns="0" rtlCol="0" anchor="t"/>
          <a:lstStyle/>
          <a:p>
            <a:pPr algn="l" indent="0" marL="0">
              <a:lnSpc>
                <a:spcPct val="112000"/>
              </a:lnSpc>
              <a:buNone/>
            </a:pPr>
            <a:r>
              <a:rPr lang="en-US" sz="1050" i="1" dirty="0">
                <a:solidFill>
                  <a:srgbClr val="1A1812"/>
                </a:solidFill>
                <a:latin typeface="Newsreader" pitchFamily="34" charset="0"/>
                <a:ea typeface="Newsreader" pitchFamily="34" charset="-122"/>
                <a:cs typeface="Newsreader" pitchFamily="34" charset="-120"/>
              </a:rPr>
              <a:t>The platform lesson, briefly:  </a:t>
            </a:r>
            <a:pPr algn="l" indent="0" marL="0">
              <a:lnSpc>
                <a:spcPct val="112000"/>
              </a:lnSpc>
              <a:buNone/>
            </a:pPr>
            <a:r>
              <a:rPr lang="en-US" sz="1050" dirty="0">
                <a:solidFill>
                  <a:srgbClr val="5A564D"/>
                </a:solidFill>
                <a:latin typeface="Newsreader" pitchFamily="34" charset="0"/>
                <a:ea typeface="Newsreader" pitchFamily="34" charset="-122"/>
                <a:cs typeface="Newsreader" pitchFamily="34" charset="-120"/>
              </a:rPr>
              <a:t>the hosted frontier models repeatedly declined this project's core design questions — legitimate biocontainment work. Open-weight models (DeepSeek, Kimi, Grok) carried it end to end, and Grok produced the winning design direction. The operating rule now: a portfolio of models, routed by task; never a single vendor gating a research question.</a:t>
            </a:r>
            <a:endParaRPr lang="en-US" sz="1050" dirty="0"/>
          </a:p>
        </p:txBody>
      </p:sp>
      <p:sp>
        <p:nvSpPr>
          <p:cNvPr id="20" name="Shape 18"/>
          <p:cNvSpPr/>
          <p:nvPr/>
        </p:nvSpPr>
        <p:spPr>
          <a:xfrm>
            <a:off x="512064" y="6089904"/>
            <a:ext cx="11167567" cy="0"/>
          </a:xfrm>
          <a:prstGeom prst="line">
            <a:avLst/>
          </a:prstGeom>
          <a:noFill/>
          <a:ln w="9525">
            <a:solidFill>
              <a:srgbClr val="C9C3B3"/>
            </a:solidFill>
            <a:prstDash val="solid"/>
          </a:ln>
        </p:spPr>
      </p:sp>
      <p:sp>
        <p:nvSpPr>
          <p:cNvPr id="21" name="Text 19"/>
          <p:cNvSpPr txBox="1"/>
          <p:nvPr/>
        </p:nvSpPr>
        <p:spPr>
          <a:xfrm>
            <a:off x="512064" y="6181344"/>
            <a:ext cx="11167567" cy="182880"/>
          </a:xfrm>
          <a:prstGeom prst="rect">
            <a:avLst/>
          </a:prstGeom>
          <a:noFill/>
          <a:ln/>
        </p:spPr>
        <p:txBody>
          <a:bodyPr wrap="square" lIns="0" tIns="0" rIns="0" bIns="0" rtlCol="0" anchor="ctr"/>
          <a:lstStyle/>
          <a:p>
            <a:pPr algn="l" indent="0" marL="0">
              <a:buNone/>
            </a:pPr>
            <a:r>
              <a:rPr lang="en-US" sz="750" spc="180" kern="0" dirty="0">
                <a:solidFill>
                  <a:srgbClr val="B8512A"/>
                </a:solidFill>
                <a:latin typeface="JetBrains Mono" pitchFamily="34" charset="0"/>
                <a:ea typeface="JetBrains Mono" pitchFamily="34" charset="-122"/>
                <a:cs typeface="JetBrains Mono" pitchFamily="34" charset="-120"/>
              </a:rPr>
              <a:t>AI PROPOSES · THE RECORD DISPOSES · CONSENSUS IS RECOMPUTED, NOT VOTED</a:t>
            </a:r>
            <a:endParaRPr lang="en-US" sz="750" dirty="0"/>
          </a:p>
        </p:txBody>
      </p:sp>
      <p:sp>
        <p:nvSpPr>
          <p:cNvPr id="22" name="Text 20"/>
          <p:cNvSpPr txBox="1"/>
          <p:nvPr/>
        </p:nvSpPr>
        <p:spPr>
          <a:xfrm>
            <a:off x="512064" y="6336792"/>
            <a:ext cx="7680960" cy="182880"/>
          </a:xfrm>
          <a:prstGeom prst="rect">
            <a:avLst/>
          </a:prstGeom>
          <a:noFill/>
          <a:ln/>
        </p:spPr>
        <p:txBody>
          <a:bodyPr wrap="square" lIns="0" tIns="0" rIns="0" bIns="0" rtlCol="0" anchor="ctr"/>
          <a:lstStyle/>
          <a:p>
            <a:pPr indent="0" marL="0">
              <a:buNone/>
            </a:pPr>
            <a:r>
              <a:rPr lang="en-US" sz="650" spc="160" kern="0" dirty="0">
                <a:solidFill>
                  <a:srgbClr val="7A766A"/>
                </a:solidFill>
                <a:latin typeface="JetBrains Mono" pitchFamily="34" charset="0"/>
                <a:ea typeface="JetBrains Mono" pitchFamily="34" charset="-122"/>
                <a:cs typeface="JetBrains Mono" pitchFamily="34" charset="-120"/>
              </a:rPr>
              <a:t>05 / 08</a:t>
            </a:r>
            <a:endParaRPr lang="en-US" sz="650" dirty="0"/>
          </a:p>
        </p:txBody>
      </p:sp>
      <p:sp>
        <p:nvSpPr>
          <p:cNvPr id="23" name="Text 21"/>
          <p:cNvSpPr txBox="1"/>
          <p:nvPr/>
        </p:nvSpPr>
        <p:spPr>
          <a:xfrm>
            <a:off x="6199632" y="6336792"/>
            <a:ext cx="5486400" cy="182880"/>
          </a:xfrm>
          <a:prstGeom prst="rect">
            <a:avLst/>
          </a:prstGeom>
          <a:noFill/>
          <a:ln/>
        </p:spPr>
        <p:txBody>
          <a:bodyPr wrap="square" lIns="0" tIns="0" rIns="0" bIns="0" rtlCol="0" anchor="ctr"/>
          <a:lstStyle/>
          <a:p>
            <a:pPr algn="r" indent="0" marL="0">
              <a:buNone/>
            </a:pPr>
            <a:r>
              <a:rPr lang="en-US" sz="650" spc="160" kern="0" dirty="0">
                <a:solidFill>
                  <a:srgbClr val="7A766A"/>
                </a:solidFill>
                <a:latin typeface="JetBrains Mono" pitchFamily="34" charset="0"/>
                <a:ea typeface="JetBrains Mono" pitchFamily="34" charset="-122"/>
                <a:cs typeface="JetBrains Mono" pitchFamily="34" charset="-120"/>
              </a:rPr>
              <a:t>SILVEC BIOLOGICS · CONFIDENTIAL</a:t>
            </a:r>
            <a:endParaRPr lang="en-US" sz="6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FE8D6"/>
        </a:solidFill>
      </p:bgPr>
    </p:bg>
    <p:spTree>
      <p:nvGrpSpPr>
        <p:cNvPr id="1" name=""/>
        <p:cNvGrpSpPr/>
        <p:nvPr/>
      </p:nvGrpSpPr>
      <p:grpSpPr>
        <a:xfrm>
          <a:off x="0" y="0"/>
          <a:ext cx="0" cy="0"/>
          <a:chOff x="0" y="0"/>
          <a:chExt cx="0" cy="0"/>
        </a:xfrm>
      </p:grpSpPr>
      <p:sp>
        <p:nvSpPr>
          <p:cNvPr id="2" name="Text 0"/>
          <p:cNvSpPr txBox="1"/>
          <p:nvPr/>
        </p:nvSpPr>
        <p:spPr>
          <a:xfrm>
            <a:off x="512064" y="356616"/>
            <a:ext cx="4572000" cy="182880"/>
          </a:xfrm>
          <a:prstGeom prst="rect">
            <a:avLst/>
          </a:prstGeom>
          <a:noFill/>
          <a:ln/>
        </p:spPr>
        <p:txBody>
          <a:bodyPr wrap="square" lIns="0" tIns="0" rIns="0" bIns="0" rtlCol="0" anchor="ctr"/>
          <a:lstStyle/>
          <a:p>
            <a:pPr indent="0" marL="0">
              <a:buNone/>
            </a:pPr>
            <a:r>
              <a:rPr lang="en-US" sz="650" spc="200" kern="0" dirty="0">
                <a:solidFill>
                  <a:srgbClr val="7A766A"/>
                </a:solidFill>
                <a:latin typeface="JetBrains Mono" pitchFamily="34" charset="0"/>
                <a:ea typeface="JetBrains Mono" pitchFamily="34" charset="-122"/>
                <a:cs typeface="JetBrains Mono" pitchFamily="34" charset="-120"/>
              </a:rPr>
              <a:t>SILVEC · BIOLOGICS</a:t>
            </a:r>
            <a:endParaRPr lang="en-US" sz="650" dirty="0"/>
          </a:p>
        </p:txBody>
      </p:sp>
      <p:sp>
        <p:nvSpPr>
          <p:cNvPr id="3" name="Text 1"/>
          <p:cNvSpPr txBox="1"/>
          <p:nvPr/>
        </p:nvSpPr>
        <p:spPr>
          <a:xfrm>
            <a:off x="7114032" y="356616"/>
            <a:ext cx="4572000" cy="182880"/>
          </a:xfrm>
          <a:prstGeom prst="rect">
            <a:avLst/>
          </a:prstGeom>
          <a:noFill/>
          <a:ln/>
        </p:spPr>
        <p:txBody>
          <a:bodyPr wrap="square" lIns="0" tIns="0" rIns="0" bIns="0" rtlCol="0" anchor="ctr"/>
          <a:lstStyle/>
          <a:p>
            <a:pPr algn="r" indent="0" marL="0">
              <a:buNone/>
            </a:pPr>
            <a:r>
              <a:rPr lang="en-US" sz="650" spc="200" kern="0" dirty="0">
                <a:solidFill>
                  <a:srgbClr val="7A766A"/>
                </a:solidFill>
                <a:latin typeface="JetBrains Mono" pitchFamily="34" charset="0"/>
                <a:ea typeface="JetBrains Mono" pitchFamily="34" charset="-122"/>
                <a:cs typeface="JetBrains Mono" pitchFamily="34" charset="-120"/>
              </a:rPr>
              <a:t>06 / 08</a:t>
            </a:r>
            <a:endParaRPr lang="en-US" sz="650" dirty="0"/>
          </a:p>
        </p:txBody>
      </p:sp>
      <p:sp>
        <p:nvSpPr>
          <p:cNvPr id="4" name="Text 2"/>
          <p:cNvSpPr txBox="1"/>
          <p:nvPr/>
        </p:nvSpPr>
        <p:spPr>
          <a:xfrm>
            <a:off x="512064" y="960120"/>
            <a:ext cx="9601200" cy="201168"/>
          </a:xfrm>
          <a:prstGeom prst="rect">
            <a:avLst/>
          </a:prstGeom>
          <a:noFill/>
          <a:ln/>
        </p:spPr>
        <p:txBody>
          <a:bodyPr wrap="square" lIns="0" tIns="0" rIns="0" bIns="0" rtlCol="0" anchor="ctr"/>
          <a:lstStyle/>
          <a:p>
            <a:pPr indent="0" marL="0">
              <a:buNone/>
            </a:pPr>
            <a:r>
              <a:rPr lang="en-US" sz="700" spc="240" kern="0" dirty="0">
                <a:solidFill>
                  <a:srgbClr val="B8512A"/>
                </a:solidFill>
                <a:latin typeface="JetBrains Mono" pitchFamily="34" charset="0"/>
                <a:ea typeface="JetBrains Mono" pitchFamily="34" charset="-122"/>
                <a:cs typeface="JetBrains Mono" pitchFamily="34" charset="-120"/>
              </a:rPr>
              <a:t>WHAT / IT COSTS</a:t>
            </a:r>
            <a:endParaRPr lang="en-US" sz="700" dirty="0"/>
          </a:p>
        </p:txBody>
      </p:sp>
      <p:sp>
        <p:nvSpPr>
          <p:cNvPr id="5" name="Text 3"/>
          <p:cNvSpPr txBox="1"/>
          <p:nvPr/>
        </p:nvSpPr>
        <p:spPr>
          <a:xfrm>
            <a:off x="512064" y="1271016"/>
            <a:ext cx="10625328" cy="566928"/>
          </a:xfrm>
          <a:prstGeom prst="rect">
            <a:avLst/>
          </a:prstGeom>
          <a:noFill/>
          <a:ln/>
        </p:spPr>
        <p:txBody>
          <a:bodyPr wrap="square" lIns="0" tIns="0" rIns="0" bIns="0" rtlCol="0" anchor="t"/>
          <a:lstStyle/>
          <a:p>
            <a:pPr indent="0" marL="0">
              <a:buNone/>
            </a:pPr>
            <a:r>
              <a:rPr lang="en-US" sz="2700" dirty="0">
                <a:solidFill>
                  <a:srgbClr val="1A1812"/>
                </a:solidFill>
                <a:latin typeface="Newsreader" pitchFamily="34" charset="0"/>
                <a:ea typeface="Newsreader" pitchFamily="34" charset="-122"/>
                <a:cs typeface="Newsreader" pitchFamily="34" charset="-120"/>
              </a:rPr>
              <a:t>Twenty weeks, ~$8–13K, one gate.</a:t>
            </a:r>
            <a:endParaRPr lang="en-US" sz="2700" dirty="0"/>
          </a:p>
        </p:txBody>
      </p:sp>
      <p:sp>
        <p:nvSpPr>
          <p:cNvPr id="6" name="Text 4"/>
          <p:cNvSpPr txBox="1"/>
          <p:nvPr/>
        </p:nvSpPr>
        <p:spPr>
          <a:xfrm>
            <a:off x="512064" y="1892808"/>
            <a:ext cx="10058400" cy="530352"/>
          </a:xfrm>
          <a:prstGeom prst="rect">
            <a:avLst/>
          </a:prstGeom>
          <a:noFill/>
          <a:ln/>
        </p:spPr>
        <p:txBody>
          <a:bodyPr wrap="square" lIns="0" tIns="0" rIns="0" bIns="0" rtlCol="0" anchor="t"/>
          <a:lstStyle/>
          <a:p>
            <a:pPr indent="0" marL="0">
              <a:buNone/>
            </a:pPr>
            <a:r>
              <a:rPr lang="en-US" sz="1200" dirty="0">
                <a:solidFill>
                  <a:srgbClr val="5A564D"/>
                </a:solidFill>
                <a:latin typeface="Newsreader" pitchFamily="34" charset="0"/>
                <a:ea typeface="Newsreader" pitchFamily="34" charset="-122"/>
                <a:cs typeface="Newsreader" pitchFamily="34" charset="-120"/>
              </a:rPr>
              <a:t>Stage 0 in silico work is already complete — analysis, pre-registered criteria, power sizing, risk register. What remains is construction and one blinded assay.</a:t>
            </a:r>
            <a:endParaRPr lang="en-US" sz="1200" dirty="0"/>
          </a:p>
        </p:txBody>
      </p:sp>
      <p:sp>
        <p:nvSpPr>
          <p:cNvPr id="7" name="Text 5"/>
          <p:cNvSpPr txBox="1"/>
          <p:nvPr/>
        </p:nvSpPr>
        <p:spPr>
          <a:xfrm>
            <a:off x="512064" y="2834640"/>
            <a:ext cx="1874520" cy="310896"/>
          </a:xfrm>
          <a:prstGeom prst="rect">
            <a:avLst/>
          </a:prstGeom>
          <a:noFill/>
          <a:ln/>
        </p:spPr>
        <p:txBody>
          <a:bodyPr wrap="square" lIns="0" tIns="0" rIns="0" bIns="0" rtlCol="0" anchor="ctr"/>
          <a:lstStyle/>
          <a:p>
            <a:pPr indent="0" marL="0">
              <a:buNone/>
            </a:pPr>
            <a:r>
              <a:rPr lang="en-US" sz="950" dirty="0">
                <a:solidFill>
                  <a:srgbClr val="1A1812"/>
                </a:solidFill>
                <a:latin typeface="Newsreader" pitchFamily="34" charset="0"/>
                <a:ea typeface="Newsreader" pitchFamily="34" charset="-122"/>
                <a:cs typeface="Newsreader" pitchFamily="34" charset="-120"/>
              </a:rPr>
              <a:t>Confirm inputs · this week</a:t>
            </a:r>
            <a:endParaRPr lang="en-US" sz="950" dirty="0"/>
          </a:p>
        </p:txBody>
      </p:sp>
      <p:sp>
        <p:nvSpPr>
          <p:cNvPr id="8" name="Shape 6"/>
          <p:cNvSpPr/>
          <p:nvPr/>
        </p:nvSpPr>
        <p:spPr>
          <a:xfrm>
            <a:off x="2478024" y="2889504"/>
            <a:ext cx="446364" cy="182880"/>
          </a:xfrm>
          <a:prstGeom prst="roundRect">
            <a:avLst>
              <a:gd name="adj" fmla="val 20000"/>
            </a:avLst>
          </a:prstGeom>
          <a:solidFill>
            <a:srgbClr val="B8512A"/>
          </a:solidFill>
          <a:ln/>
        </p:spPr>
      </p:sp>
      <p:sp>
        <p:nvSpPr>
          <p:cNvPr id="9" name="Text 7"/>
          <p:cNvSpPr txBox="1"/>
          <p:nvPr/>
        </p:nvSpPr>
        <p:spPr>
          <a:xfrm>
            <a:off x="2532888" y="2884932"/>
            <a:ext cx="354924" cy="201168"/>
          </a:xfrm>
          <a:prstGeom prst="rect">
            <a:avLst/>
          </a:prstGeom>
          <a:noFill/>
          <a:ln/>
        </p:spPr>
        <p:txBody>
          <a:bodyPr wrap="square" lIns="0" tIns="0" rIns="0" bIns="0" rtlCol="0" anchor="ctr"/>
          <a:lstStyle/>
          <a:p>
            <a:pPr indent="0" marL="0">
              <a:buNone/>
            </a:pPr>
            <a:r>
              <a:rPr lang="en-US" sz="600" dirty="0">
                <a:solidFill>
                  <a:srgbClr val="FFFFFF"/>
                </a:solidFill>
                <a:latin typeface="JetBrains Mono" pitchFamily="34" charset="0"/>
                <a:ea typeface="JetBrains Mono" pitchFamily="34" charset="-122"/>
                <a:cs typeface="JetBrains Mono" pitchFamily="34" charset="-120"/>
              </a:rPr>
              <a:t>BACKBONE CLONE · APHID COLONY · CONTAINMENT</a:t>
            </a:r>
            <a:endParaRPr lang="en-US" sz="600" dirty="0"/>
          </a:p>
        </p:txBody>
      </p:sp>
      <p:sp>
        <p:nvSpPr>
          <p:cNvPr id="10" name="Text 8"/>
          <p:cNvSpPr txBox="1"/>
          <p:nvPr/>
        </p:nvSpPr>
        <p:spPr>
          <a:xfrm>
            <a:off x="512064" y="3218688"/>
            <a:ext cx="1874520" cy="310896"/>
          </a:xfrm>
          <a:prstGeom prst="rect">
            <a:avLst/>
          </a:prstGeom>
          <a:noFill/>
          <a:ln/>
        </p:spPr>
        <p:txBody>
          <a:bodyPr wrap="square" lIns="0" tIns="0" rIns="0" bIns="0" rtlCol="0" anchor="ctr"/>
          <a:lstStyle/>
          <a:p>
            <a:pPr indent="0" marL="0">
              <a:buNone/>
            </a:pPr>
            <a:r>
              <a:rPr lang="en-US" sz="950" dirty="0">
                <a:solidFill>
                  <a:srgbClr val="1A1812"/>
                </a:solidFill>
                <a:latin typeface="Newsreader" pitchFamily="34" charset="0"/>
                <a:ea typeface="Newsreader" pitchFamily="34" charset="-122"/>
                <a:cs typeface="Newsreader" pitchFamily="34" charset="-120"/>
              </a:rPr>
              <a:t>Clone &amp; verify (4 constructs)</a:t>
            </a:r>
            <a:endParaRPr lang="en-US" sz="950" dirty="0"/>
          </a:p>
        </p:txBody>
      </p:sp>
      <p:sp>
        <p:nvSpPr>
          <p:cNvPr id="11" name="Shape 9"/>
          <p:cNvSpPr/>
          <p:nvPr/>
        </p:nvSpPr>
        <p:spPr>
          <a:xfrm>
            <a:off x="2924388" y="3273552"/>
            <a:ext cx="3570915" cy="182880"/>
          </a:xfrm>
          <a:prstGeom prst="roundRect">
            <a:avLst>
              <a:gd name="adj" fmla="val 20000"/>
            </a:avLst>
          </a:prstGeom>
          <a:solidFill>
            <a:srgbClr val="7A766A"/>
          </a:solidFill>
          <a:ln/>
        </p:spPr>
      </p:sp>
      <p:sp>
        <p:nvSpPr>
          <p:cNvPr id="12" name="Text 10"/>
          <p:cNvSpPr txBox="1"/>
          <p:nvPr/>
        </p:nvSpPr>
        <p:spPr>
          <a:xfrm>
            <a:off x="2979252" y="3268980"/>
            <a:ext cx="3479475" cy="201168"/>
          </a:xfrm>
          <a:prstGeom prst="rect">
            <a:avLst/>
          </a:prstGeom>
          <a:noFill/>
          <a:ln/>
        </p:spPr>
        <p:txBody>
          <a:bodyPr wrap="square" lIns="0" tIns="0" rIns="0" bIns="0" rtlCol="0" anchor="ctr"/>
          <a:lstStyle/>
          <a:p>
            <a:pPr indent="0" marL="0">
              <a:buNone/>
            </a:pPr>
            <a:r>
              <a:rPr lang="en-US" sz="600" dirty="0">
                <a:solidFill>
                  <a:srgbClr val="FFFFFF"/>
                </a:solidFill>
                <a:latin typeface="JetBrains Mono" pitchFamily="34" charset="0"/>
                <a:ea typeface="JetBrains Mono" pitchFamily="34" charset="-122"/>
                <a:cs typeface="JetBrains Mono" pitchFamily="34" charset="-120"/>
              </a:rPr>
              <a:t>FULL-LENGTH SEQ · SYSTEMIC TITER</a:t>
            </a:r>
            <a:endParaRPr lang="en-US" sz="600" dirty="0"/>
          </a:p>
        </p:txBody>
      </p:sp>
      <p:sp>
        <p:nvSpPr>
          <p:cNvPr id="13" name="Text 11"/>
          <p:cNvSpPr txBox="1"/>
          <p:nvPr/>
        </p:nvSpPr>
        <p:spPr>
          <a:xfrm>
            <a:off x="512064" y="3602736"/>
            <a:ext cx="1874520" cy="310896"/>
          </a:xfrm>
          <a:prstGeom prst="rect">
            <a:avLst/>
          </a:prstGeom>
          <a:noFill/>
          <a:ln/>
        </p:spPr>
        <p:txBody>
          <a:bodyPr wrap="square" lIns="0" tIns="0" rIns="0" bIns="0" rtlCol="0" anchor="ctr"/>
          <a:lstStyle/>
          <a:p>
            <a:pPr indent="0" marL="0">
              <a:buNone/>
            </a:pPr>
            <a:r>
              <a:rPr lang="en-US" sz="950" dirty="0">
                <a:solidFill>
                  <a:srgbClr val="1A1812"/>
                </a:solidFill>
                <a:latin typeface="Newsreader" pitchFamily="34" charset="0"/>
                <a:ea typeface="Newsreader" pitchFamily="34" charset="-122"/>
                <a:cs typeface="Newsreader" pitchFamily="34" charset="-120"/>
              </a:rPr>
              <a:t>Gate: infection at parental titer</a:t>
            </a:r>
            <a:endParaRPr lang="en-US" sz="950" dirty="0"/>
          </a:p>
        </p:txBody>
      </p:sp>
      <p:sp>
        <p:nvSpPr>
          <p:cNvPr id="14" name="Shape 12"/>
          <p:cNvSpPr/>
          <p:nvPr/>
        </p:nvSpPr>
        <p:spPr>
          <a:xfrm>
            <a:off x="6495303" y="3657600"/>
            <a:ext cx="446364" cy="182880"/>
          </a:xfrm>
          <a:prstGeom prst="roundRect">
            <a:avLst>
              <a:gd name="adj" fmla="val 20000"/>
            </a:avLst>
          </a:prstGeom>
          <a:solidFill>
            <a:srgbClr val="E89C42"/>
          </a:solidFill>
          <a:ln/>
        </p:spPr>
      </p:sp>
      <p:sp>
        <p:nvSpPr>
          <p:cNvPr id="15" name="Text 13"/>
          <p:cNvSpPr txBox="1"/>
          <p:nvPr/>
        </p:nvSpPr>
        <p:spPr>
          <a:xfrm>
            <a:off x="6550167" y="3653028"/>
            <a:ext cx="354924" cy="201168"/>
          </a:xfrm>
          <a:prstGeom prst="rect">
            <a:avLst/>
          </a:prstGeom>
          <a:noFill/>
          <a:ln/>
        </p:spPr>
        <p:txBody>
          <a:bodyPr wrap="square" lIns="0" tIns="0" rIns="0" bIns="0" rtlCol="0" anchor="ctr"/>
          <a:lstStyle/>
          <a:p>
            <a:pPr indent="0" marL="0">
              <a:buNone/>
            </a:pPr>
            <a:r>
              <a:rPr lang="en-US" sz="600" dirty="0">
                <a:solidFill>
                  <a:srgbClr val="FFFFFF"/>
                </a:solidFill>
                <a:latin typeface="JetBrains Mono" pitchFamily="34" charset="0"/>
                <a:ea typeface="JetBrains Mono" pitchFamily="34" charset="-122"/>
                <a:cs typeface="JetBrains Mono" pitchFamily="34" charset="-120"/>
              </a:rPr>
              <a:t>OR STOP, CHEAPLY</a:t>
            </a:r>
            <a:endParaRPr lang="en-US" sz="600" dirty="0"/>
          </a:p>
        </p:txBody>
      </p:sp>
      <p:sp>
        <p:nvSpPr>
          <p:cNvPr id="16" name="Shape 14"/>
          <p:cNvSpPr/>
          <p:nvPr/>
        </p:nvSpPr>
        <p:spPr>
          <a:xfrm>
            <a:off x="6426723" y="3662172"/>
            <a:ext cx="137160" cy="137160"/>
          </a:xfrm>
          <a:prstGeom prst="diamond">
            <a:avLst/>
          </a:prstGeom>
          <a:solidFill>
            <a:srgbClr val="1A1812"/>
          </a:solidFill>
          <a:ln w="9525">
            <a:solidFill>
              <a:srgbClr val="FFFFFF"/>
            </a:solidFill>
            <a:prstDash val="solid"/>
          </a:ln>
        </p:spPr>
      </p:sp>
      <p:sp>
        <p:nvSpPr>
          <p:cNvPr id="17" name="Text 15"/>
          <p:cNvSpPr txBox="1"/>
          <p:nvPr/>
        </p:nvSpPr>
        <p:spPr>
          <a:xfrm>
            <a:off x="512064" y="3986784"/>
            <a:ext cx="1874520" cy="310896"/>
          </a:xfrm>
          <a:prstGeom prst="rect">
            <a:avLst/>
          </a:prstGeom>
          <a:noFill/>
          <a:ln/>
        </p:spPr>
        <p:txBody>
          <a:bodyPr wrap="square" lIns="0" tIns="0" rIns="0" bIns="0" rtlCol="0" anchor="ctr"/>
          <a:lstStyle/>
          <a:p>
            <a:pPr indent="0" marL="0">
              <a:buNone/>
            </a:pPr>
            <a:r>
              <a:rPr lang="en-US" sz="950" dirty="0">
                <a:solidFill>
                  <a:srgbClr val="1A1812"/>
                </a:solidFill>
                <a:latin typeface="Newsreader" pitchFamily="34" charset="0"/>
                <a:ea typeface="Newsreader" pitchFamily="34" charset="-122"/>
                <a:cs typeface="Newsreader" pitchFamily="34" charset="-120"/>
              </a:rPr>
              <a:t>Transmit — blinded (Harper protocol)</a:t>
            </a:r>
            <a:endParaRPr lang="en-US" sz="950" dirty="0"/>
          </a:p>
        </p:txBody>
      </p:sp>
      <p:sp>
        <p:nvSpPr>
          <p:cNvPr id="18" name="Shape 16"/>
          <p:cNvSpPr/>
          <p:nvPr/>
        </p:nvSpPr>
        <p:spPr>
          <a:xfrm>
            <a:off x="6941668" y="4041648"/>
            <a:ext cx="3570915" cy="182880"/>
          </a:xfrm>
          <a:prstGeom prst="roundRect">
            <a:avLst>
              <a:gd name="adj" fmla="val 20000"/>
            </a:avLst>
          </a:prstGeom>
          <a:solidFill>
            <a:srgbClr val="B8512A"/>
          </a:solidFill>
          <a:ln/>
        </p:spPr>
      </p:sp>
      <p:sp>
        <p:nvSpPr>
          <p:cNvPr id="19" name="Text 17"/>
          <p:cNvSpPr txBox="1"/>
          <p:nvPr/>
        </p:nvSpPr>
        <p:spPr>
          <a:xfrm>
            <a:off x="6996532" y="4037076"/>
            <a:ext cx="3479475" cy="201168"/>
          </a:xfrm>
          <a:prstGeom prst="rect">
            <a:avLst/>
          </a:prstGeom>
          <a:noFill/>
          <a:ln/>
        </p:spPr>
        <p:txBody>
          <a:bodyPr wrap="square" lIns="0" tIns="0" rIns="0" bIns="0" rtlCol="0" anchor="ctr"/>
          <a:lstStyle/>
          <a:p>
            <a:pPr indent="0" marL="0">
              <a:buNone/>
            </a:pPr>
            <a:r>
              <a:rPr lang="en-US" sz="600" dirty="0">
                <a:solidFill>
                  <a:srgbClr val="FFFFFF"/>
                </a:solidFill>
                <a:latin typeface="JetBrains Mono" pitchFamily="34" charset="0"/>
                <a:ea typeface="JetBrains Mono" pitchFamily="34" charset="-122"/>
                <a:cs typeface="JetBrains Mono" pitchFamily="34" charset="-120"/>
              </a:rPr>
              <a:t>~550–700 PLANTS · 5.5–7K APHIDS</a:t>
            </a:r>
            <a:endParaRPr lang="en-US" sz="600" dirty="0"/>
          </a:p>
        </p:txBody>
      </p:sp>
      <p:sp>
        <p:nvSpPr>
          <p:cNvPr id="20" name="Text 18"/>
          <p:cNvSpPr txBox="1"/>
          <p:nvPr/>
        </p:nvSpPr>
        <p:spPr>
          <a:xfrm>
            <a:off x="512064" y="4370832"/>
            <a:ext cx="1874520" cy="310896"/>
          </a:xfrm>
          <a:prstGeom prst="rect">
            <a:avLst/>
          </a:prstGeom>
          <a:noFill/>
          <a:ln/>
        </p:spPr>
        <p:txBody>
          <a:bodyPr wrap="square" lIns="0" tIns="0" rIns="0" bIns="0" rtlCol="0" anchor="ctr"/>
          <a:lstStyle/>
          <a:p>
            <a:pPr indent="0" marL="0">
              <a:buNone/>
            </a:pPr>
            <a:r>
              <a:rPr lang="en-US" sz="950" dirty="0">
                <a:solidFill>
                  <a:srgbClr val="1A1812"/>
                </a:solidFill>
                <a:latin typeface="Newsreader" pitchFamily="34" charset="0"/>
                <a:ea typeface="Newsreader" pitchFamily="34" charset="-122"/>
                <a:cs typeface="Newsreader" pitchFamily="34" charset="-120"/>
              </a:rPr>
              <a:t>Score &amp; decide</a:t>
            </a:r>
            <a:endParaRPr lang="en-US" sz="950" dirty="0"/>
          </a:p>
        </p:txBody>
      </p:sp>
      <p:sp>
        <p:nvSpPr>
          <p:cNvPr id="21" name="Shape 19"/>
          <p:cNvSpPr/>
          <p:nvPr/>
        </p:nvSpPr>
        <p:spPr>
          <a:xfrm>
            <a:off x="10512582" y="4425696"/>
            <a:ext cx="892729" cy="182880"/>
          </a:xfrm>
          <a:prstGeom prst="roundRect">
            <a:avLst>
              <a:gd name="adj" fmla="val 20000"/>
            </a:avLst>
          </a:prstGeom>
          <a:solidFill>
            <a:srgbClr val="4F5A2C"/>
          </a:solidFill>
          <a:ln/>
        </p:spPr>
      </p:sp>
      <p:sp>
        <p:nvSpPr>
          <p:cNvPr id="22" name="Text 20"/>
          <p:cNvSpPr txBox="1"/>
          <p:nvPr/>
        </p:nvSpPr>
        <p:spPr>
          <a:xfrm>
            <a:off x="10567446" y="4421124"/>
            <a:ext cx="801289" cy="201168"/>
          </a:xfrm>
          <a:prstGeom prst="rect">
            <a:avLst/>
          </a:prstGeom>
          <a:noFill/>
          <a:ln/>
        </p:spPr>
        <p:txBody>
          <a:bodyPr wrap="square" lIns="0" tIns="0" rIns="0" bIns="0" rtlCol="0" anchor="ctr"/>
          <a:lstStyle/>
          <a:p>
            <a:pPr indent="0" marL="0">
              <a:buNone/>
            </a:pPr>
            <a:r>
              <a:rPr lang="en-US" sz="600" dirty="0">
                <a:solidFill>
                  <a:srgbClr val="FFFFFF"/>
                </a:solidFill>
                <a:latin typeface="JetBrains Mono" pitchFamily="34" charset="0"/>
                <a:ea typeface="JetBrains Mono" pitchFamily="34" charset="-122"/>
                <a:cs typeface="JetBrains Mono" pitchFamily="34" charset="-120"/>
              </a:rPr>
              <a:t>PRE-REGISTERED CRITERIA</a:t>
            </a:r>
            <a:endParaRPr lang="en-US" sz="600" dirty="0"/>
          </a:p>
        </p:txBody>
      </p:sp>
      <p:sp>
        <p:nvSpPr>
          <p:cNvPr id="23" name="Shape 21"/>
          <p:cNvSpPr/>
          <p:nvPr/>
        </p:nvSpPr>
        <p:spPr>
          <a:xfrm>
            <a:off x="2478024" y="4782312"/>
            <a:ext cx="8927287" cy="0"/>
          </a:xfrm>
          <a:prstGeom prst="line">
            <a:avLst/>
          </a:prstGeom>
          <a:noFill/>
          <a:ln w="9525">
            <a:solidFill>
              <a:srgbClr val="C9C3B3"/>
            </a:solidFill>
            <a:prstDash val="solid"/>
          </a:ln>
        </p:spPr>
      </p:sp>
      <p:sp>
        <p:nvSpPr>
          <p:cNvPr id="24" name="Text 22"/>
          <p:cNvSpPr txBox="1"/>
          <p:nvPr/>
        </p:nvSpPr>
        <p:spPr>
          <a:xfrm>
            <a:off x="2203704" y="4809744"/>
            <a:ext cx="548640" cy="137160"/>
          </a:xfrm>
          <a:prstGeom prst="rect">
            <a:avLst/>
          </a:prstGeom>
          <a:noFill/>
          <a:ln/>
        </p:spPr>
        <p:txBody>
          <a:bodyPr wrap="square" lIns="0" tIns="0" rIns="0" bIns="0" rtlCol="0" anchor="ctr"/>
          <a:lstStyle/>
          <a:p>
            <a:pPr algn="ctr" indent="0" marL="0">
              <a:buNone/>
            </a:pPr>
            <a:r>
              <a:rPr lang="en-US" sz="600" dirty="0">
                <a:solidFill>
                  <a:srgbClr val="9E9A8C"/>
                </a:solidFill>
                <a:latin typeface="JetBrains Mono" pitchFamily="34" charset="0"/>
                <a:ea typeface="JetBrains Mono" pitchFamily="34" charset="-122"/>
                <a:cs typeface="JetBrains Mono" pitchFamily="34" charset="-120"/>
              </a:rPr>
              <a:t>W0</a:t>
            </a:r>
            <a:endParaRPr lang="en-US" sz="600" dirty="0"/>
          </a:p>
        </p:txBody>
      </p:sp>
      <p:sp>
        <p:nvSpPr>
          <p:cNvPr id="25" name="Text 23"/>
          <p:cNvSpPr txBox="1"/>
          <p:nvPr/>
        </p:nvSpPr>
        <p:spPr>
          <a:xfrm>
            <a:off x="4435526" y="4809744"/>
            <a:ext cx="548640" cy="137160"/>
          </a:xfrm>
          <a:prstGeom prst="rect">
            <a:avLst/>
          </a:prstGeom>
          <a:noFill/>
          <a:ln/>
        </p:spPr>
        <p:txBody>
          <a:bodyPr wrap="square" lIns="0" tIns="0" rIns="0" bIns="0" rtlCol="0" anchor="ctr"/>
          <a:lstStyle/>
          <a:p>
            <a:pPr algn="ctr" indent="0" marL="0">
              <a:buNone/>
            </a:pPr>
            <a:r>
              <a:rPr lang="en-US" sz="600" dirty="0">
                <a:solidFill>
                  <a:srgbClr val="9E9A8C"/>
                </a:solidFill>
                <a:latin typeface="JetBrains Mono" pitchFamily="34" charset="0"/>
                <a:ea typeface="JetBrains Mono" pitchFamily="34" charset="-122"/>
                <a:cs typeface="JetBrains Mono" pitchFamily="34" charset="-120"/>
              </a:rPr>
              <a:t>W5</a:t>
            </a:r>
            <a:endParaRPr lang="en-US" sz="600" dirty="0"/>
          </a:p>
        </p:txBody>
      </p:sp>
      <p:sp>
        <p:nvSpPr>
          <p:cNvPr id="26" name="Text 24"/>
          <p:cNvSpPr txBox="1"/>
          <p:nvPr/>
        </p:nvSpPr>
        <p:spPr>
          <a:xfrm>
            <a:off x="6667348" y="4809744"/>
            <a:ext cx="548640" cy="137160"/>
          </a:xfrm>
          <a:prstGeom prst="rect">
            <a:avLst/>
          </a:prstGeom>
          <a:noFill/>
          <a:ln/>
        </p:spPr>
        <p:txBody>
          <a:bodyPr wrap="square" lIns="0" tIns="0" rIns="0" bIns="0" rtlCol="0" anchor="ctr"/>
          <a:lstStyle/>
          <a:p>
            <a:pPr algn="ctr" indent="0" marL="0">
              <a:buNone/>
            </a:pPr>
            <a:r>
              <a:rPr lang="en-US" sz="600" dirty="0">
                <a:solidFill>
                  <a:srgbClr val="9E9A8C"/>
                </a:solidFill>
                <a:latin typeface="JetBrains Mono" pitchFamily="34" charset="0"/>
                <a:ea typeface="JetBrains Mono" pitchFamily="34" charset="-122"/>
                <a:cs typeface="JetBrains Mono" pitchFamily="34" charset="-120"/>
              </a:rPr>
              <a:t>W10</a:t>
            </a:r>
            <a:endParaRPr lang="en-US" sz="600" dirty="0"/>
          </a:p>
        </p:txBody>
      </p:sp>
      <p:sp>
        <p:nvSpPr>
          <p:cNvPr id="27" name="Text 25"/>
          <p:cNvSpPr txBox="1"/>
          <p:nvPr/>
        </p:nvSpPr>
        <p:spPr>
          <a:xfrm>
            <a:off x="8899169" y="4809744"/>
            <a:ext cx="548640" cy="137160"/>
          </a:xfrm>
          <a:prstGeom prst="rect">
            <a:avLst/>
          </a:prstGeom>
          <a:noFill/>
          <a:ln/>
        </p:spPr>
        <p:txBody>
          <a:bodyPr wrap="square" lIns="0" tIns="0" rIns="0" bIns="0" rtlCol="0" anchor="ctr"/>
          <a:lstStyle/>
          <a:p>
            <a:pPr algn="ctr" indent="0" marL="0">
              <a:buNone/>
            </a:pPr>
            <a:r>
              <a:rPr lang="en-US" sz="600" dirty="0">
                <a:solidFill>
                  <a:srgbClr val="9E9A8C"/>
                </a:solidFill>
                <a:latin typeface="JetBrains Mono" pitchFamily="34" charset="0"/>
                <a:ea typeface="JetBrains Mono" pitchFamily="34" charset="-122"/>
                <a:cs typeface="JetBrains Mono" pitchFamily="34" charset="-120"/>
              </a:rPr>
              <a:t>W15</a:t>
            </a:r>
            <a:endParaRPr lang="en-US" sz="600" dirty="0"/>
          </a:p>
        </p:txBody>
      </p:sp>
      <p:sp>
        <p:nvSpPr>
          <p:cNvPr id="28" name="Text 26"/>
          <p:cNvSpPr txBox="1"/>
          <p:nvPr/>
        </p:nvSpPr>
        <p:spPr>
          <a:xfrm>
            <a:off x="11130991" y="4809744"/>
            <a:ext cx="548640" cy="137160"/>
          </a:xfrm>
          <a:prstGeom prst="rect">
            <a:avLst/>
          </a:prstGeom>
          <a:noFill/>
          <a:ln/>
        </p:spPr>
        <p:txBody>
          <a:bodyPr wrap="square" lIns="0" tIns="0" rIns="0" bIns="0" rtlCol="0" anchor="ctr"/>
          <a:lstStyle/>
          <a:p>
            <a:pPr algn="ctr" indent="0" marL="0">
              <a:buNone/>
            </a:pPr>
            <a:r>
              <a:rPr lang="en-US" sz="600" dirty="0">
                <a:solidFill>
                  <a:srgbClr val="9E9A8C"/>
                </a:solidFill>
                <a:latin typeface="JetBrains Mono" pitchFamily="34" charset="0"/>
                <a:ea typeface="JetBrains Mono" pitchFamily="34" charset="-122"/>
                <a:cs typeface="JetBrains Mono" pitchFamily="34" charset="-120"/>
              </a:rPr>
              <a:t>W20</a:t>
            </a:r>
            <a:endParaRPr lang="en-US" sz="600" dirty="0"/>
          </a:p>
        </p:txBody>
      </p:sp>
      <p:sp>
        <p:nvSpPr>
          <p:cNvPr id="29" name="Text 27"/>
          <p:cNvSpPr txBox="1"/>
          <p:nvPr/>
        </p:nvSpPr>
        <p:spPr>
          <a:xfrm>
            <a:off x="512064" y="5212080"/>
            <a:ext cx="2377440" cy="365760"/>
          </a:xfrm>
          <a:prstGeom prst="rect">
            <a:avLst/>
          </a:prstGeom>
          <a:noFill/>
          <a:ln/>
        </p:spPr>
        <p:txBody>
          <a:bodyPr wrap="square" lIns="0" tIns="0" rIns="0" bIns="0" rtlCol="0" anchor="t"/>
          <a:lstStyle/>
          <a:p>
            <a:pPr indent="0" marL="0">
              <a:buNone/>
            </a:pPr>
            <a:r>
              <a:rPr lang="en-US" sz="2600" dirty="0">
                <a:solidFill>
                  <a:srgbClr val="1A1812"/>
                </a:solidFill>
                <a:latin typeface="Newsreader" pitchFamily="34" charset="0"/>
                <a:ea typeface="Newsreader" pitchFamily="34" charset="-122"/>
                <a:cs typeface="Newsreader" pitchFamily="34" charset="-120"/>
              </a:rPr>
              <a:t>≤5%</a:t>
            </a:r>
            <a:endParaRPr lang="en-US" sz="2600" dirty="0"/>
          </a:p>
        </p:txBody>
      </p:sp>
      <p:sp>
        <p:nvSpPr>
          <p:cNvPr id="30" name="Text 28"/>
          <p:cNvSpPr txBox="1"/>
          <p:nvPr/>
        </p:nvSpPr>
        <p:spPr>
          <a:xfrm>
            <a:off x="512064" y="5623560"/>
            <a:ext cx="2377440" cy="182880"/>
          </a:xfrm>
          <a:prstGeom prst="rect">
            <a:avLst/>
          </a:prstGeom>
          <a:noFill/>
          <a:ln/>
        </p:spPr>
        <p:txBody>
          <a:bodyPr wrap="square" lIns="0" tIns="0" rIns="0" bIns="0" rtlCol="0" anchor="ctr"/>
          <a:lstStyle/>
          <a:p>
            <a:pPr indent="0" marL="0">
              <a:buNone/>
            </a:pPr>
            <a:r>
              <a:rPr lang="en-US" sz="700" spc="160" kern="0" dirty="0">
                <a:solidFill>
                  <a:srgbClr val="B8512A"/>
                </a:solidFill>
                <a:latin typeface="JetBrains Mono" pitchFamily="34" charset="0"/>
                <a:ea typeface="JetBrains Mono" pitchFamily="34" charset="-122"/>
                <a:cs typeface="JetBrains Mono" pitchFamily="34" charset="-120"/>
              </a:rPr>
              <a:t>PASS LINE · PRE-REGISTERED</a:t>
            </a:r>
            <a:endParaRPr lang="en-US" sz="700" dirty="0"/>
          </a:p>
        </p:txBody>
      </p:sp>
      <p:sp>
        <p:nvSpPr>
          <p:cNvPr id="31" name="Text 29"/>
          <p:cNvSpPr txBox="1"/>
          <p:nvPr/>
        </p:nvSpPr>
        <p:spPr>
          <a:xfrm>
            <a:off x="512064" y="5843016"/>
            <a:ext cx="2212848" cy="457200"/>
          </a:xfrm>
          <a:prstGeom prst="rect">
            <a:avLst/>
          </a:prstGeom>
          <a:noFill/>
          <a:ln/>
        </p:spPr>
        <p:txBody>
          <a:bodyPr wrap="square" lIns="0" tIns="0" rIns="0" bIns="0" rtlCol="0" anchor="t"/>
          <a:lstStyle/>
          <a:p>
            <a:pPr algn="l" indent="0" marL="0">
              <a:lnSpc>
                <a:spcPct val="104000"/>
              </a:lnSpc>
              <a:buNone/>
            </a:pPr>
            <a:r>
              <a:rPr lang="en-US" sz="880" dirty="0">
                <a:solidFill>
                  <a:srgbClr val="5A564D"/>
                </a:solidFill>
                <a:latin typeface="Newsreader" pitchFamily="34" charset="0"/>
                <a:ea typeface="Newsreader" pitchFamily="34" charset="-122"/>
                <a:cs typeface="Newsreader" pitchFamily="34" charset="-120"/>
              </a:rPr>
              <a:t>vs 24.1% parent. 5–15% = Phase 2. ≥15% = a written-down null.</a:t>
            </a:r>
            <a:endParaRPr lang="en-US" sz="880" dirty="0"/>
          </a:p>
        </p:txBody>
      </p:sp>
      <p:sp>
        <p:nvSpPr>
          <p:cNvPr id="32" name="Text 30"/>
          <p:cNvSpPr txBox="1"/>
          <p:nvPr/>
        </p:nvSpPr>
        <p:spPr>
          <a:xfrm>
            <a:off x="4389120" y="5212080"/>
            <a:ext cx="2377440" cy="365760"/>
          </a:xfrm>
          <a:prstGeom prst="rect">
            <a:avLst/>
          </a:prstGeom>
          <a:noFill/>
          <a:ln/>
        </p:spPr>
        <p:txBody>
          <a:bodyPr wrap="square" lIns="0" tIns="0" rIns="0" bIns="0" rtlCol="0" anchor="t"/>
          <a:lstStyle/>
          <a:p>
            <a:pPr indent="0" marL="0">
              <a:buNone/>
            </a:pPr>
            <a:r>
              <a:rPr lang="en-US" sz="2600" dirty="0">
                <a:solidFill>
                  <a:srgbClr val="1A1812"/>
                </a:solidFill>
                <a:latin typeface="Newsreader" pitchFamily="34" charset="0"/>
                <a:ea typeface="Newsreader" pitchFamily="34" charset="-122"/>
                <a:cs typeface="Newsreader" pitchFamily="34" charset="-120"/>
              </a:rPr>
              <a:t>~$8–13K</a:t>
            </a:r>
            <a:endParaRPr lang="en-US" sz="2600" dirty="0"/>
          </a:p>
        </p:txBody>
      </p:sp>
      <p:sp>
        <p:nvSpPr>
          <p:cNvPr id="33" name="Text 31"/>
          <p:cNvSpPr txBox="1"/>
          <p:nvPr/>
        </p:nvSpPr>
        <p:spPr>
          <a:xfrm>
            <a:off x="4389120" y="5623560"/>
            <a:ext cx="2377440" cy="182880"/>
          </a:xfrm>
          <a:prstGeom prst="rect">
            <a:avLst/>
          </a:prstGeom>
          <a:noFill/>
          <a:ln/>
        </p:spPr>
        <p:txBody>
          <a:bodyPr wrap="square" lIns="0" tIns="0" rIns="0" bIns="0" rtlCol="0" anchor="ctr"/>
          <a:lstStyle/>
          <a:p>
            <a:pPr indent="0" marL="0">
              <a:buNone/>
            </a:pPr>
            <a:r>
              <a:rPr lang="en-US" sz="700" spc="160" kern="0" dirty="0">
                <a:solidFill>
                  <a:srgbClr val="B8512A"/>
                </a:solidFill>
                <a:latin typeface="JetBrains Mono" pitchFamily="34" charset="0"/>
                <a:ea typeface="JetBrains Mono" pitchFamily="34" charset="-122"/>
                <a:cs typeface="JetBrains Mono" pitchFamily="34" charset="-120"/>
              </a:rPr>
              <a:t>PHASE 1 COST</a:t>
            </a:r>
            <a:endParaRPr lang="en-US" sz="700" dirty="0"/>
          </a:p>
        </p:txBody>
      </p:sp>
      <p:sp>
        <p:nvSpPr>
          <p:cNvPr id="34" name="Text 32"/>
          <p:cNvSpPr txBox="1"/>
          <p:nvPr/>
        </p:nvSpPr>
        <p:spPr>
          <a:xfrm>
            <a:off x="4389120" y="5843016"/>
            <a:ext cx="2212848" cy="457200"/>
          </a:xfrm>
          <a:prstGeom prst="rect">
            <a:avLst/>
          </a:prstGeom>
          <a:noFill/>
          <a:ln/>
        </p:spPr>
        <p:txBody>
          <a:bodyPr wrap="square" lIns="0" tIns="0" rIns="0" bIns="0" rtlCol="0" anchor="t"/>
          <a:lstStyle/>
          <a:p>
            <a:pPr algn="l" indent="0" marL="0">
              <a:lnSpc>
                <a:spcPct val="104000"/>
              </a:lnSpc>
              <a:buNone/>
            </a:pPr>
            <a:r>
              <a:rPr lang="en-US" sz="880" dirty="0">
                <a:solidFill>
                  <a:srgbClr val="5A564D"/>
                </a:solidFill>
                <a:latin typeface="Newsreader" pitchFamily="34" charset="0"/>
                <a:ea typeface="Newsreader" pitchFamily="34" charset="-122"/>
                <a:cs typeface="Newsreader" pitchFamily="34" charset="-120"/>
              </a:rPr>
              <a:t>Aphid trials ≈$2–3K; synthesis &amp; validation $5–10K.</a:t>
            </a:r>
            <a:endParaRPr lang="en-US" sz="880" dirty="0"/>
          </a:p>
        </p:txBody>
      </p:sp>
      <p:sp>
        <p:nvSpPr>
          <p:cNvPr id="35" name="Text 33"/>
          <p:cNvSpPr txBox="1"/>
          <p:nvPr/>
        </p:nvSpPr>
        <p:spPr>
          <a:xfrm>
            <a:off x="8266176" y="5212080"/>
            <a:ext cx="2926080" cy="365760"/>
          </a:xfrm>
          <a:prstGeom prst="rect">
            <a:avLst/>
          </a:prstGeom>
          <a:noFill/>
          <a:ln/>
        </p:spPr>
        <p:txBody>
          <a:bodyPr wrap="square" lIns="0" tIns="0" rIns="0" bIns="0" rtlCol="0" anchor="t"/>
          <a:lstStyle/>
          <a:p>
            <a:pPr indent="0" marL="0">
              <a:buNone/>
            </a:pPr>
            <a:r>
              <a:rPr lang="en-US" sz="2600" dirty="0">
                <a:solidFill>
                  <a:srgbClr val="1A1812"/>
                </a:solidFill>
                <a:latin typeface="Newsreader" pitchFamily="34" charset="0"/>
                <a:ea typeface="Newsreader" pitchFamily="34" charset="-122"/>
                <a:cs typeface="Newsreader" pitchFamily="34" charset="-120"/>
              </a:rPr>
              <a:t>0 / 200</a:t>
            </a:r>
            <a:endParaRPr lang="en-US" sz="2600" dirty="0"/>
          </a:p>
        </p:txBody>
      </p:sp>
      <p:sp>
        <p:nvSpPr>
          <p:cNvPr id="36" name="Text 34"/>
          <p:cNvSpPr txBox="1"/>
          <p:nvPr/>
        </p:nvSpPr>
        <p:spPr>
          <a:xfrm>
            <a:off x="8266176" y="5623560"/>
            <a:ext cx="2926080" cy="182880"/>
          </a:xfrm>
          <a:prstGeom prst="rect">
            <a:avLst/>
          </a:prstGeom>
          <a:noFill/>
          <a:ln/>
        </p:spPr>
        <p:txBody>
          <a:bodyPr wrap="square" lIns="0" tIns="0" rIns="0" bIns="0" rtlCol="0" anchor="ctr"/>
          <a:lstStyle/>
          <a:p>
            <a:pPr indent="0" marL="0">
              <a:buNone/>
            </a:pPr>
            <a:r>
              <a:rPr lang="en-US" sz="700" spc="160" kern="0" dirty="0">
                <a:solidFill>
                  <a:srgbClr val="B8512A"/>
                </a:solidFill>
                <a:latin typeface="JetBrains Mono" pitchFamily="34" charset="0"/>
                <a:ea typeface="JetBrains Mono" pitchFamily="34" charset="-122"/>
                <a:cs typeface="JetBrains Mono" pitchFamily="34" charset="-120"/>
              </a:rPr>
              <a:t>WHAT 'CONTAINED' MEANS</a:t>
            </a:r>
            <a:endParaRPr lang="en-US" sz="700" dirty="0"/>
          </a:p>
        </p:txBody>
      </p:sp>
      <p:sp>
        <p:nvSpPr>
          <p:cNvPr id="37" name="Text 35"/>
          <p:cNvSpPr txBox="1"/>
          <p:nvPr/>
        </p:nvSpPr>
        <p:spPr>
          <a:xfrm>
            <a:off x="8266176" y="5843016"/>
            <a:ext cx="2761488" cy="502920"/>
          </a:xfrm>
          <a:prstGeom prst="rect">
            <a:avLst/>
          </a:prstGeom>
          <a:noFill/>
          <a:ln/>
        </p:spPr>
        <p:txBody>
          <a:bodyPr wrap="square" lIns="0" tIns="0" rIns="0" bIns="0" rtlCol="0" anchor="t"/>
          <a:lstStyle/>
          <a:p>
            <a:pPr algn="l" indent="0" marL="0">
              <a:lnSpc>
                <a:spcPct val="104000"/>
              </a:lnSpc>
              <a:buNone/>
            </a:pPr>
            <a:r>
              <a:rPr lang="en-US" sz="880" dirty="0">
                <a:solidFill>
                  <a:srgbClr val="5A564D"/>
                </a:solidFill>
                <a:latin typeface="Newsreader" pitchFamily="34" charset="0"/>
                <a:ea typeface="Newsreader" pitchFamily="34" charset="-122"/>
                <a:cs typeface="Newsreader" pitchFamily="34" charset="-120"/>
              </a:rPr>
              <a:t>Zero transmissions in 200 → upper 95% bound 1.5%. The claim shape is a zero over a large n.</a:t>
            </a:r>
            <a:endParaRPr lang="en-US" sz="880" dirty="0"/>
          </a:p>
        </p:txBody>
      </p:sp>
      <p:sp>
        <p:nvSpPr>
          <p:cNvPr id="38" name="Shape 36"/>
          <p:cNvSpPr/>
          <p:nvPr/>
        </p:nvSpPr>
        <p:spPr>
          <a:xfrm>
            <a:off x="512064" y="6108192"/>
            <a:ext cx="11167567" cy="0"/>
          </a:xfrm>
          <a:prstGeom prst="line">
            <a:avLst/>
          </a:prstGeom>
          <a:noFill/>
          <a:ln w="9525">
            <a:solidFill>
              <a:srgbClr val="C9C3B3"/>
            </a:solidFill>
            <a:prstDash val="solid"/>
          </a:ln>
        </p:spPr>
      </p:sp>
      <p:sp>
        <p:nvSpPr>
          <p:cNvPr id="39" name="Text 37"/>
          <p:cNvSpPr txBox="1"/>
          <p:nvPr/>
        </p:nvSpPr>
        <p:spPr>
          <a:xfrm>
            <a:off x="512064" y="6199632"/>
            <a:ext cx="11167567" cy="182880"/>
          </a:xfrm>
          <a:prstGeom prst="rect">
            <a:avLst/>
          </a:prstGeom>
          <a:noFill/>
          <a:ln/>
        </p:spPr>
        <p:txBody>
          <a:bodyPr wrap="square" lIns="0" tIns="0" rIns="0" bIns="0" rtlCol="0" anchor="ctr"/>
          <a:lstStyle/>
          <a:p>
            <a:pPr algn="l" indent="0" marL="0">
              <a:buNone/>
            </a:pPr>
            <a:r>
              <a:rPr lang="en-US" sz="750" spc="180" kern="0" dirty="0">
                <a:solidFill>
                  <a:srgbClr val="B8512A"/>
                </a:solidFill>
                <a:latin typeface="JetBrains Mono" pitchFamily="34" charset="0"/>
                <a:ea typeface="JetBrains Mono" pitchFamily="34" charset="-122"/>
                <a:cs typeface="JetBrains Mono" pitchFamily="34" charset="-120"/>
              </a:rPr>
              <a:t>THE GATE COMES BEFORE THE EXPENSE — SEQUENCE-VERIFIED INFECTION, OR THE PROJECT STOPS AT WEEK NINE</a:t>
            </a:r>
            <a:endParaRPr lang="en-US" sz="750" dirty="0"/>
          </a:p>
        </p:txBody>
      </p:sp>
      <p:sp>
        <p:nvSpPr>
          <p:cNvPr id="40" name="Text 38"/>
          <p:cNvSpPr txBox="1"/>
          <p:nvPr/>
        </p:nvSpPr>
        <p:spPr>
          <a:xfrm>
            <a:off x="512064" y="6336792"/>
            <a:ext cx="7680960" cy="182880"/>
          </a:xfrm>
          <a:prstGeom prst="rect">
            <a:avLst/>
          </a:prstGeom>
          <a:noFill/>
          <a:ln/>
        </p:spPr>
        <p:txBody>
          <a:bodyPr wrap="square" lIns="0" tIns="0" rIns="0" bIns="0" rtlCol="0" anchor="ctr"/>
          <a:lstStyle/>
          <a:p>
            <a:pPr indent="0" marL="0">
              <a:buNone/>
            </a:pPr>
            <a:r>
              <a:rPr lang="en-US" sz="650" spc="160" kern="0" dirty="0">
                <a:solidFill>
                  <a:srgbClr val="7A766A"/>
                </a:solidFill>
                <a:latin typeface="JetBrains Mono" pitchFamily="34" charset="0"/>
                <a:ea typeface="JetBrains Mono" pitchFamily="34" charset="-122"/>
                <a:cs typeface="JetBrains Mono" pitchFamily="34" charset="-120"/>
              </a:rPr>
              <a:t>06 / 08</a:t>
            </a:r>
            <a:endParaRPr lang="en-US" sz="650" dirty="0"/>
          </a:p>
        </p:txBody>
      </p:sp>
      <p:sp>
        <p:nvSpPr>
          <p:cNvPr id="41" name="Text 39"/>
          <p:cNvSpPr txBox="1"/>
          <p:nvPr/>
        </p:nvSpPr>
        <p:spPr>
          <a:xfrm>
            <a:off x="6199632" y="6336792"/>
            <a:ext cx="5486400" cy="182880"/>
          </a:xfrm>
          <a:prstGeom prst="rect">
            <a:avLst/>
          </a:prstGeom>
          <a:noFill/>
          <a:ln/>
        </p:spPr>
        <p:txBody>
          <a:bodyPr wrap="square" lIns="0" tIns="0" rIns="0" bIns="0" rtlCol="0" anchor="ctr"/>
          <a:lstStyle/>
          <a:p>
            <a:pPr algn="r" indent="0" marL="0">
              <a:buNone/>
            </a:pPr>
            <a:r>
              <a:rPr lang="en-US" sz="650" spc="160" kern="0" dirty="0">
                <a:solidFill>
                  <a:srgbClr val="7A766A"/>
                </a:solidFill>
                <a:latin typeface="JetBrains Mono" pitchFamily="34" charset="0"/>
                <a:ea typeface="JetBrains Mono" pitchFamily="34" charset="-122"/>
                <a:cs typeface="JetBrains Mono" pitchFamily="34" charset="-120"/>
              </a:rPr>
              <a:t>SILVEC BIOLOGICS · CONFIDENTIAL</a:t>
            </a:r>
            <a:endParaRPr lang="en-US" sz="6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FE8D6"/>
        </a:solidFill>
      </p:bgPr>
    </p:bg>
    <p:spTree>
      <p:nvGrpSpPr>
        <p:cNvPr id="1" name=""/>
        <p:cNvGrpSpPr/>
        <p:nvPr/>
      </p:nvGrpSpPr>
      <p:grpSpPr>
        <a:xfrm>
          <a:off x="0" y="0"/>
          <a:ext cx="0" cy="0"/>
          <a:chOff x="0" y="0"/>
          <a:chExt cx="0" cy="0"/>
        </a:xfrm>
      </p:grpSpPr>
      <p:sp>
        <p:nvSpPr>
          <p:cNvPr id="2" name="Text 0"/>
          <p:cNvSpPr txBox="1"/>
          <p:nvPr/>
        </p:nvSpPr>
        <p:spPr>
          <a:xfrm>
            <a:off x="512064" y="356616"/>
            <a:ext cx="4572000" cy="182880"/>
          </a:xfrm>
          <a:prstGeom prst="rect">
            <a:avLst/>
          </a:prstGeom>
          <a:noFill/>
          <a:ln/>
        </p:spPr>
        <p:txBody>
          <a:bodyPr wrap="square" lIns="0" tIns="0" rIns="0" bIns="0" rtlCol="0" anchor="ctr"/>
          <a:lstStyle/>
          <a:p>
            <a:pPr indent="0" marL="0">
              <a:buNone/>
            </a:pPr>
            <a:r>
              <a:rPr lang="en-US" sz="650" spc="200" kern="0" dirty="0">
                <a:solidFill>
                  <a:srgbClr val="7A766A"/>
                </a:solidFill>
                <a:latin typeface="JetBrains Mono" pitchFamily="34" charset="0"/>
                <a:ea typeface="JetBrains Mono" pitchFamily="34" charset="-122"/>
                <a:cs typeface="JetBrains Mono" pitchFamily="34" charset="-120"/>
              </a:rPr>
              <a:t>SILVEC · BIOLOGICS</a:t>
            </a:r>
            <a:endParaRPr lang="en-US" sz="650" dirty="0"/>
          </a:p>
        </p:txBody>
      </p:sp>
      <p:sp>
        <p:nvSpPr>
          <p:cNvPr id="3" name="Text 1"/>
          <p:cNvSpPr txBox="1"/>
          <p:nvPr/>
        </p:nvSpPr>
        <p:spPr>
          <a:xfrm>
            <a:off x="7114032" y="356616"/>
            <a:ext cx="4572000" cy="182880"/>
          </a:xfrm>
          <a:prstGeom prst="rect">
            <a:avLst/>
          </a:prstGeom>
          <a:noFill/>
          <a:ln/>
        </p:spPr>
        <p:txBody>
          <a:bodyPr wrap="square" lIns="0" tIns="0" rIns="0" bIns="0" rtlCol="0" anchor="ctr"/>
          <a:lstStyle/>
          <a:p>
            <a:pPr algn="r" indent="0" marL="0">
              <a:buNone/>
            </a:pPr>
            <a:r>
              <a:rPr lang="en-US" sz="650" spc="200" kern="0" dirty="0">
                <a:solidFill>
                  <a:srgbClr val="7A766A"/>
                </a:solidFill>
                <a:latin typeface="JetBrains Mono" pitchFamily="34" charset="0"/>
                <a:ea typeface="JetBrains Mono" pitchFamily="34" charset="-122"/>
                <a:cs typeface="JetBrains Mono" pitchFamily="34" charset="-120"/>
              </a:rPr>
              <a:t>07 / 08</a:t>
            </a:r>
            <a:endParaRPr lang="en-US" sz="650" dirty="0"/>
          </a:p>
        </p:txBody>
      </p:sp>
      <p:sp>
        <p:nvSpPr>
          <p:cNvPr id="4" name="Text 2"/>
          <p:cNvSpPr txBox="1"/>
          <p:nvPr/>
        </p:nvSpPr>
        <p:spPr>
          <a:xfrm>
            <a:off x="512064" y="960120"/>
            <a:ext cx="9601200" cy="201168"/>
          </a:xfrm>
          <a:prstGeom prst="rect">
            <a:avLst/>
          </a:prstGeom>
          <a:noFill/>
          <a:ln/>
        </p:spPr>
        <p:txBody>
          <a:bodyPr wrap="square" lIns="0" tIns="0" rIns="0" bIns="0" rtlCol="0" anchor="ctr"/>
          <a:lstStyle/>
          <a:p>
            <a:pPr indent="0" marL="0">
              <a:buNone/>
            </a:pPr>
            <a:r>
              <a:rPr lang="en-US" sz="700" spc="240" kern="0" dirty="0">
                <a:solidFill>
                  <a:srgbClr val="B8512A"/>
                </a:solidFill>
                <a:latin typeface="JetBrains Mono" pitchFamily="34" charset="0"/>
                <a:ea typeface="JetBrains Mono" pitchFamily="34" charset="-122"/>
                <a:cs typeface="JetBrains Mono" pitchFamily="34" charset="-120"/>
              </a:rPr>
              <a:t>THE / ASK</a:t>
            </a:r>
            <a:endParaRPr lang="en-US" sz="700" dirty="0"/>
          </a:p>
        </p:txBody>
      </p:sp>
      <p:sp>
        <p:nvSpPr>
          <p:cNvPr id="5" name="Text 3"/>
          <p:cNvSpPr txBox="1"/>
          <p:nvPr/>
        </p:nvSpPr>
        <p:spPr>
          <a:xfrm>
            <a:off x="512064" y="1271016"/>
            <a:ext cx="10625328" cy="566928"/>
          </a:xfrm>
          <a:prstGeom prst="rect">
            <a:avLst/>
          </a:prstGeom>
          <a:noFill/>
          <a:ln/>
        </p:spPr>
        <p:txBody>
          <a:bodyPr wrap="square" lIns="0" tIns="0" rIns="0" bIns="0" rtlCol="0" anchor="t"/>
          <a:lstStyle/>
          <a:p>
            <a:pPr indent="0" marL="0">
              <a:buNone/>
            </a:pPr>
            <a:r>
              <a:rPr lang="en-US" sz="2700" dirty="0">
                <a:solidFill>
                  <a:srgbClr val="1A1812"/>
                </a:solidFill>
                <a:latin typeface="Newsreader" pitchFamily="34" charset="0"/>
                <a:ea typeface="Newsreader" pitchFamily="34" charset="-122"/>
                <a:cs typeface="Newsreader" pitchFamily="34" charset="-120"/>
              </a:rPr>
              <a:t>One scientist, one afternoon, five answers.</a:t>
            </a:r>
            <a:endParaRPr lang="en-US" sz="2700" dirty="0"/>
          </a:p>
        </p:txBody>
      </p:sp>
      <p:sp>
        <p:nvSpPr>
          <p:cNvPr id="6" name="Text 4"/>
          <p:cNvSpPr txBox="1"/>
          <p:nvPr/>
        </p:nvSpPr>
        <p:spPr>
          <a:xfrm>
            <a:off x="512064" y="1892808"/>
            <a:ext cx="10058400" cy="530352"/>
          </a:xfrm>
          <a:prstGeom prst="rect">
            <a:avLst/>
          </a:prstGeom>
          <a:noFill/>
          <a:ln/>
        </p:spPr>
        <p:txBody>
          <a:bodyPr wrap="square" lIns="0" tIns="0" rIns="0" bIns="0" rtlCol="0" anchor="t"/>
          <a:lstStyle/>
          <a:p>
            <a:pPr indent="0" marL="0">
              <a:buNone/>
            </a:pPr>
            <a:r>
              <a:rPr lang="en-US" sz="1200" dirty="0">
                <a:solidFill>
                  <a:srgbClr val="5A564D"/>
                </a:solidFill>
                <a:latin typeface="Newsreader" pitchFamily="34" charset="0"/>
                <a:ea typeface="Newsreader" pitchFamily="34" charset="-122"/>
                <a:cs typeface="Newsreader" pitchFamily="34" charset="-120"/>
              </a:rPr>
              <a:t>Everything downstream is staged and gated. What unblocks it is in Silvec's records, not in any model.</a:t>
            </a:r>
            <a:endParaRPr lang="en-US" sz="1200" dirty="0"/>
          </a:p>
        </p:txBody>
      </p:sp>
      <p:sp>
        <p:nvSpPr>
          <p:cNvPr id="7" name="Shape 5"/>
          <p:cNvSpPr/>
          <p:nvPr/>
        </p:nvSpPr>
        <p:spPr>
          <a:xfrm>
            <a:off x="512064" y="2697480"/>
            <a:ext cx="5394960" cy="3063240"/>
          </a:xfrm>
          <a:prstGeom prst="rect">
            <a:avLst/>
          </a:prstGeom>
          <a:solidFill>
            <a:srgbClr val="E7D3BF"/>
          </a:solidFill>
          <a:ln w="9525">
            <a:solidFill>
              <a:srgbClr val="D9D4BE"/>
            </a:solidFill>
            <a:prstDash val="solid"/>
          </a:ln>
        </p:spPr>
      </p:sp>
      <p:sp>
        <p:nvSpPr>
          <p:cNvPr id="8" name="Text 6"/>
          <p:cNvSpPr txBox="1"/>
          <p:nvPr/>
        </p:nvSpPr>
        <p:spPr>
          <a:xfrm>
            <a:off x="740664" y="2862072"/>
            <a:ext cx="4937760" cy="201168"/>
          </a:xfrm>
          <a:prstGeom prst="rect">
            <a:avLst/>
          </a:prstGeom>
          <a:noFill/>
          <a:ln/>
        </p:spPr>
        <p:txBody>
          <a:bodyPr wrap="square" lIns="0" tIns="0" rIns="0" bIns="0" rtlCol="0" anchor="ctr"/>
          <a:lstStyle/>
          <a:p>
            <a:pPr indent="0" marL="0">
              <a:buNone/>
            </a:pPr>
            <a:r>
              <a:rPr lang="en-US" sz="700" spc="220" kern="0" dirty="0">
                <a:solidFill>
                  <a:srgbClr val="8A4F0E"/>
                </a:solidFill>
                <a:latin typeface="JetBrains Mono" pitchFamily="34" charset="0"/>
                <a:ea typeface="JetBrains Mono" pitchFamily="34" charset="-122"/>
                <a:cs typeface="JetBrains Mono" pitchFamily="34" charset="-120"/>
              </a:rPr>
              <a:t>CONFIRM FROM RECORDS · THIS WEEK</a:t>
            </a:r>
            <a:endParaRPr lang="en-US" sz="700" dirty="0"/>
          </a:p>
        </p:txBody>
      </p:sp>
      <p:sp>
        <p:nvSpPr>
          <p:cNvPr id="9" name="Text 7"/>
          <p:cNvSpPr txBox="1"/>
          <p:nvPr/>
        </p:nvSpPr>
        <p:spPr>
          <a:xfrm>
            <a:off x="740664" y="3154680"/>
            <a:ext cx="4937760" cy="2468880"/>
          </a:xfrm>
          <a:prstGeom prst="rect">
            <a:avLst/>
          </a:prstGeom>
          <a:noFill/>
          <a:ln/>
        </p:spPr>
        <p:txBody>
          <a:bodyPr wrap="square" lIns="0" tIns="0" rIns="0" bIns="0" rtlCol="0" anchor="t"/>
          <a:lstStyle/>
          <a:p>
            <a:pPr indent="0" marL="0">
              <a:lnSpc>
                <a:spcPct val="104000"/>
              </a:lnSpc>
              <a:buNone/>
            </a:pPr>
            <a:r>
              <a:rPr lang="en-US" sz="1000" dirty="0">
                <a:solidFill>
                  <a:srgbClr val="8A4F0E"/>
                </a:solidFill>
                <a:latin typeface="Newsreader" pitchFamily="34" charset="0"/>
                <a:ea typeface="Newsreader" pitchFamily="34" charset="-122"/>
                <a:cs typeface="Newsreader" pitchFamily="34" charset="-120"/>
              </a:rPr>
              <a:t>→  </a:t>
            </a:r>
            <a:pPr indent="0" marL="0">
              <a:lnSpc>
                <a:spcPct val="104000"/>
              </a:lnSpc>
              <a:spcAft>
                <a:spcPts val="800"/>
              </a:spcAft>
              <a:buNone/>
            </a:pPr>
            <a:r>
              <a:rPr lang="en-US" sz="1000" dirty="0">
                <a:solidFill>
                  <a:srgbClr val="5A564D"/>
                </a:solidFill>
                <a:latin typeface="Newsreader" pitchFamily="34" charset="0"/>
                <a:ea typeface="Newsreader" pitchFamily="34" charset="-122"/>
                <a:cs typeface="Newsreader" pitchFamily="34" charset="-120"/>
              </a:rPr>
              <a:t>Transmissible backbone clone (FS577 or T68) — physically on hand?</a:t>
            </a:r>
            <a:endParaRPr lang="en-US" sz="1000" dirty="0"/>
          </a:p>
          <a:p>
            <a:pPr indent="0" marL="0">
              <a:lnSpc>
                <a:spcPct val="104000"/>
              </a:lnSpc>
              <a:buNone/>
            </a:pPr>
            <a:r>
              <a:rPr lang="en-US" sz="1000" dirty="0">
                <a:solidFill>
                  <a:srgbClr val="8A4F0E"/>
                </a:solidFill>
                <a:latin typeface="Newsreader" pitchFamily="34" charset="0"/>
                <a:ea typeface="Newsreader" pitchFamily="34" charset="-122"/>
                <a:cs typeface="Newsreader" pitchFamily="34" charset="-120"/>
              </a:rPr>
              <a:t>→  </a:t>
            </a:r>
            <a:pPr indent="0" marL="0">
              <a:lnSpc>
                <a:spcPct val="104000"/>
              </a:lnSpc>
              <a:spcAft>
                <a:spcPts val="800"/>
              </a:spcAft>
              <a:buNone/>
            </a:pPr>
            <a:r>
              <a:rPr lang="en-US" sz="1000" dirty="0">
                <a:solidFill>
                  <a:srgbClr val="5A564D"/>
                </a:solidFill>
                <a:latin typeface="Newsreader" pitchFamily="34" charset="0"/>
                <a:ea typeface="Newsreader" pitchFamily="34" charset="-122"/>
                <a:cs typeface="Newsreader" pitchFamily="34" charset="-120"/>
              </a:rPr>
              <a:t>The T. citricida colony available, and its historical baseline?</a:t>
            </a:r>
            <a:endParaRPr lang="en-US" sz="1000" dirty="0"/>
          </a:p>
          <a:p>
            <a:pPr indent="0" marL="0">
              <a:lnSpc>
                <a:spcPct val="104000"/>
              </a:lnSpc>
              <a:buNone/>
            </a:pPr>
            <a:r>
              <a:rPr lang="en-US" sz="1000" dirty="0">
                <a:solidFill>
                  <a:srgbClr val="8A4F0E"/>
                </a:solidFill>
                <a:latin typeface="Newsreader" pitchFamily="34" charset="0"/>
                <a:ea typeface="Newsreader" pitchFamily="34" charset="-122"/>
                <a:cs typeface="Newsreader" pitchFamily="34" charset="-120"/>
              </a:rPr>
              <a:t>→  </a:t>
            </a:r>
            <a:pPr indent="0" marL="0">
              <a:lnSpc>
                <a:spcPct val="104000"/>
              </a:lnSpc>
              <a:spcAft>
                <a:spcPts val="800"/>
              </a:spcAft>
              <a:buNone/>
            </a:pPr>
            <a:r>
              <a:rPr lang="en-US" sz="1000" dirty="0">
                <a:solidFill>
                  <a:srgbClr val="5A564D"/>
                </a:solidFill>
                <a:latin typeface="Newsreader" pitchFamily="34" charset="0"/>
                <a:ea typeface="Newsreader" pitchFamily="34" charset="-122"/>
                <a:cs typeface="Newsreader" pitchFamily="34" charset="-120"/>
              </a:rPr>
              <a:t>Containment route CTV construct work already runs under</a:t>
            </a:r>
            <a:endParaRPr lang="en-US" sz="1000" dirty="0"/>
          </a:p>
          <a:p>
            <a:pPr indent="0" marL="0">
              <a:lnSpc>
                <a:spcPct val="104000"/>
              </a:lnSpc>
              <a:buNone/>
            </a:pPr>
            <a:r>
              <a:rPr lang="en-US" sz="1000" dirty="0">
                <a:solidFill>
                  <a:srgbClr val="8A4F0E"/>
                </a:solidFill>
                <a:latin typeface="Newsreader" pitchFamily="34" charset="0"/>
                <a:ea typeface="Newsreader" pitchFamily="34" charset="-122"/>
                <a:cs typeface="Newsreader" pitchFamily="34" charset="-120"/>
              </a:rPr>
              <a:t>→  </a:t>
            </a:r>
            <a:pPr indent="0" marL="0">
              <a:lnSpc>
                <a:spcPct val="104000"/>
              </a:lnSpc>
              <a:spcAft>
                <a:spcPts val="800"/>
              </a:spcAft>
              <a:buNone/>
            </a:pPr>
            <a:r>
              <a:rPr lang="en-US" sz="1000" dirty="0">
                <a:solidFill>
                  <a:srgbClr val="5A564D"/>
                </a:solidFill>
                <a:latin typeface="Newsreader" pitchFamily="34" charset="0"/>
                <a:ea typeface="Newsreader" pitchFamily="34" charset="-122"/>
                <a:cs typeface="Newsreader" pitchFamily="34" charset="-120"/>
              </a:rPr>
              <a:t>Citrus host for the validation phase (Hamlin / Duncan / grapefruit)</a:t>
            </a:r>
            <a:endParaRPr lang="en-US" sz="1000" dirty="0"/>
          </a:p>
          <a:p>
            <a:pPr indent="0" marL="0">
              <a:lnSpc>
                <a:spcPct val="104000"/>
              </a:lnSpc>
              <a:buNone/>
            </a:pPr>
            <a:r>
              <a:rPr lang="en-US" sz="1000" dirty="0">
                <a:solidFill>
                  <a:srgbClr val="8A4F0E"/>
                </a:solidFill>
                <a:latin typeface="Newsreader" pitchFamily="34" charset="0"/>
                <a:ea typeface="Newsreader" pitchFamily="34" charset="-122"/>
                <a:cs typeface="Newsreader" pitchFamily="34" charset="-120"/>
              </a:rPr>
              <a:t>→  </a:t>
            </a:r>
            <a:pPr indent="0" marL="0">
              <a:lnSpc>
                <a:spcPct val="104000"/>
              </a:lnSpc>
              <a:buNone/>
            </a:pPr>
            <a:r>
              <a:rPr lang="en-US" sz="1000" dirty="0">
                <a:solidFill>
                  <a:srgbClr val="5A564D"/>
                </a:solidFill>
                <a:latin typeface="Newsreader" pitchFamily="34" charset="0"/>
                <a:ea typeface="Newsreader" pitchFamily="34" charset="-122"/>
                <a:cs typeface="Newsreader" pitchFamily="34" charset="-120"/>
              </a:rPr>
              <a:t>True cost &amp; capacity for a 250-plant, 8-week cohort</a:t>
            </a:r>
            <a:endParaRPr lang="en-US" sz="1000" dirty="0"/>
          </a:p>
        </p:txBody>
      </p:sp>
      <p:sp>
        <p:nvSpPr>
          <p:cNvPr id="10" name="Text 8"/>
          <p:cNvSpPr txBox="1"/>
          <p:nvPr/>
        </p:nvSpPr>
        <p:spPr>
          <a:xfrm>
            <a:off x="6291072" y="2743200"/>
            <a:ext cx="5394960" cy="201168"/>
          </a:xfrm>
          <a:prstGeom prst="rect">
            <a:avLst/>
          </a:prstGeom>
          <a:noFill/>
          <a:ln/>
        </p:spPr>
        <p:txBody>
          <a:bodyPr wrap="square" lIns="0" tIns="0" rIns="0" bIns="0" rtlCol="0" anchor="ctr"/>
          <a:lstStyle/>
          <a:p>
            <a:pPr indent="0" marL="0">
              <a:buNone/>
            </a:pPr>
            <a:r>
              <a:rPr lang="en-US" sz="700" spc="220" kern="0" dirty="0">
                <a:solidFill>
                  <a:srgbClr val="4F5A2C"/>
                </a:solidFill>
                <a:latin typeface="JetBrains Mono" pitchFamily="34" charset="0"/>
                <a:ea typeface="JetBrains Mono" pitchFamily="34" charset="-122"/>
                <a:cs typeface="JetBrains Mono" pitchFamily="34" charset="-120"/>
              </a:rPr>
              <a:t>RUNNING IN PARALLEL · THE NEXT AI SESSIONS</a:t>
            </a:r>
            <a:endParaRPr lang="en-US" sz="700" dirty="0"/>
          </a:p>
        </p:txBody>
      </p:sp>
      <p:sp>
        <p:nvSpPr>
          <p:cNvPr id="11" name="Text 9"/>
          <p:cNvSpPr txBox="1"/>
          <p:nvPr/>
        </p:nvSpPr>
        <p:spPr>
          <a:xfrm>
            <a:off x="6291072" y="3017520"/>
            <a:ext cx="5394960" cy="2194560"/>
          </a:xfrm>
          <a:prstGeom prst="rect">
            <a:avLst/>
          </a:prstGeom>
          <a:noFill/>
          <a:ln/>
        </p:spPr>
        <p:txBody>
          <a:bodyPr wrap="square" lIns="0" tIns="0" rIns="0" bIns="0" rtlCol="0" anchor="t"/>
          <a:lstStyle/>
          <a:p>
            <a:pPr indent="0" marL="0">
              <a:lnSpc>
                <a:spcPct val="104000"/>
              </a:lnSpc>
              <a:buNone/>
            </a:pPr>
            <a:r>
              <a:rPr lang="en-US" sz="1000" dirty="0">
                <a:solidFill>
                  <a:srgbClr val="4F5A2C"/>
                </a:solidFill>
                <a:latin typeface="Newsreader" pitchFamily="34" charset="0"/>
                <a:ea typeface="Newsreader" pitchFamily="34" charset="-122"/>
                <a:cs typeface="Newsreader" pitchFamily="34" charset="-120"/>
              </a:rPr>
              <a:t>✓  </a:t>
            </a:r>
            <a:pPr indent="0" marL="0">
              <a:lnSpc>
                <a:spcPct val="104000"/>
              </a:lnSpc>
              <a:spcAft>
                <a:spcPts val="700"/>
              </a:spcAft>
              <a:buNone/>
            </a:pPr>
            <a:r>
              <a:rPr lang="en-US" sz="1000" dirty="0">
                <a:solidFill>
                  <a:srgbClr val="5A564D"/>
                </a:solidFill>
                <a:latin typeface="Newsreader" pitchFamily="34" charset="0"/>
                <a:ea typeface="Newsreader" pitchFamily="34" charset="-122"/>
                <a:cs typeface="Newsreader" pitchFamily="34" charset="-120"/>
              </a:rPr>
              <a:t>Retrieve Shilts 2026 full text — clears the last tier-3 flag</a:t>
            </a:r>
            <a:endParaRPr lang="en-US" sz="1000" dirty="0"/>
          </a:p>
          <a:p>
            <a:pPr indent="0" marL="0">
              <a:lnSpc>
                <a:spcPct val="104000"/>
              </a:lnSpc>
              <a:buNone/>
            </a:pPr>
            <a:r>
              <a:rPr lang="en-US" sz="1000" dirty="0">
                <a:solidFill>
                  <a:srgbClr val="4F5A2C"/>
                </a:solidFill>
                <a:latin typeface="Newsreader" pitchFamily="34" charset="0"/>
                <a:ea typeface="Newsreader" pitchFamily="34" charset="-122"/>
                <a:cs typeface="Newsreader" pitchFamily="34" charset="-120"/>
              </a:rPr>
              <a:t>✓  </a:t>
            </a:r>
            <a:pPr indent="0" marL="0">
              <a:lnSpc>
                <a:spcPct val="104000"/>
              </a:lnSpc>
              <a:spcAft>
                <a:spcPts val="700"/>
              </a:spcAft>
              <a:buNone/>
            </a:pPr>
            <a:r>
              <a:rPr lang="en-US" sz="1000" dirty="0">
                <a:solidFill>
                  <a:srgbClr val="5A564D"/>
                </a:solidFill>
                <a:latin typeface="Newsreader" pitchFamily="34" charset="0"/>
                <a:ea typeface="Newsreader" pitchFamily="34" charset="-122"/>
                <a:cs typeface="Newsreader" pitchFamily="34" charset="-120"/>
              </a:rPr>
              <a:t>Adversarial panel round 3 on the frozen protocol</a:t>
            </a:r>
            <a:endParaRPr lang="en-US" sz="1000" dirty="0"/>
          </a:p>
          <a:p>
            <a:pPr indent="0" marL="0">
              <a:lnSpc>
                <a:spcPct val="104000"/>
              </a:lnSpc>
              <a:buNone/>
            </a:pPr>
            <a:r>
              <a:rPr lang="en-US" sz="1000" dirty="0">
                <a:solidFill>
                  <a:srgbClr val="4F5A2C"/>
                </a:solidFill>
                <a:latin typeface="Newsreader" pitchFamily="34" charset="0"/>
                <a:ea typeface="Newsreader" pitchFamily="34" charset="-122"/>
                <a:cs typeface="Newsreader" pitchFamily="34" charset="-120"/>
              </a:rPr>
              <a:t>✓  </a:t>
            </a:r>
            <a:pPr indent="0" marL="0">
              <a:lnSpc>
                <a:spcPct val="104000"/>
              </a:lnSpc>
              <a:spcAft>
                <a:spcPts val="700"/>
              </a:spcAft>
              <a:buNone/>
            </a:pPr>
            <a:r>
              <a:rPr lang="en-US" sz="1000" dirty="0">
                <a:solidFill>
                  <a:srgbClr val="5A564D"/>
                </a:solidFill>
                <a:latin typeface="Newsreader" pitchFamily="34" charset="0"/>
                <a:ea typeface="Newsreader" pitchFamily="34" charset="-122"/>
                <a:cs typeface="Newsreader" pitchFamily="34" charset="-120"/>
              </a:rPr>
              <a:t>Segregation census of the 11 residues across the 130 genomes</a:t>
            </a:r>
            <a:endParaRPr lang="en-US" sz="1000" dirty="0"/>
          </a:p>
          <a:p>
            <a:pPr indent="0" marL="0">
              <a:lnSpc>
                <a:spcPct val="104000"/>
              </a:lnSpc>
              <a:buNone/>
            </a:pPr>
            <a:r>
              <a:rPr lang="en-US" sz="1000" dirty="0">
                <a:solidFill>
                  <a:srgbClr val="4F5A2C"/>
                </a:solidFill>
                <a:latin typeface="Newsreader" pitchFamily="34" charset="0"/>
                <a:ea typeface="Newsreader" pitchFamily="34" charset="-122"/>
                <a:cs typeface="Newsreader" pitchFamily="34" charset="-120"/>
              </a:rPr>
              <a:t>✓  </a:t>
            </a:r>
            <a:pPr indent="0" marL="0">
              <a:lnSpc>
                <a:spcPct val="104000"/>
              </a:lnSpc>
              <a:buNone/>
            </a:pPr>
            <a:r>
              <a:rPr lang="en-US" sz="1000" dirty="0">
                <a:solidFill>
                  <a:srgbClr val="5A564D"/>
                </a:solidFill>
                <a:latin typeface="Newsreader" pitchFamily="34" charset="0"/>
                <a:ea typeface="Newsreader" pitchFamily="34" charset="-122"/>
                <a:cs typeface="Newsreader" pitchFamily="34" charset="-120"/>
              </a:rPr>
              <a:t>The living knowledge base: repo + Q&amp;A JSON → team chatbot, answers carrying sources</a:t>
            </a:r>
            <a:endParaRPr lang="en-US" sz="1000" dirty="0"/>
          </a:p>
        </p:txBody>
      </p:sp>
      <p:sp>
        <p:nvSpPr>
          <p:cNvPr id="12" name="Shape 10"/>
          <p:cNvSpPr/>
          <p:nvPr/>
        </p:nvSpPr>
        <p:spPr>
          <a:xfrm>
            <a:off x="512064" y="6053328"/>
            <a:ext cx="11167567" cy="0"/>
          </a:xfrm>
          <a:prstGeom prst="line">
            <a:avLst/>
          </a:prstGeom>
          <a:noFill/>
          <a:ln w="9525">
            <a:solidFill>
              <a:srgbClr val="C9C3B3"/>
            </a:solidFill>
            <a:prstDash val="solid"/>
          </a:ln>
        </p:spPr>
      </p:sp>
      <p:sp>
        <p:nvSpPr>
          <p:cNvPr id="13" name="Text 11"/>
          <p:cNvSpPr txBox="1"/>
          <p:nvPr/>
        </p:nvSpPr>
        <p:spPr>
          <a:xfrm>
            <a:off x="512064" y="6144768"/>
            <a:ext cx="11167567" cy="182880"/>
          </a:xfrm>
          <a:prstGeom prst="rect">
            <a:avLst/>
          </a:prstGeom>
          <a:noFill/>
          <a:ln/>
        </p:spPr>
        <p:txBody>
          <a:bodyPr wrap="square" lIns="0" tIns="0" rIns="0" bIns="0" rtlCol="0" anchor="ctr"/>
          <a:lstStyle/>
          <a:p>
            <a:pPr algn="l" indent="0" marL="0">
              <a:buNone/>
            </a:pPr>
            <a:r>
              <a:rPr lang="en-US" sz="750" spc="180" kern="0" dirty="0">
                <a:solidFill>
                  <a:srgbClr val="B8512A"/>
                </a:solidFill>
                <a:latin typeface="JetBrains Mono" pitchFamily="34" charset="0"/>
                <a:ea typeface="JetBrains Mono" pitchFamily="34" charset="-122"/>
                <a:cs typeface="JetBrains Mono" pitchFamily="34" charset="-120"/>
              </a:rPr>
              <a:t>IF YES ON THE RECORDS → ALIGN AND FREEZE CONSTRUCTS NEXT WEEK → VERDICT BY WEEK TWENTY</a:t>
            </a:r>
            <a:endParaRPr lang="en-US" sz="750" dirty="0"/>
          </a:p>
        </p:txBody>
      </p:sp>
      <p:sp>
        <p:nvSpPr>
          <p:cNvPr id="14" name="Text 12"/>
          <p:cNvSpPr txBox="1"/>
          <p:nvPr/>
        </p:nvSpPr>
        <p:spPr>
          <a:xfrm>
            <a:off x="512064" y="6336792"/>
            <a:ext cx="7680960" cy="182880"/>
          </a:xfrm>
          <a:prstGeom prst="rect">
            <a:avLst/>
          </a:prstGeom>
          <a:noFill/>
          <a:ln/>
        </p:spPr>
        <p:txBody>
          <a:bodyPr wrap="square" lIns="0" tIns="0" rIns="0" bIns="0" rtlCol="0" anchor="ctr"/>
          <a:lstStyle/>
          <a:p>
            <a:pPr indent="0" marL="0">
              <a:buNone/>
            </a:pPr>
            <a:r>
              <a:rPr lang="en-US" sz="650" spc="160" kern="0" dirty="0">
                <a:solidFill>
                  <a:srgbClr val="7A766A"/>
                </a:solidFill>
                <a:latin typeface="JetBrains Mono" pitchFamily="34" charset="0"/>
                <a:ea typeface="JetBrains Mono" pitchFamily="34" charset="-122"/>
                <a:cs typeface="JetBrains Mono" pitchFamily="34" charset="-120"/>
              </a:rPr>
              <a:t>07 / 08</a:t>
            </a:r>
            <a:endParaRPr lang="en-US" sz="650" dirty="0"/>
          </a:p>
        </p:txBody>
      </p:sp>
      <p:sp>
        <p:nvSpPr>
          <p:cNvPr id="15" name="Text 13"/>
          <p:cNvSpPr txBox="1"/>
          <p:nvPr/>
        </p:nvSpPr>
        <p:spPr>
          <a:xfrm>
            <a:off x="6199632" y="6336792"/>
            <a:ext cx="5486400" cy="182880"/>
          </a:xfrm>
          <a:prstGeom prst="rect">
            <a:avLst/>
          </a:prstGeom>
          <a:noFill/>
          <a:ln/>
        </p:spPr>
        <p:txBody>
          <a:bodyPr wrap="square" lIns="0" tIns="0" rIns="0" bIns="0" rtlCol="0" anchor="ctr"/>
          <a:lstStyle/>
          <a:p>
            <a:pPr algn="r" indent="0" marL="0">
              <a:buNone/>
            </a:pPr>
            <a:r>
              <a:rPr lang="en-US" sz="650" spc="160" kern="0" dirty="0">
                <a:solidFill>
                  <a:srgbClr val="7A766A"/>
                </a:solidFill>
                <a:latin typeface="JetBrains Mono" pitchFamily="34" charset="0"/>
                <a:ea typeface="JetBrains Mono" pitchFamily="34" charset="-122"/>
                <a:cs typeface="JetBrains Mono" pitchFamily="34" charset="-120"/>
              </a:rPr>
              <a:t>SILVEC BIOLOGICS · CONFIDENTIAL</a:t>
            </a:r>
            <a:endParaRPr lang="en-US" sz="6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A1812"/>
        </a:solidFill>
      </p:bgPr>
    </p:bg>
    <p:spTree>
      <p:nvGrpSpPr>
        <p:cNvPr id="1" name=""/>
        <p:cNvGrpSpPr/>
        <p:nvPr/>
      </p:nvGrpSpPr>
      <p:grpSpPr>
        <a:xfrm>
          <a:off x="0" y="0"/>
          <a:ext cx="0" cy="0"/>
          <a:chOff x="0" y="0"/>
          <a:chExt cx="0" cy="0"/>
        </a:xfrm>
      </p:grpSpPr>
      <p:sp>
        <p:nvSpPr>
          <p:cNvPr id="2" name="Text 0"/>
          <p:cNvSpPr txBox="1"/>
          <p:nvPr/>
        </p:nvSpPr>
        <p:spPr>
          <a:xfrm>
            <a:off x="512064" y="356616"/>
            <a:ext cx="4572000" cy="182880"/>
          </a:xfrm>
          <a:prstGeom prst="rect">
            <a:avLst/>
          </a:prstGeom>
          <a:noFill/>
          <a:ln/>
        </p:spPr>
        <p:txBody>
          <a:bodyPr wrap="square" lIns="0" tIns="0" rIns="0" bIns="0" rtlCol="0" anchor="ctr"/>
          <a:lstStyle/>
          <a:p>
            <a:pPr indent="0" marL="0">
              <a:buNone/>
            </a:pPr>
            <a:r>
              <a:rPr lang="en-US" sz="650" spc="200" kern="0" dirty="0">
                <a:solidFill>
                  <a:srgbClr val="B3AE9F"/>
                </a:solidFill>
                <a:latin typeface="JetBrains Mono" pitchFamily="34" charset="0"/>
                <a:ea typeface="JetBrains Mono" pitchFamily="34" charset="-122"/>
                <a:cs typeface="JetBrains Mono" pitchFamily="34" charset="-120"/>
              </a:rPr>
              <a:t>SILVEC · BIOLOGICS</a:t>
            </a:r>
            <a:endParaRPr lang="en-US" sz="650" dirty="0"/>
          </a:p>
        </p:txBody>
      </p:sp>
      <p:sp>
        <p:nvSpPr>
          <p:cNvPr id="3" name="Text 1"/>
          <p:cNvSpPr txBox="1"/>
          <p:nvPr/>
        </p:nvSpPr>
        <p:spPr>
          <a:xfrm>
            <a:off x="7114032" y="356616"/>
            <a:ext cx="4572000" cy="182880"/>
          </a:xfrm>
          <a:prstGeom prst="rect">
            <a:avLst/>
          </a:prstGeom>
          <a:noFill/>
          <a:ln/>
        </p:spPr>
        <p:txBody>
          <a:bodyPr wrap="square" lIns="0" tIns="0" rIns="0" bIns="0" rtlCol="0" anchor="ctr"/>
          <a:lstStyle/>
          <a:p>
            <a:pPr algn="r" indent="0" marL="0">
              <a:buNone/>
            </a:pPr>
            <a:r>
              <a:rPr lang="en-US" sz="650" spc="200" kern="0" dirty="0">
                <a:solidFill>
                  <a:srgbClr val="B3AE9F"/>
                </a:solidFill>
                <a:latin typeface="JetBrains Mono" pitchFamily="34" charset="0"/>
                <a:ea typeface="JetBrains Mono" pitchFamily="34" charset="-122"/>
                <a:cs typeface="JetBrains Mono" pitchFamily="34" charset="-120"/>
              </a:rPr>
              <a:t>08 / 08</a:t>
            </a:r>
            <a:endParaRPr lang="en-US" sz="650" dirty="0"/>
          </a:p>
        </p:txBody>
      </p:sp>
      <p:sp>
        <p:nvSpPr>
          <p:cNvPr id="4" name="Text 2"/>
          <p:cNvSpPr txBox="1"/>
          <p:nvPr/>
        </p:nvSpPr>
        <p:spPr>
          <a:xfrm>
            <a:off x="512064" y="1271016"/>
            <a:ext cx="7315200" cy="201168"/>
          </a:xfrm>
          <a:prstGeom prst="rect">
            <a:avLst/>
          </a:prstGeom>
          <a:noFill/>
          <a:ln/>
        </p:spPr>
        <p:txBody>
          <a:bodyPr wrap="square" lIns="0" tIns="0" rIns="0" bIns="0" rtlCol="0" anchor="ctr"/>
          <a:lstStyle/>
          <a:p>
            <a:pPr indent="0" marL="0">
              <a:buNone/>
            </a:pPr>
            <a:r>
              <a:rPr lang="en-US" sz="750" spc="240" kern="0" dirty="0">
                <a:solidFill>
                  <a:srgbClr val="B8512A"/>
                </a:solidFill>
                <a:latin typeface="JetBrains Mono" pitchFamily="34" charset="0"/>
                <a:ea typeface="JetBrains Mono" pitchFamily="34" charset="-122"/>
                <a:cs typeface="JetBrains Mono" pitchFamily="34" charset="-120"/>
              </a:rPr>
              <a:t>THE / CLOSE</a:t>
            </a:r>
            <a:endParaRPr lang="en-US" sz="750" dirty="0"/>
          </a:p>
        </p:txBody>
      </p:sp>
      <p:sp>
        <p:nvSpPr>
          <p:cNvPr id="5" name="Text 3"/>
          <p:cNvSpPr txBox="1"/>
          <p:nvPr/>
        </p:nvSpPr>
        <p:spPr>
          <a:xfrm>
            <a:off x="512064" y="1783080"/>
            <a:ext cx="10881360" cy="1554480"/>
          </a:xfrm>
          <a:prstGeom prst="rect">
            <a:avLst/>
          </a:prstGeom>
          <a:noFill/>
          <a:ln/>
        </p:spPr>
        <p:txBody>
          <a:bodyPr wrap="square" lIns="0" tIns="0" rIns="0" bIns="0" rtlCol="0" anchor="ctr"/>
          <a:lstStyle/>
          <a:p>
            <a:pPr indent="0" marL="0">
              <a:lnSpc>
                <a:spcPct val="102000"/>
              </a:lnSpc>
              <a:buNone/>
            </a:pPr>
            <a:r>
              <a:rPr lang="en-US" sz="4000" i="1" dirty="0">
                <a:solidFill>
                  <a:srgbClr val="B8512A"/>
                </a:solidFill>
                <a:latin typeface="Newsreader" pitchFamily="34" charset="0"/>
                <a:ea typeface="Newsreader" pitchFamily="34" charset="-122"/>
                <a:cs typeface="Newsreader" pitchFamily="34" charset="-120"/>
              </a:rPr>
              <a:t>Cheap to test. </a:t>
            </a:r>
            <a:pPr indent="0" marL="0">
              <a:lnSpc>
                <a:spcPct val="102000"/>
              </a:lnSpc>
              <a:buNone/>
            </a:pPr>
            <a:r>
              <a:rPr lang="en-US" sz="4000" i="1" dirty="0">
                <a:solidFill>
                  <a:srgbClr val="EFE8D6"/>
                </a:solidFill>
                <a:latin typeface="Newsreader" pitchFamily="34" charset="0"/>
                <a:ea typeface="Newsreader" pitchFamily="34" charset="-122"/>
                <a:cs typeface="Newsreader" pitchFamily="34" charset="-120"/>
              </a:rPr>
              <a:t>Expensive to
</a:t>
            </a:r>
            <a:pPr indent="0" marL="0">
              <a:lnSpc>
                <a:spcPct val="102000"/>
              </a:lnSpc>
              <a:buNone/>
            </a:pPr>
            <a:r>
              <a:rPr lang="en-US" sz="4000" i="1" dirty="0">
                <a:solidFill>
                  <a:srgbClr val="EFE8D6"/>
                </a:solidFill>
                <a:latin typeface="Newsreader" pitchFamily="34" charset="0"/>
                <a:ea typeface="Newsreader" pitchFamily="34" charset="-122"/>
                <a:cs typeface="Newsreader" pitchFamily="34" charset="-120"/>
              </a:rPr>
              <a:t>have skipped.</a:t>
            </a:r>
            <a:endParaRPr lang="en-US" sz="4000" dirty="0"/>
          </a:p>
        </p:txBody>
      </p:sp>
      <p:sp>
        <p:nvSpPr>
          <p:cNvPr id="6" name="Text 4"/>
          <p:cNvSpPr txBox="1"/>
          <p:nvPr/>
        </p:nvSpPr>
        <p:spPr>
          <a:xfrm>
            <a:off x="512064" y="3657600"/>
            <a:ext cx="8138160" cy="1234440"/>
          </a:xfrm>
          <a:prstGeom prst="rect">
            <a:avLst/>
          </a:prstGeom>
          <a:noFill/>
          <a:ln/>
        </p:spPr>
        <p:txBody>
          <a:bodyPr wrap="square" lIns="0" tIns="0" rIns="0" bIns="0" rtlCol="0" anchor="t"/>
          <a:lstStyle/>
          <a:p>
            <a:pPr algn="l" indent="0" marL="0">
              <a:lnSpc>
                <a:spcPct val="112000"/>
              </a:lnSpc>
              <a:buNone/>
            </a:pPr>
            <a:r>
              <a:rPr lang="en-US" sz="1150" dirty="0">
                <a:solidFill>
                  <a:srgbClr val="B3AE9F"/>
                </a:solidFill>
                <a:latin typeface="Newsreader" pitchFamily="34" charset="0"/>
                <a:ea typeface="Newsreader" pitchFamily="34" charset="-122"/>
                <a:cs typeface="Newsreader" pitchFamily="34" charset="-120"/>
              </a:rPr>
              <a:t>If the knockout silences, Silvec holds a documented design rule — virions that can't ride vectors — beside CYVaV's capsid-free architecture: the biocontainment story, written in data, for the regulatory and commercial road ahead. If it fails, the failure is bounded, blinded, and written down in advance. Either way the week cost less than the wrong construct series would have.</a:t>
            </a:r>
            <a:endParaRPr lang="en-US" sz="1150" dirty="0"/>
          </a:p>
        </p:txBody>
      </p:sp>
      <p:sp>
        <p:nvSpPr>
          <p:cNvPr id="7" name="Text 5"/>
          <p:cNvSpPr txBox="1"/>
          <p:nvPr/>
        </p:nvSpPr>
        <p:spPr>
          <a:xfrm>
            <a:off x="512064" y="5120640"/>
            <a:ext cx="5486400" cy="365760"/>
          </a:xfrm>
          <a:prstGeom prst="rect">
            <a:avLst/>
          </a:prstGeom>
          <a:noFill/>
          <a:ln/>
        </p:spPr>
        <p:txBody>
          <a:bodyPr wrap="square" lIns="0" tIns="0" rIns="0" bIns="0" rtlCol="0" anchor="t"/>
          <a:lstStyle/>
          <a:p>
            <a:pPr algn="l" indent="0" marL="0">
              <a:lnSpc>
                <a:spcPct val="104000"/>
              </a:lnSpc>
              <a:buNone/>
            </a:pPr>
            <a:r>
              <a:rPr lang="en-US" sz="1400" i="1" dirty="0">
                <a:solidFill>
                  <a:srgbClr val="E89C42"/>
                </a:solidFill>
                <a:latin typeface="Newsreader" pitchFamily="34" charset="0"/>
                <a:ea typeface="Newsreader" pitchFamily="34" charset="-122"/>
                <a:cs typeface="Newsreader" pitchFamily="34" charset="-120"/>
              </a:rPr>
              <a:t>Start with the alignment  →</a:t>
            </a:r>
            <a:endParaRPr lang="en-US" sz="1400" dirty="0"/>
          </a:p>
        </p:txBody>
      </p:sp>
      <p:sp>
        <p:nvSpPr>
          <p:cNvPr id="8" name="Shape 6"/>
          <p:cNvSpPr/>
          <p:nvPr/>
        </p:nvSpPr>
        <p:spPr>
          <a:xfrm>
            <a:off x="512064" y="5760720"/>
            <a:ext cx="11167567" cy="0"/>
          </a:xfrm>
          <a:prstGeom prst="line">
            <a:avLst/>
          </a:prstGeom>
          <a:noFill/>
          <a:ln w="9525">
            <a:solidFill>
              <a:srgbClr val="403D35"/>
            </a:solidFill>
            <a:prstDash val="solid"/>
          </a:ln>
        </p:spPr>
      </p:sp>
      <p:sp>
        <p:nvSpPr>
          <p:cNvPr id="9" name="Text 7"/>
          <p:cNvSpPr txBox="1"/>
          <p:nvPr/>
        </p:nvSpPr>
        <p:spPr>
          <a:xfrm>
            <a:off x="512064" y="6336792"/>
            <a:ext cx="7680960" cy="182880"/>
          </a:xfrm>
          <a:prstGeom prst="rect">
            <a:avLst/>
          </a:prstGeom>
          <a:noFill/>
          <a:ln/>
        </p:spPr>
        <p:txBody>
          <a:bodyPr wrap="square" lIns="0" tIns="0" rIns="0" bIns="0" rtlCol="0" anchor="ctr"/>
          <a:lstStyle/>
          <a:p>
            <a:pPr indent="0" marL="0">
              <a:buNone/>
            </a:pPr>
            <a:r>
              <a:rPr lang="en-US" sz="650" spc="160" kern="0" dirty="0">
                <a:solidFill>
                  <a:srgbClr val="B3AE9F"/>
                </a:solidFill>
                <a:latin typeface="JetBrains Mono" pitchFamily="34" charset="0"/>
                <a:ea typeface="JetBrains Mono" pitchFamily="34" charset="-122"/>
                <a:cs typeface="JetBrains Mono" pitchFamily="34" charset="-120"/>
              </a:rPr>
              <a:t>SILVEC BIOLOGICS · TRANSMISSION-DEAD CTV · 2026 · CONFIDENTIAL</a:t>
            </a:r>
            <a:endParaRPr lang="en-US" sz="650" dirty="0"/>
          </a:p>
        </p:txBody>
      </p:sp>
      <p:sp>
        <p:nvSpPr>
          <p:cNvPr id="10" name="Text 8"/>
          <p:cNvSpPr txBox="1"/>
          <p:nvPr/>
        </p:nvSpPr>
        <p:spPr>
          <a:xfrm>
            <a:off x="6199632" y="6336792"/>
            <a:ext cx="5486400" cy="182880"/>
          </a:xfrm>
          <a:prstGeom prst="rect">
            <a:avLst/>
          </a:prstGeom>
          <a:noFill/>
          <a:ln/>
        </p:spPr>
        <p:txBody>
          <a:bodyPr wrap="square" lIns="0" tIns="0" rIns="0" bIns="0" rtlCol="0" anchor="ctr"/>
          <a:lstStyle/>
          <a:p>
            <a:pPr algn="r" indent="0" marL="0">
              <a:buNone/>
            </a:pPr>
            <a:r>
              <a:rPr lang="en-US" sz="650" spc="160" kern="0" dirty="0">
                <a:solidFill>
                  <a:srgbClr val="B3AE9F"/>
                </a:solidFill>
                <a:latin typeface="JetBrains Mono" pitchFamily="34" charset="0"/>
                <a:ea typeface="JetBrains Mono" pitchFamily="34" charset="-122"/>
                <a:cs typeface="JetBrains Mono" pitchFamily="34" charset="-120"/>
              </a:rPr>
              <a:t>FULL DETAIL: TRIAL-003 DECK</a:t>
            </a:r>
            <a:endParaRPr lang="en-US" sz="6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Transmission-dead CTV — executive summary</dc:title>
  <dc:subject>PptxGenJS Presentation</dc:subject>
  <dc:creator>Silvec Biologics</dc:creator>
  <cp:lastModifiedBy>Silvec Biologics</cp:lastModifiedBy>
  <cp:revision>1</cp:revision>
  <dcterms:created xsi:type="dcterms:W3CDTF">2026-09-05T21:36:33Z</dcterms:created>
  <dcterms:modified xsi:type="dcterms:W3CDTF">2026-09-05T21:36:33Z</dcterms:modified>
</cp:coreProperties>
</file>
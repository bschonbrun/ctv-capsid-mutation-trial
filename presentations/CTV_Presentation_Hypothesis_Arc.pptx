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CTV Aphid-Transmission Biocontainment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From Hypothesis to Data-Driven Direction</a:t>
            </a:r>
          </a:p>
          <a:p>
            <a:r>
              <a:t>A Learning Arc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6699"/>
          </a:solidFill>
          <a:ln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Goal: Disable aphid transmission while preserving plant-internal movement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Challenge: CTV virion has evolved a specific interaction with Toxoptera citricida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(brown citrus aphid) — the sole vector for plant-to-plant transmission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Question: Which capsid protein(s) are the recognition ligands,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and which mutations would disrupt the vector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without breaking virion assembly or movement?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Initial Hypothesis: CPm (p27)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CPm (minor coat protein, 240 aa) is the vector-binding determinant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Supporting evidence: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CPm contains carbohydrate-binding domains (Killiny et al. 2016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Exposed on virion surface; positioned for vector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CPm variation correlates with vector specificity in other viruses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Appeal: Single small protein, mechanistically plausible, experimental precedent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Testing the CPm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Approach: Compare CPm sequences between isolates with known transmission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Reference isolates: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T68-1 (JQ965169): 44% transmission ← HIGH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FS577 (KC517488): 24% transmission ← MEDIUM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T30 (AF260651): 1.57% transmission ← 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T36 field (U16304): 1.5% transmission ←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If CPm is the determinant, it should vary between high and low transmitters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3232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CPm sequence alignment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FS577 vs T36:  240/240 amino acids identical (100%)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Yet: FS577 transmits 24.1%, T36 transmits 1.5%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Difference: 16-fold variation in transmission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Logical consequence: CPm sequence variation ≠ transmission difference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The CPm hypothesis is FALSIFIED.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3232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CPm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If CPm is 100% identical but transmission differs 16-fold,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then CPm sequence variation cannot be the sufficient determinant.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This does NOT prove CPm is uninvolved, but it proves: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✗ CPm alone does not explain transmission variation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✗ The vector-binding determinant must be elsewhere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✗ Focus must shift to other proteins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Next question: Which other protein(s) drive transmission?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28232"/>
          </a:solidFill>
          <a:ln>
            <a:solidFill>
              <a:srgbClr val="32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Pivot: p33 as Primary Determinant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Evidence for p33: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Literature (Shilts &amp; Killiny 2020):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T36 + T68-1 p33 swap: transmission 1.5% → 17.8%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Estimated: p33 drives ~77% of transmission gain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Our sequence census: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p33 differs between high/low transmitters (unlike CPm)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Mechanism (PLOS Pathogens 2025):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p33 is a viroporin (ion channel)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Induces K⁺ and Na⁺ currents → affects replication → transmission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28232"/>
          </a:solidFill>
          <a:ln>
            <a:solidFill>
              <a:srgbClr val="32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p33 Functions as a Viroporin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2025 breakthrough: p33 is a Class I viroporin (ion channel)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Evidence: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Structural similarity to known viroporin Class I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Two-electrode voltage clamp in Xenopus oocytes: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 - Strong inward K⁺ and Na⁺ currents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 - Membrane remodeling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Mechanistic implication: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p33 mutations → altered ion homeostasis → viral fitness → transmission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28232"/>
          </a:solidFill>
          <a:ln>
            <a:solidFill>
              <a:srgbClr val="32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K174R: The Candidate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Shilts et al. 2026 (Virology):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CTV-T36 triple-deletion backbone (Δp33 Δp18 Δp13)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Complemented with FS577 versions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Result: transmission 0.6% → up to 50%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Key finding: Only p33 differs — at K174R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BUT: K174 is rare in nature (3.2% of 125 GenBank sequences)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   High-transmitters (T68-1, FS577) all have R174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Meaning: K174R is necessary but not sufficient — requires p61 &amp; p65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28232"/>
          </a:solidFill>
          <a:ln>
            <a:solidFill>
              <a:srgbClr val="32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Full Picture: Coordinated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Shilts et al. 2026 conclusion: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'Efficient aphid transmission requires coordinated roles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of p33, p61, and p65'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NOT: p33 alone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BUT: p33 + p61 + p65 working together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Engineering direction: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Design mutations to disrupt the p33+p61+p65 complex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while preserving individual protein fold &amp; interaction with host factors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12-Week 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Stage 0 (Weeks 1-4): Viability screening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K174R mutations + variant combinations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Protoplast transient expression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Gate: ≥80% titer vs wild-type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Stage 1 (Weeks 5-9): Aphid transmission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Nicotiana benthamiana + A. citricida feeding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Target: Reduce transmission below 0.5%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Stage 2 (Weeks 10-12): Citrus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Graft experiments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Systemic movement &amp; virion assembly confirmation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Insights for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Data drives direction: CPm ruled out by direct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Multiple mechanisms matter: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Not just protein-protein binding (vector interaction)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But also ion homeostasis (viroporin function)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Single mutations may not suffice: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K174R must be paired with p61 &amp; p65 mutations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Literature + sequence + mechanism →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Verification gates at weeks 4 and 9 allow early exit if outcomes poor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6432"/>
          </a:solidFill>
          <a:ln>
            <a:solidFill>
              <a:srgbClr val="B4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Verification Status (Transparency)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[VERIFIED via fetch]: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CPm 100% identical (our alignment)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Shilts 2020: p33 swap → 17.8% transmission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p33 viroporin mechanism (PLOS Pathogens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[CITED but unfetched]: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⚠ Shilts et al. 2026: K174R and 50% transmission claim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[NEEDS MANUAL CHECK]: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? Exact transmission % for each isolate (user to confirm)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55"/>
                </a:solidFill>
              </a:defRPr>
            </a:pPr>
            <a:r>
              <a:t>How firm is each claim?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Fetched full text — firmest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p33 swap 1.5% → 17.8%; transmission rates 44.18% / 1.57% / 1.5%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Shilts et al. 2020, Viruses 12:1131 · doi 10.3390/v12101131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p33 is a viroporin: K+/Na+ currents, membrane remodelling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Aknadibossian et al. 2025, PLOS Pathog 21:e1013730 · doi 10.1371/journal.ppat.1013730</a:t>
            </a:r>
          </a:p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Abstract only — methods unread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~50% from ~0.6%; K174R sole differing residue; P33+P61+P65 coordination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Shilts, Nehela &amp; Killiny 2026, Virology 621:110928 · doi 10.1016/j.virol.2026.110928 · PMID 42061270</a:t>
            </a:r>
          </a:p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Known only by quotation in another paper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p65+p61 swap 0.6% → 18% — Harper et al. 2016, Arch Virol 161:3555 · doi 10.1007/s00705-016-3070-x</a:t>
            </a:r>
          </a:p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Our own analysis — reproducible, not peer reviewed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CPm 240/240 identical; p33 295/302; R174 in 121/125 genomes (96.8%)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55"/>
                </a:solidFill>
              </a:defRPr>
            </a:pPr>
            <a:r>
              <a:t>Read the denominators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The percentages carry fewer significant figures than they appear to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T36 1.5% is one positive plant out of 66 — 95% CI roughly 0–8%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T30 1.57% is two out of 127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T68-1 44.18% is 95 out of 215 — this one is well determined</a:t>
            </a:r>
          </a:p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Consequence for us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Say 'low single digits', not '1.5%', when the distinction matters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A construct scoring 5% is not distinguishable from baseline at these n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Power the first transmission trial for the effect size we need to detect</a:t>
            </a:r>
          </a:p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Two baselines are in circulation and are not interchangeable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1.5% = Shilts et al. 2020 clone · 0.6% = Harper et al. 2016 lineage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55"/>
                </a:solidFill>
              </a:defRPr>
            </a:pPr>
            <a:r>
              <a:t>Corrections applied to this document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Five errors were found and fixed — recorded so they are not reintroduced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p33 identity reported as 44.7% from an ungapped comparison across an indel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→ proper gapped alignment gives 98.7% (295/302)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Residue 174 first called off field isolate U16304, whose p33 frame differs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→ use infectious clone EU937521 for residue calls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2026 Virology paper cited 67× as 'Harper et al. 2026'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→ authors are Shilts, Nehela &amp; Killiny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AEM foregut-binding paper cited 24× as 'Prado et al. 2016'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→ authors are Killiny, Harper, Alfaress, El Mohtar &amp; Dawson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p61/p65 written up as a fallback if p33 fails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→ the 2026 abstract presents them as required partners, not alternatives</a:t>
            </a:r>
          </a:p>
          <a:p>
            <a:pPr>
              <a:spcAft>
                <a:spcPts val="700"/>
              </a:spcAft>
              <a:defRPr sz="1500" b="1">
                <a:solidFill>
                  <a:srgbClr val="1E1E1E"/>
                </a:solidFill>
              </a:defRPr>
            </a:pPr>
            <a:r>
              <a:t>Four earlier CPm-target decks remain in the project and are SUPERSEDED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CTV_CPm_Mutation_Hypothesis_UPDATED · Capsid_Mutation_Trial_FULL /</a:t>
            </a:r>
          </a:p>
          <a:p>
            <a:pPr lvl="1">
              <a:spcAft>
                <a:spcPts val="700"/>
              </a:spcAft>
              <a:defRPr sz="1300" b="0">
                <a:solidFill>
                  <a:srgbClr val="5A5A5A"/>
                </a:solidFill>
              </a:defRPr>
            </a:pPr>
            <a:r>
              <a:t>_EXECUTIVE_SUMMARY / _REVISED — do not circulate; CPm premise is falsified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
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95"/>
    <p:restoredTop sz="94610"/>
  </p:normalViewPr>
  <p:slideViewPr>
    <p:cSldViewPr snapToGrid="0" snapToObjects="1">
      <p:cViewPr varScale="1">
        <p:scale>
          <a:sx n="206" d="100"/>
          <a:sy n="206" d="100"/>
        </p:scale>
        <p:origin x="12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7973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Verdict: the target is CTV's minor-CP tail complex, not the coat. Eleven substitutions, published evidence in one direction.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question as posed. Note the capsid presumption — slide 7 is where that gets corrected.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Part one: the hypothesis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panels: what nature already showed, what to change, and the one experiment that decides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Six numbers from the record. The 35.7% complementation result is why every assay is single-genotype.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jobs: knockout, residue map, platform principle. Only the first is committed.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aphid reads the tail: p27 placed by p65 and p61. Free p25 does not compete binding at the cibarium.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Part two: the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of five prerequisites in hand; the fifth is access to a transmissible backbone clone.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Harper 2016: the pair reaches 17.9% vs 0.6% baseline at unchanged titer. Inverse never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Potyvirus/CMV motifs do not transfer. LIYV is the one real analogue.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Eleven residues unresolved; p33 is the known third factor, deferred unless residual signal appears.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clones kill the hypothesis; four resolve it. ~250 plants per arm matches Harper's own power.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Part three: the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Amplifiers: residue map, second backbone, days-scale binding screen, the CYVaV platform parallel.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Fatal: no silencing. Weakens: mixed-infection rescue; titer loss. Both known before cloning starts.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Six data rules for a credible transmission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Hard blockers announce themselves; silent degraders — drift, unmeasured titer, mixed trees — do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Q1 is the gate. Q3 sizes the design space. Q4 buys the fast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Part four: the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Stage 0 is two weeks of alignment and design; nothing living is touched before it passes.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Commit only to levels 01-02. The rest is the reason to start, not a promise.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Blinding and pre-registration are what make a positive result reportable.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Left column: one scientist, this week. Right column: the reason to run the trial.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Stating the limits is what makes the positive claims credible. No release is proposed.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ask: confirm the three inputs, then two weeks of alignment before anything is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8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8406" y="35570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43" dirty="0">
                <a:solidFill>
                  <a:srgbClr val="8F8A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1289" y="35570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kern="0" spc="143" dirty="0">
                <a:solidFill>
                  <a:srgbClr val="8F8A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HYPOTHESIS · TRIAL · 002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08406" y="127010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68" dirty="0">
                <a:solidFill>
                  <a:srgbClr val="E89C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/ QUESTION · TRANSMISSION-DEAD VIRIONS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08406" y="1691640"/>
            <a:ext cx="10607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6200"/>
              </a:lnSpc>
              <a:buNone/>
            </a:pPr>
            <a:r>
              <a:rPr lang="en-US" sz="6200" dirty="0">
                <a:solidFill>
                  <a:srgbClr val="EFE8D6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capsid question,
</a:t>
            </a:r>
            <a:r>
              <a:rPr lang="en-US" sz="6200" i="1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answered behind the capsid.</a:t>
            </a:r>
            <a:endParaRPr lang="en-US" sz="6200" dirty="0"/>
          </a:p>
        </p:txBody>
      </p:sp>
      <p:sp>
        <p:nvSpPr>
          <p:cNvPr id="6" name="Text 4"/>
          <p:cNvSpPr txBox="1"/>
          <p:nvPr/>
        </p:nvSpPr>
        <p:spPr>
          <a:xfrm>
            <a:off x="508406" y="434340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600" dirty="0">
                <a:solidFill>
                  <a:srgbClr val="EFE8D6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Nine substitutions in p61, two in p65 — the chaperones that build the aphid-facing virion tail — keep CTV assembling and moving inside the plant while making it unreadable to T. citricida. The phenotype exists in nature; the trial asks if design can copy it.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8406" y="5623560"/>
            <a:ext cx="11174882" cy="0"/>
          </a:xfrm>
          <a:prstGeom prst="line">
            <a:avLst/>
          </a:prstGeom>
          <a:noFill/>
          <a:ln w="9525">
            <a:solidFill>
              <a:srgbClr val="403D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08406" y="631941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43" dirty="0">
                <a:solidFill>
                  <a:srgbClr val="8F8A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PREPARED FOR THE SILVEC TEAM</a:t>
            </a:r>
            <a:endParaRPr lang="en-US" sz="650" dirty="0"/>
          </a:p>
        </p:txBody>
      </p:sp>
      <p:sp>
        <p:nvSpPr>
          <p:cNvPr id="9" name="Text 7"/>
          <p:cNvSpPr txBox="1"/>
          <p:nvPr/>
        </p:nvSpPr>
        <p:spPr>
          <a:xfrm>
            <a:off x="6196889" y="631941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kern="0" spc="143" dirty="0">
                <a:solidFill>
                  <a:srgbClr val="8F8A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HARPER ET AL. 2016 · KILLINY ET AL. 2016 · GENBANK KC517488 / AY170468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8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8406" y="35570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43" dirty="0">
                <a:solidFill>
                  <a:srgbClr val="8F8A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1289" y="35570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kern="0" spc="143" dirty="0">
                <a:solidFill>
                  <a:srgbClr val="8F8A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26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398678" y="658368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0" i="1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“</a:t>
            </a:r>
            <a:endParaRPr lang="en-US" sz="16000" dirty="0"/>
          </a:p>
        </p:txBody>
      </p:sp>
      <p:sp>
        <p:nvSpPr>
          <p:cNvPr id="5" name="Text 3"/>
          <p:cNvSpPr txBox="1"/>
          <p:nvPr/>
        </p:nvSpPr>
        <p:spPr>
          <a:xfrm>
            <a:off x="508406" y="196596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00"/>
              </a:lnSpc>
              <a:buNone/>
            </a:pPr>
            <a:r>
              <a:rPr lang="en-US" sz="2600" dirty="0">
                <a:solidFill>
                  <a:srgbClr val="EFE8D6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What mutation(s) to a capsid still makes a functional virion with respect to self-assembly and internal plant movement, but would make it incompatible to an insect vector — disabling plant-to-plant movement?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08406" y="3711964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00"/>
              </a:lnSpc>
              <a:buNone/>
            </a:pPr>
            <a:r>
              <a:rPr lang="en-US" sz="1500" i="1" dirty="0">
                <a:solidFill>
                  <a:srgbClr val="B3AE9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As a first trial, do this for Citrus tristeza virus, to deactivate aphid transmission.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08406" y="44805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40" dirty="0">
                <a:solidFill>
                  <a:srgbClr val="9E9A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THE QUESTION · AS POSED · SEPTEMBER 2026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08406" y="4983480"/>
            <a:ext cx="11174882" cy="0"/>
          </a:xfrm>
          <a:prstGeom prst="line">
            <a:avLst/>
          </a:prstGeom>
          <a:noFill/>
          <a:ln w="9525">
            <a:solidFill>
              <a:srgbClr val="403D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08406" y="52120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40" dirty="0">
                <a:solidFill>
                  <a:srgbClr val="E89C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 /  THE HYPOTHESIS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3306470" y="52120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40" dirty="0">
                <a:solidFill>
                  <a:srgbClr val="E89C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 /  THE EVIDENCE</a:t>
            </a:r>
            <a:endParaRPr lang="en-US" sz="700" dirty="0"/>
          </a:p>
        </p:txBody>
      </p:sp>
      <p:sp>
        <p:nvSpPr>
          <p:cNvPr id="11" name="Text 9"/>
          <p:cNvSpPr txBox="1"/>
          <p:nvPr/>
        </p:nvSpPr>
        <p:spPr>
          <a:xfrm>
            <a:off x="6104534" y="52120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40" dirty="0">
                <a:solidFill>
                  <a:srgbClr val="E89C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 /  THE CONDITIONS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8902598" y="52120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40" dirty="0">
                <a:solidFill>
                  <a:srgbClr val="E89C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 /  THE PLAN</a:t>
            </a:r>
            <a:endParaRPr lang="en-US" sz="700" dirty="0"/>
          </a:p>
        </p:txBody>
      </p:sp>
      <p:sp>
        <p:nvSpPr>
          <p:cNvPr id="13" name="Text 11"/>
          <p:cNvSpPr txBox="1"/>
          <p:nvPr/>
        </p:nvSpPr>
        <p:spPr>
          <a:xfrm>
            <a:off x="508406" y="631941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43" dirty="0">
                <a:solidFill>
                  <a:srgbClr val="8F8A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BIOLOGICS · CONFIDENTIAL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E8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8406" y="35570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1289" y="35570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26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362102" y="137160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01</a:t>
            </a:r>
            <a:endParaRPr lang="en-US" sz="21000" dirty="0"/>
          </a:p>
        </p:txBody>
      </p:sp>
      <p:sp>
        <p:nvSpPr>
          <p:cNvPr id="5" name="Text 3"/>
          <p:cNvSpPr txBox="1"/>
          <p:nvPr/>
        </p:nvSpPr>
        <p:spPr>
          <a:xfrm>
            <a:off x="4206240" y="22860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68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ONE OF FOUR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26060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8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hypothesis.</a:t>
            </a:r>
            <a:endParaRPr lang="en-US" sz="58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36576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What a transmission-dead CTV looks like genetically, why the major coat protein is the wrong target, and what Silvec's own capsid-free platform already knows about this problem.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E8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8406" y="35570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1289" y="35570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26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08406" y="11430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68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/ ANSWER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08406" y="1453896"/>
            <a:ext cx="106262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8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Specific — eleven substitutions, two proteins.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08406" y="207568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question as posed has a precise answer, and it is not a coat-protein mutation. In CTV the aphid reads the virion's minor-coat-protein tail, and the transmission difference between two near-identical isolates is already mapped to two genes.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8406" y="3063240"/>
            <a:ext cx="11174882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08406" y="3291840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68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WHAT'S ALREADY SHOWN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508406" y="3611880"/>
            <a:ext cx="3419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phenotype exists</a:t>
            </a:r>
            <a:endParaRPr lang="en-US" sz="2200" dirty="0"/>
          </a:p>
          <a:p>
            <a:pPr marL="0" indent="0">
              <a:lnSpc>
                <a:spcPts val="2700"/>
              </a:lnSpc>
              <a:buNone/>
            </a:pPr>
            <a:r>
              <a:rPr lang="en-US" sz="22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in nature.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08406" y="4572000"/>
            <a:ext cx="32826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Greenhouse T36: systemic infection, full titer, 0.6% aphid transmission. Field isolate FS577: same strain lineage, 24%. The capsid proteins are essentially identical.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56862" y="3200400"/>
            <a:ext cx="0" cy="251460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385462" y="3291840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68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TO CHANGE</a:t>
            </a:r>
            <a:endParaRPr lang="en-US" sz="700" dirty="0"/>
          </a:p>
        </p:txBody>
      </p:sp>
      <p:sp>
        <p:nvSpPr>
          <p:cNvPr id="13" name="Text 11"/>
          <p:cNvSpPr txBox="1"/>
          <p:nvPr/>
        </p:nvSpPr>
        <p:spPr>
          <a:xfrm>
            <a:off x="4385462" y="3611880"/>
            <a:ext cx="3419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p61 and p65,</a:t>
            </a:r>
            <a:endParaRPr lang="en-US" sz="2200" dirty="0"/>
          </a:p>
          <a:p>
            <a:pPr marL="0" indent="0">
              <a:lnSpc>
                <a:spcPts val="2700"/>
              </a:lnSpc>
              <a:buNone/>
            </a:pPr>
            <a:r>
              <a:rPr lang="en-US" sz="22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together or not at all.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385462" y="4572000"/>
            <a:ext cx="32826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Nine substitutions in p61 and two in p65, moved as a pair — alone each gives 2–4% transmission, together 18%. p27 and p25 stay wild type: the coat is not the interface.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33918" y="3200400"/>
            <a:ext cx="0" cy="251460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262518" y="3291840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68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DECIDES IT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8262518" y="3611880"/>
            <a:ext cx="3419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One experiment</a:t>
            </a:r>
            <a:endParaRPr lang="en-US" sz="2200" dirty="0"/>
          </a:p>
          <a:p>
            <a:pPr marL="0" indent="0">
              <a:lnSpc>
                <a:spcPts val="2700"/>
              </a:lnSpc>
              <a:buNone/>
            </a:pPr>
            <a:r>
              <a:rPr lang="en-US" sz="22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settles it.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262518" y="4572000"/>
            <a:ext cx="32826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Harper et al. ran the swap in the healing direction. The inverse — T36 alleles silencing a transmissible backbone — is the real knockout, and it has never been run. If it fails, the hypothesis dies cheap.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08406" y="631941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ONE CAVEAT · GAIN-OF-TRANSMISSION IS PROVEN; THE LOSS-OF-TRANSMISSION KNOCKOUT IS NOT — SEE SLIDE 10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E8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8406" y="35570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1289" y="35570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26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08406" y="9601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68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/ WE CAN SEE ALREADY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08406" y="1271016"/>
            <a:ext cx="106262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8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Six findings already on the record.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08406" y="189280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All of it drawn from two published papers and two GenBank accessions — no lab work. Together they define the trial.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8406" y="2788920"/>
            <a:ext cx="11174882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08406" y="2990088"/>
            <a:ext cx="3419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0.6%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508406" y="3593592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4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transmission of the T36 clone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508406" y="3831336"/>
            <a:ext cx="3236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One plant in 172 infected via T. citricida — under a protocol where field isolate FS577 scored 24%.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56862" y="2788920"/>
            <a:ext cx="0" cy="146304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385462" y="2990088"/>
            <a:ext cx="3419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17.9%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4385462" y="3593592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4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restored by two genes, not one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4385462" y="3831336"/>
            <a:ext cx="3236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FS577 p65+p61 into the T36 clone. Either alone gave 2–4%; the pair matched field rates at unchanged titer.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33918" y="2788920"/>
            <a:ext cx="0" cy="146304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262518" y="2990088"/>
            <a:ext cx="3419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11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8262518" y="3593592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4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residues distinguish the pair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8262518" y="3831336"/>
            <a:ext cx="3236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Nine in p61, two in p65 — the chaperones that build the CPm tail. Minor coat protein p27 is identical between the isolates.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8406" y="4480560"/>
            <a:ext cx="11174882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508406" y="4681728"/>
            <a:ext cx="3419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508406" y="5285232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4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changes needed in the capsid itself</a:t>
            </a:r>
            <a:endParaRPr lang="en-US" sz="700" dirty="0"/>
          </a:p>
        </p:txBody>
      </p:sp>
      <p:sp>
        <p:nvSpPr>
          <p:cNvPr id="22" name="Text 20"/>
          <p:cNvSpPr txBox="1"/>
          <p:nvPr/>
        </p:nvSpPr>
        <p:spPr>
          <a:xfrm>
            <a:off x="508406" y="5522976"/>
            <a:ext cx="3236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p25 and p27 stay wild type in trial 1. The 'capsid mutation' is two chaperone genes gating the virion's aphid handle.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56862" y="4480560"/>
            <a:ext cx="0" cy="146304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4385462" y="4681728"/>
            <a:ext cx="3419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35.7%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4385462" y="5285232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4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T36 transmission from mixed infections</a:t>
            </a:r>
            <a:endParaRPr lang="en-US" sz="700" dirty="0"/>
          </a:p>
        </p:txBody>
      </p:sp>
      <p:sp>
        <p:nvSpPr>
          <p:cNvPr id="26" name="Text 24"/>
          <p:cNvSpPr txBox="1"/>
          <p:nvPr/>
        </p:nvSpPr>
        <p:spPr>
          <a:xfrm>
            <a:off x="4385462" y="5522976"/>
            <a:ext cx="3236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Co-infecting genotypes complement each other. Single-genotype trees are the only valid assay design.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033918" y="4480560"/>
            <a:ext cx="0" cy="146304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8262518" y="4681728"/>
            <a:ext cx="3419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</a:t>
            </a:r>
            <a:endParaRPr lang="en-US" sz="4000" dirty="0"/>
          </a:p>
        </p:txBody>
      </p:sp>
      <p:sp>
        <p:nvSpPr>
          <p:cNvPr id="29" name="Text 27"/>
          <p:cNvSpPr txBox="1"/>
          <p:nvPr/>
        </p:nvSpPr>
        <p:spPr>
          <a:xfrm>
            <a:off x="8262518" y="5285232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4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existence proof in a sister family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8262518" y="5522976"/>
            <a:ext cx="3236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LIYV minor-CP mutant moved systemically in plants but was never whitefly-transmitted. The split is real — and general.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08406" y="631941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TWO PAPERS · TWO ACCESSIONS · NO LAB WORK</a:t>
            </a:r>
            <a:endParaRPr lang="en-US" sz="650" dirty="0"/>
          </a:p>
        </p:txBody>
      </p:sp>
      <p:sp>
        <p:nvSpPr>
          <p:cNvPr id="32" name="Text 30"/>
          <p:cNvSpPr txBox="1"/>
          <p:nvPr/>
        </p:nvSpPr>
        <p:spPr>
          <a:xfrm>
            <a:off x="6196889" y="631941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EVERY NUMBER HERE IS A CLAIM THE TRIAL HAS TO HOLD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E8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8406" y="35570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1289" y="35570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26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08406" y="11430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68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/ THREE JOBS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08406" y="1453896"/>
            <a:ext cx="106262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8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What testing the hypothesis actually means.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08406" y="207568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Three concrete jobs, in sequence. They carry different risk and different value — and only the first is a commitment.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8406" y="2926080"/>
            <a:ext cx="11174882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08406" y="31638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6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1377086" y="3108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Run the knockout.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760720" y="3108960"/>
            <a:ext cx="5897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Move the T36 alleles of p61 and p65, as a pair, into a transmissible infectious clone — FS577 or T68. Confirm systemic infection at parental titer, then score aphid transmission. Harper proved the gain; this proves the loss.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8406" y="3950208"/>
            <a:ext cx="11174882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08406" y="4187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6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377086" y="41330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Resolve the eleven residues.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760720" y="4133088"/>
            <a:ext cx="5897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paired swap proves the gate exists but not which residues hold it. A staged panel — blocks, then singles — turns one knockout into a design rule for the whole family.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8406" y="4974336"/>
            <a:ext cx="11174882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08406" y="5212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6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377086" y="515721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Prove the principle Silvec ships.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5157216"/>
            <a:ext cx="5897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CYVaV has no capsid at all — vector-incompatible by architecture. A designed transmission-dead CTV is the same biocontainment logic, engineered point by point into a virus that does have one.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8406" y="5998464"/>
            <a:ext cx="11174882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508406" y="631941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JOB 01 IS THE GATE · JOB 03 IS WHY SILVEC SHOULD CARE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E8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8406" y="35570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1289" y="35570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26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08406" y="11430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68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/ THIS PROBLEM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08406" y="1453896"/>
            <a:ext cx="106262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8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instinct in the question is the right one.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08406" y="207568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question presumes the capsid is the target — right by complex, wrong by protein. CTV's transmission interface is the virion's minor-coat-protein assembly, not its major coat.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8406" y="301752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68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NOT THE MAJOR COAT PROTEIN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508406" y="33375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p25: the body, and the decoy.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08406" y="41605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p25 coats ~95% of the RNA and doubles as the silencing suppressor. Mutating its surface risks assembly and titer — and the aphid never reads it: free p25 does not compete virion binding.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397142" y="301752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68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THE TAIL IS THE TARGET</a:t>
            </a:r>
            <a:endParaRPr lang="en-US" sz="700" dirty="0"/>
          </a:p>
        </p:txBody>
      </p:sp>
      <p:sp>
        <p:nvSpPr>
          <p:cNvPr id="11" name="Text 9"/>
          <p:cNvSpPr txBox="1"/>
          <p:nvPr/>
        </p:nvSpPr>
        <p:spPr>
          <a:xfrm>
            <a:off x="6397142" y="33375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p27 / CPm, placed by two chaperones.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397142" y="41605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p27 coats ~630 nt at the 5′ end; p65 (HSP70h) and p61 assemble it there. Free p27, p61 and p65 all compete virion binding at the aphid cibarium — that is the docking site.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88736" y="2971800"/>
            <a:ext cx="0" cy="228600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8406" y="5440680"/>
            <a:ext cx="11174882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08406" y="5596128"/>
            <a:ext cx="108091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Silvec's own platform is the extreme case of this rule: CYVaV is a non-encapsidated RNA — no capsid, no virion, no insect phase by default. This trial asks whether closterovirus genetics can engineer the same property into a capsidated virus, eleven substitutions at a time.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8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8406" y="35570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43" dirty="0">
                <a:solidFill>
                  <a:srgbClr val="8F8A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1289" y="35570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kern="0" spc="143" dirty="0">
                <a:solidFill>
                  <a:srgbClr val="8F8A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26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6095848" y="1270102"/>
            <a:ext cx="0" cy="3840480"/>
          </a:xfrm>
          <a:prstGeom prst="line">
            <a:avLst/>
          </a:prstGeom>
          <a:noFill/>
          <a:ln w="9525">
            <a:solidFill>
              <a:srgbClr val="403D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08406" y="127010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20" dirty="0">
                <a:solidFill>
                  <a:srgbClr val="E89C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08406" y="274320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5800" dirty="0">
                <a:solidFill>
                  <a:srgbClr val="EFE8D6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evidence.</a:t>
            </a:r>
            <a:endParaRPr lang="en-US" sz="5800" dirty="0"/>
          </a:p>
        </p:txBody>
      </p:sp>
      <p:sp>
        <p:nvSpPr>
          <p:cNvPr id="7" name="Text 5"/>
          <p:cNvSpPr txBox="1"/>
          <p:nvPr/>
        </p:nvSpPr>
        <p:spPr>
          <a:xfrm>
            <a:off x="508406" y="420624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68" dirty="0">
                <a:solidFill>
                  <a:srgbClr val="E89C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TWO OF FOUR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6607912" y="265176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600" dirty="0">
                <a:solidFill>
                  <a:srgbClr val="B3AE9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swap series that proves one direction, the binding assays that name the interface, the literature that does not transfer — and what the numbers say about trial size.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E8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8406" y="35570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1289" y="35570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26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08406" y="11430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68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TIER 1 / PREREQUISITES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08406" y="1453896"/>
            <a:ext cx="106262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8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Five conditions. Four already in hand.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08406" y="207568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What any first virology trial must clear before it deserves greenhouse space. This hypothesis meets more of them than most topics could.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8406" y="27614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4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CONDITION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27614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4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10494569" y="27614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kern="0" spc="14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STATUS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08406" y="3017520"/>
            <a:ext cx="11174882" cy="0"/>
          </a:xfrm>
          <a:prstGeom prst="line">
            <a:avLst/>
          </a:prstGeom>
          <a:noFill/>
          <a:ln w="9525">
            <a:solidFill>
              <a:srgbClr val="1A18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08406" y="31272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Infectious clones exist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08406" y="336499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kern="0" spc="10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947R (AY170468) · FS577 (KC517488)</a:t>
            </a:r>
            <a:endParaRPr lang="en-US" sz="60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3145536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Gain-of-function swaps were already demonstrated on this exact backbone. The inverse is standard subcloning.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842041" y="3227832"/>
            <a:ext cx="841248" cy="182880"/>
          </a:xfrm>
          <a:prstGeom prst="roundRect">
            <a:avLst>
              <a:gd name="adj" fmla="val 50000"/>
            </a:avLst>
          </a:prstGeom>
          <a:solidFill>
            <a:srgbClr val="D9D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842041" y="3227832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kern="0" spc="90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 HAND</a:t>
            </a:r>
            <a:endParaRPr lang="en-US" sz="550" dirty="0"/>
          </a:p>
        </p:txBody>
      </p:sp>
      <p:sp>
        <p:nvSpPr>
          <p:cNvPr id="16" name="Shape 14"/>
          <p:cNvSpPr/>
          <p:nvPr/>
        </p:nvSpPr>
        <p:spPr>
          <a:xfrm>
            <a:off x="508406" y="3602736"/>
            <a:ext cx="11174882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08406" y="36941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One published assay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08406" y="393192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kern="0" spc="10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 H ACQUISITION · 10 APHIDS · 8-WK ELISA</a:t>
            </a:r>
            <a:endParaRPr lang="en-US" sz="600" dirty="0"/>
          </a:p>
        </p:txBody>
      </p:sp>
      <p:sp>
        <p:nvSpPr>
          <p:cNvPr id="19" name="Text 17"/>
          <p:cNvSpPr txBox="1"/>
          <p:nvPr/>
        </p:nvSpPr>
        <p:spPr>
          <a:xfrm>
            <a:off x="5577840" y="3712464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Harper protocol is documented end-to-end, with positive and negative baselines on the same numbers.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842041" y="3794760"/>
            <a:ext cx="841248" cy="182880"/>
          </a:xfrm>
          <a:prstGeom prst="roundRect">
            <a:avLst>
              <a:gd name="adj" fmla="val 50000"/>
            </a:avLst>
          </a:prstGeom>
          <a:solidFill>
            <a:srgbClr val="D9D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10842041" y="3794760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kern="0" spc="90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 HAND</a:t>
            </a:r>
            <a:endParaRPr lang="en-US" sz="550" dirty="0"/>
          </a:p>
        </p:txBody>
      </p:sp>
      <p:sp>
        <p:nvSpPr>
          <p:cNvPr id="22" name="Shape 20"/>
          <p:cNvSpPr/>
          <p:nvPr/>
        </p:nvSpPr>
        <p:spPr>
          <a:xfrm>
            <a:off x="508406" y="4169664"/>
            <a:ext cx="11174882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508406" y="42611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defined host and vector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08406" y="449884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kern="0" spc="10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C. MACROPHYLLA · T. CITRICIDA</a:t>
            </a:r>
            <a:endParaRPr lang="en-US" sz="600" dirty="0"/>
          </a:p>
        </p:txBody>
      </p:sp>
      <p:sp>
        <p:nvSpPr>
          <p:cNvPr id="25" name="Text 23"/>
          <p:cNvSpPr txBox="1"/>
          <p:nvPr/>
        </p:nvSpPr>
        <p:spPr>
          <a:xfrm>
            <a:off x="5577840" y="427939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One host species, one aphid species. No host-range ambiguity contaminating the readout.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842041" y="4361688"/>
            <a:ext cx="841248" cy="182880"/>
          </a:xfrm>
          <a:prstGeom prst="roundRect">
            <a:avLst>
              <a:gd name="adj" fmla="val 50000"/>
            </a:avLst>
          </a:prstGeom>
          <a:solidFill>
            <a:srgbClr val="D9D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10842041" y="436168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kern="0" spc="90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 HAND</a:t>
            </a:r>
            <a:endParaRPr lang="en-US" sz="550" dirty="0"/>
          </a:p>
        </p:txBody>
      </p:sp>
      <p:sp>
        <p:nvSpPr>
          <p:cNvPr id="28" name="Shape 26"/>
          <p:cNvSpPr/>
          <p:nvPr/>
        </p:nvSpPr>
        <p:spPr>
          <a:xfrm>
            <a:off x="508406" y="4736592"/>
            <a:ext cx="11174882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508406" y="48280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titer control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08406" y="5065776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kern="0" spc="10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RT-QPCR + ELISA ON SOURCE FLUSH</a:t>
            </a:r>
            <a:endParaRPr lang="en-US" sz="600" dirty="0"/>
          </a:p>
        </p:txBody>
      </p:sp>
      <p:sp>
        <p:nvSpPr>
          <p:cNvPr id="31" name="Text 29"/>
          <p:cNvSpPr txBox="1"/>
          <p:nvPr/>
        </p:nvSpPr>
        <p:spPr>
          <a:xfrm>
            <a:off x="5577840" y="484632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Titer separates movement loss from docking loss — the two phenotypes this trial must keep apart.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842041" y="4928616"/>
            <a:ext cx="841248" cy="182880"/>
          </a:xfrm>
          <a:prstGeom prst="roundRect">
            <a:avLst>
              <a:gd name="adj" fmla="val 50000"/>
            </a:avLst>
          </a:prstGeom>
          <a:solidFill>
            <a:srgbClr val="D9D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10842041" y="4928616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kern="0" spc="90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 HAND</a:t>
            </a:r>
            <a:endParaRPr lang="en-US" sz="550" dirty="0"/>
          </a:p>
        </p:txBody>
      </p:sp>
      <p:sp>
        <p:nvSpPr>
          <p:cNvPr id="34" name="Shape 32"/>
          <p:cNvSpPr/>
          <p:nvPr/>
        </p:nvSpPr>
        <p:spPr>
          <a:xfrm>
            <a:off x="508406" y="5303520"/>
            <a:ext cx="11174882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508406" y="53949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transmissible backbone clone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508406" y="563270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kern="0" spc="10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FS577 OR T68 INFECTIOUS CLONE</a:t>
            </a:r>
            <a:endParaRPr lang="en-US" sz="600" dirty="0"/>
          </a:p>
        </p:txBody>
      </p:sp>
      <p:sp>
        <p:nvSpPr>
          <p:cNvPr id="37" name="Text 35"/>
          <p:cNvSpPr txBox="1"/>
          <p:nvPr/>
        </p:nvSpPr>
        <p:spPr>
          <a:xfrm>
            <a:off x="5577840" y="5413248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knockout needs a recipient that transmits. CTV field-isolate clones exist; access must be confirmed.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842041" y="5495544"/>
            <a:ext cx="841248" cy="182880"/>
          </a:xfrm>
          <a:prstGeom prst="roundRect">
            <a:avLst>
              <a:gd name="adj" fmla="val 50000"/>
            </a:avLst>
          </a:prstGeom>
          <a:solidFill>
            <a:srgbClr val="E7D3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10842041" y="5495544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kern="0" spc="9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 CONFIRM</a:t>
            </a:r>
            <a:endParaRPr lang="en-US" sz="550" dirty="0"/>
          </a:p>
        </p:txBody>
      </p:sp>
      <p:sp>
        <p:nvSpPr>
          <p:cNvPr id="40" name="Shape 38"/>
          <p:cNvSpPr/>
          <p:nvPr/>
        </p:nvSpPr>
        <p:spPr>
          <a:xfrm>
            <a:off x="508406" y="5870448"/>
            <a:ext cx="11174882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508406" y="631941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FIFTH ROW IS THE WHOLE TRIAL — AND IT IS ANSWERABLE THIS MONTH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E8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8406" y="35570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1289" y="35570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26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08406" y="11430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68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/ INCUMBENT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08406" y="1453896"/>
            <a:ext cx="106262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8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forward direction is already published.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08406" y="207568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Good news and a constraint at once. It proves the biology is real — and sets the bar the knockout has to clear.</a:t>
            </a:r>
            <a:endParaRPr lang="en-US" sz="1200" dirty="0"/>
          </a:p>
        </p:txBody>
      </p:sp>
      <p:pic>
        <p:nvPicPr>
          <p:cNvPr id="7" name="Image 0" descr="media/c1_ru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06" y="2926080"/>
            <a:ext cx="6126480" cy="27889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949440" y="2971800"/>
            <a:ext cx="47338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68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PUBLISHED RESULTS</a:t>
            </a:r>
            <a:endParaRPr lang="en-US" sz="700" dirty="0"/>
          </a:p>
        </p:txBody>
      </p:sp>
      <p:sp>
        <p:nvSpPr>
          <p:cNvPr id="9" name="Text 6"/>
          <p:cNvSpPr txBox="1"/>
          <p:nvPr/>
        </p:nvSpPr>
        <p:spPr>
          <a:xfrm>
            <a:off x="6949440" y="3291840"/>
            <a:ext cx="47338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T36 + FS577 p65+p61 → 17.9%:</a:t>
            </a:r>
            <a:endParaRPr lang="en-US" sz="22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22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pair, or nearly nothing.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949440" y="4160520"/>
            <a:ext cx="473384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Single genes: 1.9% (p65), 4.0% (p61). Both together: 17.9%. Wild-type FS577: 24.1%. Every construct infected C. macrophylla systemically, at indistinguishable titer.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949440" y="4828032"/>
            <a:ext cx="4733849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6949440" y="4983480"/>
            <a:ext cx="473384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 All hybrids moved systemically and titred like the parent — assembly and in-plant movement were untouched.</a:t>
            </a:r>
            <a:endParaRPr lang="en-US" sz="1050" dirty="0"/>
          </a:p>
          <a:p>
            <a:pPr marL="0" indent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 The experiment never ran in reverse: nobody has asked T36's alleles to silence a transmissible strain.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508406" y="631941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FIG. 01 / APHID TRANSMISSION BY CONSTRUCT · HARPER ET AL. 2016</a:t>
            </a:r>
            <a:endParaRPr lang="en-US" sz="650" dirty="0"/>
          </a:p>
        </p:txBody>
      </p:sp>
      <p:sp>
        <p:nvSpPr>
          <p:cNvPr id="14" name="Text 11"/>
          <p:cNvSpPr txBox="1"/>
          <p:nvPr/>
        </p:nvSpPr>
        <p:spPr>
          <a:xfrm>
            <a:off x="6196889" y="631941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INVERSE SWAP — T36 ALLELES INTO FS577 — IS THE WHOLE PROPOSAL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E8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8406" y="35570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1289" y="35570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26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08406" y="11430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68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/ ANALOGY TRAP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08406" y="1453896"/>
            <a:ext cx="106262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8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How this gets argued down for the wrong reason.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08406" y="207568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Plant-virus transmission motifs are well studied and completely virus-specific. The famous textbook cases share no architecture with CTV.</a:t>
            </a:r>
            <a:endParaRPr lang="en-US" sz="1200" dirty="0"/>
          </a:p>
        </p:txBody>
      </p:sp>
      <p:pic>
        <p:nvPicPr>
          <p:cNvPr id="7" name="Image 0" descr="media/c2_corp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2926080"/>
            <a:ext cx="5897880" cy="27889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08406" y="297180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68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FAMILY, NOT MOTIF</a:t>
            </a:r>
            <a:endParaRPr lang="en-US" sz="700" dirty="0"/>
          </a:p>
        </p:txBody>
      </p:sp>
      <p:sp>
        <p:nvSpPr>
          <p:cNvPr id="9" name="Text 6"/>
          <p:cNvSpPr txBox="1"/>
          <p:nvPr/>
        </p:nvSpPr>
        <p:spPr>
          <a:xfrm>
            <a:off x="508406" y="329184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 Potyviruses: the CP DAG motif plus HC-Pro — a helper-bridge mechanism CTV does not possess.</a:t>
            </a:r>
            <a:endParaRPr lang="en-US" sz="1100" dirty="0"/>
          </a:p>
          <a:p>
            <a:pPr marL="0" indent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 CMV: aphid-species-specific coat codons on an icosahedral particle with no tail at all.</a:t>
            </a:r>
            <a:endParaRPr lang="en-US" sz="1100" dirty="0"/>
          </a:p>
          <a:p>
            <a:pPr marL="0" indent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 LIYV: the one true analogue — a minor-CP mutant, systemic in plant, dead to its whitefly. Same tail logic, different genus.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8406" y="5074920"/>
            <a:ext cx="4846320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08406" y="523036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fix. Judge this hypothesis only on closterovirus evidence: CTV swap genetics (Harper 2016), foregut binding (Killiny 2016), tail-assembly genetics (Satyanarayana 2004). Everything else is context, never precedent.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08406" y="631941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MOTIF THAT WORKS IN ONE FAMILY SAYS NOTHING ABOUT CTV</a:t>
            </a:r>
            <a:endParaRPr lang="en-US" sz="650" dirty="0"/>
          </a:p>
        </p:txBody>
      </p:sp>
      <p:sp>
        <p:nvSpPr>
          <p:cNvPr id="13" name="Text 10"/>
          <p:cNvSpPr txBox="1"/>
          <p:nvPr/>
        </p:nvSpPr>
        <p:spPr>
          <a:xfrm>
            <a:off x="6196889" y="631941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FIG. 02 / WHICH LITERATURE ACTUALLY TRANSFERS TO CTV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E8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8406" y="35570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1289" y="35570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/ 26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08406" y="11430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68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SIZING / THE HEADROOM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08406" y="1453896"/>
            <a:ext cx="106262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8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Be honest about what isn't known.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08406" y="207568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published series gates transmission but resolves none of the eleven residues individually — and one cofactor was never tested.</a:t>
            </a:r>
            <a:endParaRPr lang="en-US" sz="1200" dirty="0"/>
          </a:p>
        </p:txBody>
      </p:sp>
      <p:pic>
        <p:nvPicPr>
          <p:cNvPr id="7" name="Image 0" descr="media/c3_headr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06" y="3063240"/>
            <a:ext cx="6400800" cy="2560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0" y="3063240"/>
            <a:ext cx="4368089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7315200" y="3209544"/>
            <a:ext cx="43680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9 + 2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7315200" y="3813048"/>
            <a:ext cx="436808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4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RESIDUES, UNRESOLVED</a:t>
            </a:r>
            <a:endParaRPr lang="en-US" sz="700" dirty="0"/>
          </a:p>
        </p:txBody>
      </p:sp>
      <p:sp>
        <p:nvSpPr>
          <p:cNvPr id="11" name="Text 8"/>
          <p:cNvSpPr txBox="1"/>
          <p:nvPr/>
        </p:nvSpPr>
        <p:spPr>
          <a:xfrm>
            <a:off x="7315200" y="4032504"/>
            <a:ext cx="42766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pair is proven necessary; nothing says which of the nine p61 and two p65 substitutions carry the effect. That map is the scientific deliverable.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315200" y="4434840"/>
            <a:ext cx="4368089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7315200" y="4581144"/>
            <a:ext cx="43680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p33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0" y="5184648"/>
            <a:ext cx="436808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4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KNOWN THIRD FACTOR</a:t>
            </a:r>
            <a:endParaRPr lang="en-US" sz="7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0" y="5404104"/>
            <a:ext cx="42766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T68's p33 also raises T36 transmission (Shilts 2020). Trial 1 ignores it — Harper hit near-field rates without it — unless residual signal says otherwise.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508406" y="631941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FIG. 03 / THE ELEVEN SUBSTITUTIONS ON p61 AND p65</a:t>
            </a:r>
            <a:endParaRPr lang="en-US" sz="650" dirty="0"/>
          </a:p>
        </p:txBody>
      </p:sp>
      <p:sp>
        <p:nvSpPr>
          <p:cNvPr id="17" name="Text 14"/>
          <p:cNvSpPr txBox="1"/>
          <p:nvPr/>
        </p:nvSpPr>
        <p:spPr>
          <a:xfrm>
            <a:off x="6196889" y="631941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AY170468 NUMBERING · KC517488 × AY170468</a:t>
            </a:r>
            <a:endParaRPr lang="en-US" sz="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E8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8406" y="35570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1289" y="35570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/ 26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08406" y="11430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68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SIZING / THE TRIAL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08406" y="1453896"/>
            <a:ext cx="106262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8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Four clones decide the question.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08406" y="207568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Same backbone, same host, same aphid colony, same protocol. The only variable is which T36 alleles ride along.</a:t>
            </a:r>
            <a:endParaRPr lang="en-US" sz="1200" dirty="0"/>
          </a:p>
        </p:txBody>
      </p:sp>
      <p:pic>
        <p:nvPicPr>
          <p:cNvPr id="7" name="Image 0" descr="media/c4_tr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3108960"/>
            <a:ext cx="5897880" cy="24688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08406" y="306324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68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MINIMUM</a:t>
            </a:r>
            <a:endParaRPr lang="en-US" sz="700" dirty="0"/>
          </a:p>
        </p:txBody>
      </p:sp>
      <p:sp>
        <p:nvSpPr>
          <p:cNvPr id="9" name="Text 6"/>
          <p:cNvSpPr txBox="1"/>
          <p:nvPr/>
        </p:nvSpPr>
        <p:spPr>
          <a:xfrm>
            <a:off x="508406" y="33832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7A766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Two clones to kill the hypothesis.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08406" y="40233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FS577 native versus FS577 + T36 p61+p65. If the swap does not silence, stop: the phenotype is backbone-dependent and the cheap version of the hypothesis is wrong.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8406" y="4663440"/>
            <a:ext cx="4846320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508406" y="480060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68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FULL DESIGN</a:t>
            </a:r>
            <a:endParaRPr lang="en-US" sz="700" dirty="0"/>
          </a:p>
        </p:txBody>
      </p:sp>
      <p:sp>
        <p:nvSpPr>
          <p:cNvPr id="13" name="Text 10"/>
          <p:cNvSpPr txBox="1"/>
          <p:nvPr/>
        </p:nvSpPr>
        <p:spPr>
          <a:xfrm>
            <a:off x="508406" y="5120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Four clones, ~1,000 plants.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508406" y="55321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Parent, +p61, +p65, +both — split arms resolve which gene does what. Roughly 250 plants per arm distinguishes 20% from 1%; Harper's own runs were 172–394 per construct.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6196889" y="631941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FIG. 04 / FOUR-CONSTRUCT DESIGN ON ONE BACKBONE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B85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8406" y="35570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43" dirty="0">
                <a:solidFill>
                  <a:srgbClr val="8F8A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1289" y="35570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kern="0" spc="143" dirty="0">
                <a:solidFill>
                  <a:srgbClr val="8F8A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 / 26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08406" y="127010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68" dirty="0">
                <a:solidFill>
                  <a:srgbClr val="EFE8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THREE OF FOUR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08406" y="173736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600" dirty="0">
                <a:solidFill>
                  <a:srgbClr val="EFE8D6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conditions.</a:t>
            </a:r>
            <a:endParaRPr lang="en-US" sz="9600" dirty="0"/>
          </a:p>
        </p:txBody>
      </p:sp>
      <p:sp>
        <p:nvSpPr>
          <p:cNvPr id="6" name="Text 4"/>
          <p:cNvSpPr txBox="1"/>
          <p:nvPr/>
        </p:nvSpPr>
        <p:spPr>
          <a:xfrm>
            <a:off x="508406" y="411480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EFE8D6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What would make the result decisive, what would sink it, what separates trustworthy aphid data from noise — and the four answers that settle go or no-go.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574329" y="31089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4000" dirty="0">
                <a:solidFill>
                  <a:srgbClr val="EFE8D6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03</a:t>
            </a:r>
            <a:endParaRPr lang="en-US" sz="14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FE8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8406" y="35570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1289" y="35570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/ 26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08406" y="11430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68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TIER 2 / AMPLIFIERS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08406" y="1453896"/>
            <a:ext cx="106262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8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What would make it a great trial.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08406" y="207568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None of these is required for the knockout. Each one raises the value of the same lab work.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8406" y="3017520"/>
            <a:ext cx="5120640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08406" y="314553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68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RAISES THE VALUE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508406" y="341985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residue map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08406" y="385876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Eleven substitutions tested in blocks and singly converts one knockout into a transferable design rule for any closterovirus transmission module.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97142" y="3017520"/>
            <a:ext cx="5120640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397142" y="314553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68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RAISES THE VALUE</a:t>
            </a:r>
            <a:endParaRPr lang="en-US" sz="700" dirty="0"/>
          </a:p>
        </p:txBody>
      </p:sp>
      <p:sp>
        <p:nvSpPr>
          <p:cNvPr id="13" name="Text 11"/>
          <p:cNvSpPr txBox="1"/>
          <p:nvPr/>
        </p:nvSpPr>
        <p:spPr>
          <a:xfrm>
            <a:off x="6397142" y="341985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second backbone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397142" y="385876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T68 shares the tail architecture but not the genotype. Reproducing the silencing there separates a universal mechanism from an isolate quirk — a rule, not a result.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8406" y="4590288"/>
            <a:ext cx="5120640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08406" y="4718304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68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SHORTENS THE LOOP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508406" y="499262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cibarium binding assay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08406" y="543153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Fluorescent virions on dissected aphid foreguts, competed with free p27, p61 and p65 (Killiny 2016). Days instead of eight weeks — and it separates 'never docks' from 'docks but won't transmit'.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97142" y="4590288"/>
            <a:ext cx="5120640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397142" y="4718304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68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COSTS NOTHING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6397142" y="499262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platform parallel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397142" y="543153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CYVaV already runs without an insect phase. Every CTV result lands beside a Silvec product embodying the same logic — a biocontainment story written in data.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888736" y="3017520"/>
            <a:ext cx="0" cy="288036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508406" y="631941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FIRST TWO MAKE A RULE · THE THIRD COMPRESSES THE LOOP FROM WEEKS TO DAYS</a:t>
            </a:r>
            <a:endParaRPr lang="en-US" sz="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FE8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8406" y="35570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1289" y="35570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 / 26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08406" y="11430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68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TIER 3 / DISQUALIFIERS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08406" y="1453896"/>
            <a:ext cx="106262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8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What would make it the wrong trial.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08406" y="207568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One failure mode is fatal and detectable in the first assay. The other two would keep the science sound but shrink the claim.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8406" y="3017520"/>
            <a:ext cx="11174882" cy="0"/>
          </a:xfrm>
          <a:prstGeom prst="line">
            <a:avLst/>
          </a:prstGeom>
          <a:noFill/>
          <a:ln w="9525">
            <a:solidFill>
              <a:srgbClr val="1A18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8406" y="3273552"/>
            <a:ext cx="841248" cy="182880"/>
          </a:xfrm>
          <a:prstGeom prst="roundRect">
            <a:avLst>
              <a:gd name="adj" fmla="val 50000"/>
            </a:avLst>
          </a:prstGeom>
          <a:solidFill>
            <a:srgbClr val="E7D3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08406" y="3273552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kern="0" spc="9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FATAL</a:t>
            </a:r>
            <a:endParaRPr lang="en-US" sz="550" dirty="0"/>
          </a:p>
        </p:txBody>
      </p:sp>
      <p:sp>
        <p:nvSpPr>
          <p:cNvPr id="10" name="Text 8"/>
          <p:cNvSpPr txBox="1"/>
          <p:nvPr/>
        </p:nvSpPr>
        <p:spPr>
          <a:xfrm>
            <a:off x="1651406" y="31729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7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swap doesn't silence the backbone.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3172968"/>
            <a:ext cx="5715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If FS577 carrying T36's p61+p65 still transmits, gating depends on something these eleven residues don't supply. Two clones were all it cost to find out.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3767328"/>
            <a:ext cx="5715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4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CHECK FIRST · THE FIRST EIGHT-WEEK READOUT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508406" y="3995928"/>
            <a:ext cx="11174882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8406" y="4233672"/>
            <a:ext cx="841248" cy="182880"/>
          </a:xfrm>
          <a:prstGeom prst="roundRect">
            <a:avLst>
              <a:gd name="adj" fmla="val 50000"/>
            </a:avLst>
          </a:prstGeom>
          <a:solidFill>
            <a:srgbClr val="E8D5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08406" y="4233672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kern="0" spc="90" dirty="0">
                <a:solidFill>
                  <a:srgbClr val="8A4F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WEAKENS</a:t>
            </a:r>
            <a:endParaRPr lang="en-US" sz="550" dirty="0"/>
          </a:p>
        </p:txBody>
      </p:sp>
      <p:sp>
        <p:nvSpPr>
          <p:cNvPr id="16" name="Text 14"/>
          <p:cNvSpPr txBox="1"/>
          <p:nvPr/>
        </p:nvSpPr>
        <p:spPr>
          <a:xfrm>
            <a:off x="1651406" y="413308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7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Mixed infections rescue transmission.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0" y="4133088"/>
            <a:ext cx="5715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T36 alone transmits at 0.5%; co-infected with other genotypes, up to 35.7%. Field claims rest on single-genotype conditions — and real groves are mixed.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4727448"/>
            <a:ext cx="5715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4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ASSAY SINGLE INFECTIONS ONLY · KNOWN BEFORE THE FIRST CLONE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08406" y="4956048"/>
            <a:ext cx="11174882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08406" y="5193792"/>
            <a:ext cx="841248" cy="182880"/>
          </a:xfrm>
          <a:prstGeom prst="roundRect">
            <a:avLst>
              <a:gd name="adj" fmla="val 50000"/>
            </a:avLst>
          </a:prstGeom>
          <a:solidFill>
            <a:srgbClr val="E8D5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508406" y="5193792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kern="0" spc="90" dirty="0">
                <a:solidFill>
                  <a:srgbClr val="8A4F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WEAKENS</a:t>
            </a:r>
            <a:endParaRPr lang="en-US" sz="550" dirty="0"/>
          </a:p>
        </p:txBody>
      </p:sp>
      <p:sp>
        <p:nvSpPr>
          <p:cNvPr id="22" name="Text 20"/>
          <p:cNvSpPr txBox="1"/>
          <p:nvPr/>
        </p:nvSpPr>
        <p:spPr>
          <a:xfrm>
            <a:off x="1651406" y="509320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7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Titer falls along with transmission.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0" y="5093208"/>
            <a:ext cx="5715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If silenced constructs also lose titer or movement, you've built an assembly defect, not a vector defect — the premise is that the two are separable.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0" y="5687568"/>
            <a:ext cx="5715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4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RT-QPCR ON SOURCE TISSUE DISCRIMINATES THIS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508406" y="5916168"/>
            <a:ext cx="11174882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508406" y="631941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 THE FATAL CASE HOLDS, THE FALLBACK IS THE PHASE-2 p27 MAP — NOT ABANDONMENT</a:t>
            </a:r>
            <a:endParaRPr lang="en-US" sz="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FE8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8406" y="35570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1289" y="35570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 / 26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08406" y="11430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68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 / REQUIREMENTS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08406" y="1453896"/>
            <a:ext cx="106262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8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What makes a transmission number count.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08406" y="207568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Applies to any vector-competence work, not only this trial. Six rules, all learnable from Harper's own two papers.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8406" y="2926080"/>
            <a:ext cx="11174882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08406" y="305409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1377086" y="302666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Single-genotype source trees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760720" y="3017520"/>
            <a:ext cx="5897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Complementation between co-infecting genotypes moves T36 transmission 30-fold. One clone per tree; purity verified by sequencing.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8406" y="3456432"/>
            <a:ext cx="11174882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08406" y="35844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1377086" y="355701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same assay, the same way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760720" y="3547872"/>
            <a:ext cx="5897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24 h acquisition, 10 aphids per plant, 24 h inoculation, ELISA at 8 weeks. The protocol exists so results are comparable.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8406" y="3986784"/>
            <a:ext cx="11174882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08406" y="4114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1377086" y="40873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Titer on every source plant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4078224"/>
            <a:ext cx="5897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Transmission is only interpretable against source titer. ELISA plus RT-qPCR on the flush the aphids actually fed 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8406" y="4517136"/>
            <a:ext cx="11174882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508406" y="46451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1377086" y="46177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Denominators, not adjectives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760720" y="4608576"/>
            <a:ext cx="5897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'35 of 196' carries its confidence interval inside it. 'About a fifth' does not. Keep positives and n for every batch.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8406" y="5047488"/>
            <a:ext cx="11174882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508406" y="51755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1377086" y="51480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Blinded scoring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760720" y="5138928"/>
            <a:ext cx="5897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Whoever reads the ELISA does not know which clone is on the bench. A 1% effect at the assay floor needs protection from expectation.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8406" y="5577840"/>
            <a:ext cx="11174882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508406" y="570585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1377086" y="56784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One row per plant, machine-readable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760720" y="5669280"/>
            <a:ext cx="5897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Clone, titer, aphid batch, acquisition date, OD, Ct. Fifty clean rows beat five hundred narrated ones.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8406" y="6108192"/>
            <a:ext cx="11174882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FE8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8406" y="35570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1289" y="35570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 / 26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08406" y="11430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68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 / ANTI-PATTERNS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08406" y="1453896"/>
            <a:ext cx="106262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8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What makes a transmission number lie.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08406" y="207568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Two categories. Missing data announces itself; biased data produces a result that looks real — the dangerous kind.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8406" y="3017520"/>
            <a:ext cx="5587441" cy="2788920"/>
          </a:xfrm>
          <a:prstGeom prst="rect">
            <a:avLst/>
          </a:prstGeom>
          <a:solidFill>
            <a:srgbClr val="F4ED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095848" y="3017520"/>
            <a:ext cx="5587441" cy="2788920"/>
          </a:xfrm>
          <a:prstGeom prst="rect">
            <a:avLst/>
          </a:prstGeom>
          <a:solidFill>
            <a:srgbClr val="1A18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19302" y="3291840"/>
            <a:ext cx="49656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68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MAKES IT UNUSABLE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819302" y="3566160"/>
            <a:ext cx="496564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Hard blockers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19302" y="4069080"/>
            <a:ext cx="496564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 Rates without denominators. 'Poorly transmitted' is not a number.</a:t>
            </a:r>
            <a:endParaRPr lang="en-US" sz="1050" dirty="0"/>
          </a:p>
          <a:p>
            <a:pPr marL="0" indent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 Mixed isolates passing as one genotype. Quasispecies clouds make every swap ambiguous.</a:t>
            </a:r>
            <a:endParaRPr lang="en-US" sz="1050" dirty="0"/>
          </a:p>
          <a:p>
            <a:pPr marL="0" indent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 Non-clonal starting material. Greenhouse T36 populations drift by construction.</a:t>
            </a:r>
            <a:endParaRPr lang="en-US" sz="1050" dirty="0"/>
          </a:p>
          <a:p>
            <a:pPr marL="0" indent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 Undocumented aphid colonies. T. citricida competence varies by colony and lineage.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406744" y="3291840"/>
            <a:ext cx="49656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68" dirty="0">
                <a:solidFill>
                  <a:srgbClr val="E89C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MAKES IT MISLEADING</a:t>
            </a:r>
            <a:endParaRPr lang="en-US" sz="700" dirty="0"/>
          </a:p>
        </p:txBody>
      </p:sp>
      <p:sp>
        <p:nvSpPr>
          <p:cNvPr id="13" name="Text 11"/>
          <p:cNvSpPr txBox="1"/>
          <p:nvPr/>
        </p:nvSpPr>
        <p:spPr>
          <a:xfrm>
            <a:off x="6406744" y="3566160"/>
            <a:ext cx="496564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EFE8D6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Silent degraders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406744" y="4069080"/>
            <a:ext cx="496564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CFC9B9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 Greenhouse drift read as biology. T36 lost transmission exactly this way: decades of graft-only passage.</a:t>
            </a:r>
            <a:endParaRPr lang="en-US" sz="1050" dirty="0"/>
          </a:p>
          <a:p>
            <a:pPr marL="0" indent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CFC9B9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 Titer drift between source plants. Transmission scales with titer; unmeasured, it reads as genotype.</a:t>
            </a:r>
            <a:endParaRPr lang="en-US" sz="1050" dirty="0"/>
          </a:p>
          <a:p>
            <a:pPr marL="0" indent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CFC9B9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 Scoring from mixed-symptom trees. The 35.7% complementation result is precisely this trap.</a:t>
            </a:r>
            <a:endParaRPr lang="en-US" sz="1050" dirty="0"/>
          </a:p>
          <a:p>
            <a:pPr marL="0" indent="0">
              <a:lnSpc>
                <a:spcPts val="15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CFC9B9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 Host swaps. A macrophylla rate says nothing about sweet orange.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08406" y="631941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BIGGEST RISK IS QUIET: A DRIFTED OR COMPLEMENTED CLONE MASQUERADING AS A RESULT</a:t>
            </a:r>
            <a:endParaRPr lang="en-US" sz="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FE8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8406" y="35570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1289" y="35570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 / 26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08406" y="11430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68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/ DECISION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08406" y="1453896"/>
            <a:ext cx="106262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8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Four answers, three outcomes.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08406" y="207568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Each answer changes what happens next. The first one changes it absolutely.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8406" y="26883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4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QUESTION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5943600" y="26883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4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 YES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9052560" y="26883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4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 NO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08406" y="2926080"/>
            <a:ext cx="11174882" cy="0"/>
          </a:xfrm>
          <a:prstGeom prst="line">
            <a:avLst/>
          </a:prstGeom>
          <a:noFill/>
          <a:ln w="9525">
            <a:solidFill>
              <a:srgbClr val="1A18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08406" y="307238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4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1194206" y="304495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Does T36 p61+p65 silence the transmissible backbone?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30540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5A2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hypothesis stands. Build the map.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052560" y="30540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Backbone-dependent. Stop, or redesign.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8406" y="3419856"/>
            <a:ext cx="11174882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08406" y="35478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4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1194206" y="35204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Are titer and systemic movement preserved in the knockout?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35295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5A2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two phenotypes are separable — the premise holds.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052560" y="35295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An assembly defect, not a vector defect.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8406" y="3895344"/>
            <a:ext cx="11174882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508406" y="40233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4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Q3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1194206" y="39959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Do single-gene swaps silence partially?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0" y="40050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5A2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graded gate — the residue map has headroom.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05256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All-or-nothing: the pair is the minimal edit.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8406" y="4370832"/>
            <a:ext cx="11174882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508406" y="44988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4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Q4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1194206" y="447141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Does the binding assay track transmission?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943600" y="4480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5A2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days-scale screen for every future variant.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052560" y="4480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Failure is downstream of docking — different biology.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8406" y="4846320"/>
            <a:ext cx="11174882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08406" y="5074920"/>
            <a:ext cx="841248" cy="182880"/>
          </a:xfrm>
          <a:prstGeom prst="roundRect">
            <a:avLst>
              <a:gd name="adj" fmla="val 50000"/>
            </a:avLst>
          </a:prstGeom>
          <a:solidFill>
            <a:srgbClr val="D9D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508406" y="5074920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kern="0" spc="90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</a:t>
            </a:r>
            <a:endParaRPr lang="en-US" sz="550" dirty="0"/>
          </a:p>
        </p:txBody>
      </p:sp>
      <p:sp>
        <p:nvSpPr>
          <p:cNvPr id="33" name="Text 31"/>
          <p:cNvSpPr txBox="1"/>
          <p:nvPr/>
        </p:nvSpPr>
        <p:spPr>
          <a:xfrm>
            <a:off x="1468526" y="5020056"/>
            <a:ext cx="2459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F5A2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Strong case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508406" y="5385816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4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 YES, Q2 YES</a:t>
            </a:r>
            <a:endParaRPr lang="en-US" sz="700" dirty="0"/>
          </a:p>
        </p:txBody>
      </p:sp>
      <p:sp>
        <p:nvSpPr>
          <p:cNvPr id="35" name="Text 33"/>
          <p:cNvSpPr txBox="1"/>
          <p:nvPr/>
        </p:nvSpPr>
        <p:spPr>
          <a:xfrm>
            <a:off x="508406" y="5623560"/>
            <a:ext cx="3282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Proceed to the residue map and the second backbone. The design rule is real.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156862" y="5029200"/>
            <a:ext cx="0" cy="118872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385462" y="5074920"/>
            <a:ext cx="841248" cy="182880"/>
          </a:xfrm>
          <a:prstGeom prst="roundRect">
            <a:avLst>
              <a:gd name="adj" fmla="val 50000"/>
            </a:avLst>
          </a:prstGeom>
          <a:solidFill>
            <a:srgbClr val="D9D4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4385462" y="5074920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kern="0" spc="90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</a:t>
            </a:r>
            <a:endParaRPr lang="en-US" sz="550" dirty="0"/>
          </a:p>
        </p:txBody>
      </p:sp>
      <p:sp>
        <p:nvSpPr>
          <p:cNvPr id="39" name="Text 37"/>
          <p:cNvSpPr txBox="1"/>
          <p:nvPr/>
        </p:nvSpPr>
        <p:spPr>
          <a:xfrm>
            <a:off x="5345582" y="5020056"/>
            <a:ext cx="2459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Proof of principle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4385462" y="5385816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4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 YES, Q2 BORDERLINE</a:t>
            </a:r>
            <a:endParaRPr lang="en-US" sz="700" dirty="0"/>
          </a:p>
        </p:txBody>
      </p:sp>
      <p:sp>
        <p:nvSpPr>
          <p:cNvPr id="41" name="Text 39"/>
          <p:cNvSpPr txBox="1"/>
          <p:nvPr/>
        </p:nvSpPr>
        <p:spPr>
          <a:xfrm>
            <a:off x="4385462" y="5623560"/>
            <a:ext cx="3282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Publishable and defensible — but the platform claim narrows to what the titer data supports.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033918" y="5029200"/>
            <a:ext cx="0" cy="118872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8262518" y="5074920"/>
            <a:ext cx="841248" cy="182880"/>
          </a:xfrm>
          <a:prstGeom prst="roundRect">
            <a:avLst>
              <a:gd name="adj" fmla="val 50000"/>
            </a:avLst>
          </a:prstGeom>
          <a:solidFill>
            <a:srgbClr val="E7D3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8262518" y="5074920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kern="0" spc="9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</a:t>
            </a:r>
            <a:endParaRPr lang="en-US" sz="550" dirty="0"/>
          </a:p>
        </p:txBody>
      </p:sp>
      <p:sp>
        <p:nvSpPr>
          <p:cNvPr id="45" name="Text 43"/>
          <p:cNvSpPr txBox="1"/>
          <p:nvPr/>
        </p:nvSpPr>
        <p:spPr>
          <a:xfrm>
            <a:off x="9222638" y="5020056"/>
            <a:ext cx="2459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Change target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8262518" y="5385816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4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 NO</a:t>
            </a:r>
            <a:endParaRPr lang="en-US" sz="700" dirty="0"/>
          </a:p>
        </p:txBody>
      </p:sp>
      <p:sp>
        <p:nvSpPr>
          <p:cNvPr id="47" name="Text 45"/>
          <p:cNvSpPr txBox="1"/>
          <p:nvPr/>
        </p:nvSpPr>
        <p:spPr>
          <a:xfrm>
            <a:off x="8262518" y="5623560"/>
            <a:ext cx="3282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Move to the phase-2 p27 map via the binding assay — or reframe as a T36-mechanism study with p33 in play.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8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8406" y="35570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43" dirty="0">
                <a:solidFill>
                  <a:srgbClr val="8F8A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1289" y="35570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kern="0" spc="143" dirty="0">
                <a:solidFill>
                  <a:srgbClr val="8F8A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 / 26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6095848" y="1270102"/>
            <a:ext cx="0" cy="3840480"/>
          </a:xfrm>
          <a:prstGeom prst="line">
            <a:avLst/>
          </a:prstGeom>
          <a:noFill/>
          <a:ln w="9525">
            <a:solidFill>
              <a:srgbClr val="403D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08406" y="127010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20" dirty="0">
                <a:solidFill>
                  <a:srgbClr val="E89C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08406" y="274320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5800" dirty="0">
                <a:solidFill>
                  <a:srgbClr val="EFE8D6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plan.</a:t>
            </a:r>
            <a:endParaRPr lang="en-US" sz="5800" dirty="0"/>
          </a:p>
        </p:txBody>
      </p:sp>
      <p:sp>
        <p:nvSpPr>
          <p:cNvPr id="7" name="Text 5"/>
          <p:cNvSpPr txBox="1"/>
          <p:nvPr/>
        </p:nvSpPr>
        <p:spPr>
          <a:xfrm>
            <a:off x="508406" y="420624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68" dirty="0">
                <a:solidFill>
                  <a:srgbClr val="E89C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FOUR OF FOUR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6607912" y="265176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600" dirty="0">
                <a:solidFill>
                  <a:srgbClr val="B3AE9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staged trial with the gate at the first aphid readout, what a residue map would unlock, how the work runs week by week, and what it will not claim.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FE8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8406" y="35570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1289" y="35570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 / 26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08406" y="11430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68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 / GO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08406" y="1453896"/>
            <a:ext cx="106262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8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staged plan, gated at the first assay.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08406" y="207568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Two weeks of sequence work come before any greenhouse space is committed.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8406" y="2880360"/>
            <a:ext cx="11174882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08406" y="300837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0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508406" y="32461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4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 WEEKS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2108606" y="29900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Align and design.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2971800"/>
            <a:ext cx="5897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Re-derive the eleven substitutions from the GenBank CDS translations — never a supplement — and freeze the four constructs in writing.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3447288"/>
            <a:ext cx="5897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40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PROCEED IF: ALIGNMENT CONFIRMED, BACKBONE CLONE IN HAND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508406" y="3685032"/>
            <a:ext cx="11174882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08406" y="3813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1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508406" y="40507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4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4–8 WEEKS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2108606" y="3794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Build and verify.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760720" y="3776472"/>
            <a:ext cx="5897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Assemble A–D on the transmissible backbone; full-length sequence every clone; agroinoculate C. macrophylla and confirm systemic infection at parental titer.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4251960"/>
            <a:ext cx="5897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40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ONLY THING GREENHOUSE SPACE BUYS BEFORE THIS IS SEEDLINGS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08406" y="4489704"/>
            <a:ext cx="11174882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508406" y="46177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2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508406" y="485546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4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 WEEKS</a:t>
            </a:r>
            <a:endParaRPr lang="en-US" sz="700" dirty="0"/>
          </a:p>
        </p:txBody>
      </p:sp>
      <p:sp>
        <p:nvSpPr>
          <p:cNvPr id="22" name="Text 20"/>
          <p:cNvSpPr txBox="1"/>
          <p:nvPr/>
        </p:nvSpPr>
        <p:spPr>
          <a:xfrm>
            <a:off x="2108606" y="45994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Transmit — blinded.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760720" y="4581144"/>
            <a:ext cx="5897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24 h acquisition on titred flush, 10 T. citricida per plant, ELISA at 8 weeks, clone identity masked from scorers. ~250 plants per arm.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760720" y="5056632"/>
            <a:ext cx="5897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40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FAIL IF TITER DROPS OR TRANSMISSION STAYS ABOVE 5%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508406" y="5294376"/>
            <a:ext cx="11174882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508406" y="54223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3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508406" y="566013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4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DAYS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2108606" y="540410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Optional: add the binding screen.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760720" y="5385816"/>
            <a:ext cx="5897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Fluorescent-virion cibarium competitive binding, Killiny protocol. If it tracks transmission, every later iteration takes days, not weeks.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760720" y="5861304"/>
            <a:ext cx="5897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40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CHEAP TO FIND OUT, HIGH LEVERAGE IF IT WORKS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08406" y="6099048"/>
            <a:ext cx="11174882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508406" y="631941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JUDGE AGAINST PRE-REGISTERED CRITERIA — NOT AGAINST A POST-HOC STORY</a:t>
            </a:r>
            <a:endParaRPr lang="en-US" sz="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FE8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8406" y="35570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1289" y="35570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22 / 26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08406" y="11430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68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HOW / FAR THIS GOES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08406" y="1453896"/>
            <a:ext cx="106262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8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Five levels. The first is a season away.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08406" y="207568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Each level needs the one below it working. Levels 01 and 02 are the trial; the rest is what the trial unlocks.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8406" y="27340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4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LEVEL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27340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4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IT DOES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9692640" y="27340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4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NEEDS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08406" y="2971800"/>
            <a:ext cx="11174882" cy="0"/>
          </a:xfrm>
          <a:prstGeom prst="line">
            <a:avLst/>
          </a:prstGeom>
          <a:noFill/>
          <a:ln w="9525">
            <a:solidFill>
              <a:srgbClr val="1A18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08406" y="309981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166774" y="30815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Confirm the knockout.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66774" y="333756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4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CONFIRM · 0–3 MONTHS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5760720" y="309981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T36 p61+p65 into a transmissible backbone; titer and transmission scored.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9692640" y="309981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7A766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four clones.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8406" y="3566160"/>
            <a:ext cx="11174882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08406" y="36758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02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166774" y="3657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Map the necessary residues.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66774" y="39136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4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MAP · 3–6 MONTHS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5760720" y="36758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Block and single swaps say which of the eleven carry the effect.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9692640" y="36758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7A766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Level 01, plus the panel.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8406" y="4142232"/>
            <a:ext cx="11174882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508406" y="42519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7A766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03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1166774" y="4233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Engineer a clean CPm point mutant.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166774" y="4489704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4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DESIGN · 6–12 MONTHS</a:t>
            </a:r>
            <a:endParaRPr lang="en-US" sz="700" dirty="0"/>
          </a:p>
        </p:txBody>
      </p:sp>
      <p:sp>
        <p:nvSpPr>
          <p:cNvPr id="26" name="Text 24"/>
          <p:cNvSpPr txBox="1"/>
          <p:nvPr/>
        </p:nvSpPr>
        <p:spPr>
          <a:xfrm>
            <a:off x="5760720" y="42519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true capsid mutation — the original question — aimed by a now-known interface.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9692640" y="4251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7A766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Level 02, plus the binding assay.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8406" y="4718304"/>
            <a:ext cx="11174882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508406" y="482803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7A766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04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1166774" y="48097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Transfer across closteroviruses.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166774" y="506577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4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TRANSFER · 9–18 MONTHS</a:t>
            </a:r>
            <a:endParaRPr lang="en-US" sz="700" dirty="0"/>
          </a:p>
        </p:txBody>
      </p:sp>
      <p:sp>
        <p:nvSpPr>
          <p:cNvPr id="32" name="Text 30"/>
          <p:cNvSpPr txBox="1"/>
          <p:nvPr/>
        </p:nvSpPr>
        <p:spPr>
          <a:xfrm>
            <a:off x="5760720" y="48280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same tail logic in BYV-type and crinivirus systems: generality, not just CTV.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9692640" y="48280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7A766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Level 03, plus a second system.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8406" y="5294376"/>
            <a:ext cx="11174882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508406" y="540410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7A766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05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1166774" y="53858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Codify biocontainment by design.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166774" y="564184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40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PLATFORM · 18 MONTHS +</a:t>
            </a:r>
            <a:endParaRPr lang="en-US" sz="700" dirty="0"/>
          </a:p>
        </p:txBody>
      </p:sp>
      <p:sp>
        <p:nvSpPr>
          <p:cNvPr id="38" name="Text 36"/>
          <p:cNvSpPr txBox="1"/>
          <p:nvPr/>
        </p:nvSpPr>
        <p:spPr>
          <a:xfrm>
            <a:off x="5760720" y="540410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documented design rule — virions that can't ride vectors — beside CYVaV's capsid-free architecture.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9692640" y="540410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7A766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Everything above, and scepticism.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08406" y="5870448"/>
            <a:ext cx="11174882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508406" y="631941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ONLY LEVELS 01 AND 02 SHOULD BE COMMITTED TO NOW · 03 TO 05 ARE THE REASON TO START, NOT A PROMISE</a:t>
            </a:r>
            <a:endParaRPr lang="en-US" sz="6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FE8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8406" y="35570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1289" y="35570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23 / 26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08406" y="11430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68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/ WORKING MODEL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08406" y="1453896"/>
            <a:ext cx="106262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8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How this runs, week by week.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08406" y="207568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Credibility rests on two choices: fail criteria registered before cloning, and clone identity masked from everyone reading an ELISA.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8406" y="3703320"/>
            <a:ext cx="11174882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62686" y="3657600"/>
            <a:ext cx="91440" cy="91440"/>
          </a:xfrm>
          <a:prstGeom prst="ellipse">
            <a:avLst/>
          </a:prstGeom>
          <a:solidFill>
            <a:srgbClr val="4F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08406" y="393192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4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WEEKS 0–2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508406" y="417880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Align and design.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08406" y="47548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Re-derive the substitutions from GenBank, freeze the construct list, register the fail criteria. Your effort: one scientist, a few hours.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43046" y="3657600"/>
            <a:ext cx="91440" cy="91440"/>
          </a:xfrm>
          <a:prstGeom prst="ellipse">
            <a:avLst/>
          </a:prstGeom>
          <a:solidFill>
            <a:srgbClr val="4F5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3388766" y="393192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4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WEEKS 2–10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3388766" y="417880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Clone and verify.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388766" y="47548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Synthesis and assembly of A–D, full-length sequencing, agroinoculation. No aphid work before systemic infection and titer are confirmed.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23406" y="3657600"/>
            <a:ext cx="91440" cy="91440"/>
          </a:xfrm>
          <a:prstGeom prst="ellipse">
            <a:avLst/>
          </a:prstGeom>
          <a:solidFill>
            <a:srgbClr val="B85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269126" y="393192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4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WEEKS 10–18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6269126" y="417880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Transmit — blinded.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269126" y="47548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published Harper protocol, run with clone identity sealed. Expectation cannot steer a 1% readout.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103766" y="3657600"/>
            <a:ext cx="91440" cy="91440"/>
          </a:xfrm>
          <a:prstGeom prst="ellipse">
            <a:avLst/>
          </a:prstGeom>
          <a:solidFill>
            <a:srgbClr val="B85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9149486" y="393192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40" dirty="0">
                <a:solidFill>
                  <a:srgbClr val="B8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WEEKS 18–20</a:t>
            </a:r>
            <a:endParaRPr lang="en-US" sz="700" dirty="0"/>
          </a:p>
        </p:txBody>
      </p:sp>
      <p:sp>
        <p:nvSpPr>
          <p:cNvPr id="22" name="Text 20"/>
          <p:cNvSpPr txBox="1"/>
          <p:nvPr/>
        </p:nvSpPr>
        <p:spPr>
          <a:xfrm>
            <a:off x="9149486" y="417880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Score and decide.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149486" y="47548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Outcomes against the registered criteria, not against hope. Deliverable: go on the residue map — or a clean, explained null.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08406" y="631941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EVERYTHING IS DELIVERED AS CONSTRUCTS, SEQUENCES AND DATA SILVEC KEEPS — STOP AFTER STAGE 0 AND THE ALIGNMENT IS STILL YOURS</a:t>
            </a:r>
            <a:endParaRPr lang="en-US" sz="6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FE8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8406" y="35570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1289" y="35570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 / 26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08406" y="11430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68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 / QUESTIONS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08406" y="1453896"/>
            <a:ext cx="106262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8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What we need, and what nobody knows yet.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08406" y="207568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left column is answerable this week from the team's own records. The right is what the trial exists to find out.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8406" y="3017520"/>
            <a:ext cx="5587441" cy="2788920"/>
          </a:xfrm>
          <a:prstGeom prst="rect">
            <a:avLst/>
          </a:prstGeom>
          <a:solidFill>
            <a:srgbClr val="F4ED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19302" y="3291840"/>
            <a:ext cx="49656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68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ANSWERABLE FROM YOUR RECORDS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819302" y="3566160"/>
            <a:ext cx="496564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Questions for the team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819302" y="4069080"/>
            <a:ext cx="496564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→   Is a transmissible infectious clone (FS577 or T68) accessible?</a:t>
            </a:r>
            <a:endParaRPr lang="en-US" sz="1100" dirty="0"/>
          </a:p>
          <a:p>
            <a:pPr marL="0" indent="0">
              <a:lnSpc>
                <a:spcPts val="16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→   Which T. citricida colony is on hand, and its historical baseline?</a:t>
            </a:r>
            <a:endParaRPr lang="en-US" sz="1100" dirty="0"/>
          </a:p>
          <a:p>
            <a:pPr marL="0" indent="0">
              <a:lnSpc>
                <a:spcPts val="16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→   What containment does CTV construct work already run under?</a:t>
            </a:r>
            <a:endParaRPr lang="en-US" sz="1100" dirty="0"/>
          </a:p>
          <a:p>
            <a:pPr marL="0" indent="0">
              <a:lnSpc>
                <a:spcPts val="16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→   Who in-house has closterovirus cloning or CTV assay experience?</a:t>
            </a:r>
            <a:endParaRPr lang="en-US" sz="1100" dirty="0"/>
          </a:p>
          <a:p>
            <a:pPr marL="0" indent="0">
              <a:lnSpc>
                <a:spcPts val="16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→   What does a 250-plant, 8-week C. macrophylla cohort actually cost?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3291840"/>
            <a:ext cx="481934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68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ANSWERABLE ONLY BY THE TRIAL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6553048" y="3566160"/>
            <a:ext cx="481934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Scientific unknowns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553048" y="4069080"/>
            <a:ext cx="481934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 Do the eleven residues act additively or epistatically?</a:t>
            </a:r>
            <a:endParaRPr lang="en-US" sz="1100" dirty="0"/>
          </a:p>
          <a:p>
            <a:pPr marL="0" indent="0">
              <a:lnSpc>
                <a:spcPts val="16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 Do the two p65 substitutions suffice without any of p61's nine?</a:t>
            </a:r>
            <a:endParaRPr lang="en-US" sz="1100" dirty="0"/>
          </a:p>
          <a:p>
            <a:pPr marL="0" indent="0">
              <a:lnSpc>
                <a:spcPts val="16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 Does the knockout fail at docking, or downstream of it?</a:t>
            </a:r>
            <a:endParaRPr lang="en-US" sz="1100" dirty="0"/>
          </a:p>
          <a:p>
            <a:pPr marL="0" indent="0">
              <a:lnSpc>
                <a:spcPts val="16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 Does silencing reproduce on a second backbone (T68)?</a:t>
            </a:r>
            <a:endParaRPr lang="en-US" sz="1100" dirty="0"/>
          </a:p>
          <a:p>
            <a:pPr marL="0" indent="0">
              <a:lnSpc>
                <a:spcPts val="16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 Can a single p27 substitution replicate the whole effect?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95848" y="3017520"/>
            <a:ext cx="0" cy="278892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08406" y="631941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LEFT COLUMN IS THE AGENDA FOR THE SESSION</a:t>
            </a:r>
            <a:endParaRPr lang="en-US" sz="650" dirty="0"/>
          </a:p>
        </p:txBody>
      </p:sp>
      <p:sp>
        <p:nvSpPr>
          <p:cNvPr id="16" name="Text 14"/>
          <p:cNvSpPr txBox="1"/>
          <p:nvPr/>
        </p:nvSpPr>
        <p:spPr>
          <a:xfrm>
            <a:off x="6196889" y="631941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RIGHT IS THE REASON TO RUN THE TRIAL</a:t>
            </a:r>
            <a:endParaRPr lang="en-US" sz="6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FE8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8406" y="35570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1289" y="35570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kern="0" spc="143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 / 26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08406" y="11430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68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SETTING / EXPECTATIONS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08406" y="1453896"/>
            <a:ext cx="106262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8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What this will not do.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08406" y="207568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Worth stating plainly at the outset. A first engineered-virus trial fails more often from overclaiming than from underperforming.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8406" y="301752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68" dirty="0">
                <a:solidFill>
                  <a:srgbClr val="7A76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LIMITS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508406" y="331012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1A181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It will not…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08406" y="379476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 Cure tristeza in the field. Co-infecting transmissible strains complement the knockout — 35.7% is the demonstration.</a:t>
            </a:r>
            <a:endParaRPr lang="en-US" sz="1100" dirty="0"/>
          </a:p>
          <a:p>
            <a:pPr marL="0" indent="0">
              <a:lnSpc>
                <a:spcPts val="16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 Authorize release. This is the design of a laboratory experiment; nothing here proposes environmental deployment.</a:t>
            </a:r>
            <a:endParaRPr lang="en-US" sz="1100" dirty="0"/>
          </a:p>
          <a:p>
            <a:pPr marL="0" indent="0">
              <a:lnSpc>
                <a:spcPts val="16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 Map the interface on its own. The knockout is on/off; the residue map needs the staged panel.</a:t>
            </a:r>
            <a:endParaRPr lang="en-US" sz="1100" dirty="0"/>
          </a:p>
          <a:p>
            <a:pPr marL="0" indent="0">
              <a:lnSpc>
                <a:spcPts val="16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·   Transfer untested. Family rules do not cross; CYVaV has no capsid.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397142" y="301752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68" dirty="0">
                <a:solidFill>
                  <a:srgbClr val="4F5A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YOU KEEP EITHER WAY</a:t>
            </a:r>
            <a:endParaRPr lang="en-US" sz="700" dirty="0"/>
          </a:p>
        </p:txBody>
      </p:sp>
      <p:sp>
        <p:nvSpPr>
          <p:cNvPr id="11" name="Text 9"/>
          <p:cNvSpPr txBox="1"/>
          <p:nvPr/>
        </p:nvSpPr>
        <p:spPr>
          <a:xfrm>
            <a:off x="6397142" y="331012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durable asset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397142" y="379476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→   An exact p61/p65 substitution map of the T36↔FS577 pair, with accessions, in writing.</a:t>
            </a:r>
            <a:endParaRPr lang="en-US" sz="1100" dirty="0"/>
          </a:p>
          <a:p>
            <a:pPr marL="0" indent="0">
              <a:lnSpc>
                <a:spcPts val="16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→   Four sequence-verified constructs on one backbone — reusable for reversion, complementation and binding studies.</a:t>
            </a:r>
            <a:endParaRPr lang="en-US" sz="1100" dirty="0"/>
          </a:p>
          <a:p>
            <a:pPr marL="0" indent="0">
              <a:lnSpc>
                <a:spcPts val="16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5A564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→   A blinded, pre-registered aphid assay Silvec can rerun for any future variant or product claim.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88736" y="2971800"/>
            <a:ext cx="0" cy="237744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8406" y="5532120"/>
            <a:ext cx="11174882" cy="0"/>
          </a:xfrm>
          <a:prstGeom prst="line">
            <a:avLst/>
          </a:prstGeom>
          <a:noFill/>
          <a:ln w="9525">
            <a:solidFill>
              <a:srgbClr val="C9C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08406" y="5669280"/>
            <a:ext cx="109005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7A766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Basis and limits. Transmission rates and plant counts from Harper et al. 2016 (Arch Virol 161:3555); complementation from Harper et al. 2018 (Arch Virol 163:3373); binding from Killiny et al. 2016 (AEM 82:6294); tail assembly from Satyanarayana et al. 2004 (PNAS 101:799); sequences GenBank KC517488 and AY170468.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8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8406" y="35570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43" dirty="0">
                <a:solidFill>
                  <a:srgbClr val="8F8A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· BIOLOGICS</a:t>
            </a:r>
            <a:endParaRPr lang="en-US" sz="650" dirty="0"/>
          </a:p>
        </p:txBody>
      </p:sp>
      <p:sp>
        <p:nvSpPr>
          <p:cNvPr id="3" name="Text 1"/>
          <p:cNvSpPr txBox="1"/>
          <p:nvPr/>
        </p:nvSpPr>
        <p:spPr>
          <a:xfrm>
            <a:off x="7111289" y="35570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kern="0" spc="143" dirty="0">
                <a:solidFill>
                  <a:srgbClr val="8F8A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26 / 26</a:t>
            </a:r>
            <a:endParaRPr lang="en-US" sz="650" dirty="0"/>
          </a:p>
        </p:txBody>
      </p:sp>
      <p:sp>
        <p:nvSpPr>
          <p:cNvPr id="4" name="Text 2"/>
          <p:cNvSpPr txBox="1"/>
          <p:nvPr/>
        </p:nvSpPr>
        <p:spPr>
          <a:xfrm>
            <a:off x="508406" y="11430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68" dirty="0">
                <a:solidFill>
                  <a:srgbClr val="E89C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/ ROAD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508406" y="1463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800" dirty="0">
                <a:solidFill>
                  <a:srgbClr val="EFE8D6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Eighteen weeks to </a:t>
            </a:r>
            <a:r>
              <a:rPr lang="en-US" sz="5800" i="1" dirty="0">
                <a:solidFill>
                  <a:srgbClr val="B8512A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verdict.</a:t>
            </a:r>
            <a:endParaRPr lang="en-US" sz="5800" dirty="0"/>
          </a:p>
        </p:txBody>
      </p:sp>
      <p:sp>
        <p:nvSpPr>
          <p:cNvPr id="6" name="Text 4"/>
          <p:cNvSpPr txBox="1"/>
          <p:nvPr/>
        </p:nvSpPr>
        <p:spPr>
          <a:xfrm>
            <a:off x="508406" y="24688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B3AE9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Nothing expensive is committed before the gate: sequence-verified clones infecting C. macrophylla at parental titer.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8406" y="3794760"/>
            <a:ext cx="11174882" cy="0"/>
          </a:xfrm>
          <a:prstGeom prst="line">
            <a:avLst/>
          </a:prstGeom>
          <a:noFill/>
          <a:ln w="9525">
            <a:solidFill>
              <a:srgbClr val="403D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62686" y="3749040"/>
            <a:ext cx="91440" cy="91440"/>
          </a:xfrm>
          <a:prstGeom prst="ellipse">
            <a:avLst/>
          </a:prstGeom>
          <a:solidFill>
            <a:srgbClr val="E89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08406" y="40233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40" dirty="0">
                <a:solidFill>
                  <a:srgbClr val="E89C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THIS WEEK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508406" y="42702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EFE8D6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Confirm.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08406" y="470916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B3AE9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Backbone-clone access, aphid colony, containment — the three inputs that gate everything else.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39542" y="3749040"/>
            <a:ext cx="91440" cy="91440"/>
          </a:xfrm>
          <a:prstGeom prst="ellipse">
            <a:avLst/>
          </a:prstGeom>
          <a:solidFill>
            <a:srgbClr val="E89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2785262" y="40233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40" dirty="0">
                <a:solidFill>
                  <a:srgbClr val="E89C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WEEKS 1–8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2785262" y="42702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EFE8D6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Build.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2785262" y="470916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B3AE9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Four clones on the transmissible backbone. The substitution map re-derived from GenBank, not from citation.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16398" y="3749040"/>
            <a:ext cx="91440" cy="91440"/>
          </a:xfrm>
          <a:prstGeom prst="ellipse">
            <a:avLst/>
          </a:prstGeom>
          <a:solidFill>
            <a:srgbClr val="B85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062118" y="40233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40" dirty="0">
                <a:solidFill>
                  <a:srgbClr val="E89C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GATE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5062118" y="42702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EFE8D6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Infect.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062118" y="470916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B3AE9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Full-length sequence plus systemic infection at parental titer — or the project stops here, cheaply.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93254" y="3749040"/>
            <a:ext cx="91440" cy="91440"/>
          </a:xfrm>
          <a:prstGeom prst="ellipse">
            <a:avLst/>
          </a:prstGeom>
          <a:solidFill>
            <a:srgbClr val="B85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338974" y="40233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40" dirty="0">
                <a:solidFill>
                  <a:srgbClr val="E89C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WEEKS 8–16</a:t>
            </a:r>
            <a:endParaRPr lang="en-US" sz="700" dirty="0"/>
          </a:p>
        </p:txBody>
      </p:sp>
      <p:sp>
        <p:nvSpPr>
          <p:cNvPr id="22" name="Text 20"/>
          <p:cNvSpPr txBox="1"/>
          <p:nvPr/>
        </p:nvSpPr>
        <p:spPr>
          <a:xfrm>
            <a:off x="7338974" y="42702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EFE8D6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Transmit.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338974" y="470916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B3AE9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Blinded aphid assay to the Harper protocol; titer measured on every source plant.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570110" y="3749040"/>
            <a:ext cx="91440" cy="91440"/>
          </a:xfrm>
          <a:prstGeom prst="ellipse">
            <a:avLst/>
          </a:prstGeom>
          <a:solidFill>
            <a:srgbClr val="B85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9615830" y="40233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140" dirty="0">
                <a:solidFill>
                  <a:srgbClr val="E89C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WEEKS 16–18</a:t>
            </a:r>
            <a:endParaRPr lang="en-US" sz="700" dirty="0"/>
          </a:p>
        </p:txBody>
      </p:sp>
      <p:sp>
        <p:nvSpPr>
          <p:cNvPr id="26" name="Text 24"/>
          <p:cNvSpPr txBox="1"/>
          <p:nvPr/>
        </p:nvSpPr>
        <p:spPr>
          <a:xfrm>
            <a:off x="9615830" y="42702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EFE8D6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Score.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615830" y="470916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B3AE9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Against the registered criteria: below 5% at parental titer goes to the residue map; anything else is an explained null.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025689" y="5897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kern="0" spc="160" dirty="0">
                <a:solidFill>
                  <a:srgbClr val="EFE8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START WITH THE ALIGNMENT  →</a:t>
            </a:r>
            <a:endParaRPr lang="en-US" sz="700" dirty="0"/>
          </a:p>
        </p:txBody>
      </p:sp>
      <p:sp>
        <p:nvSpPr>
          <p:cNvPr id="29" name="Text 27"/>
          <p:cNvSpPr txBox="1"/>
          <p:nvPr/>
        </p:nvSpPr>
        <p:spPr>
          <a:xfrm>
            <a:off x="508406" y="631941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143" dirty="0">
                <a:solidFill>
                  <a:srgbClr val="8F8A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SILVEC BIOLOGICS · TRANSMISSION-DEAD CTV HYPOTHESIS · 2026 · CONFIDENTIAL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4757</Words>
  <Application>Microsoft Macintosh PowerPoint</Application>
  <PresentationFormat>Widescreen</PresentationFormat>
  <Paragraphs>490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JetBrains Mono</vt:lpstr>
      <vt:lpstr>Newsreader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Silvec — Transmission-Dead CTV Hypothesis (Trial 002)</dc:title>
  <dc:subject>Vector-incompatible virion design: CTV p61/p65 knockout of aphid transmission</dc:subject>
  <dc:creator>Silvec Biologics</dc:creator>
  <cp:lastModifiedBy>William Schonbrun</cp:lastModifiedBy>
  <cp:revision>2</cp:revision>
  <dcterms:created xsi:type="dcterms:W3CDTF">2026-08-30T15:22:15Z</dcterms:created>
  <dcterms:modified xsi:type="dcterms:W3CDTF">2026-08-30T15:35:06Z</dcterms:modified>
</cp:coreProperties>
</file>
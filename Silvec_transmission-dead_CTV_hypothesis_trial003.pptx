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Verdict: eleven substitutions in two chaperone genes, decided by one necessity experiment. Second payload: the method — adversarial multi-model review killed three wrong answers in days, and open-weight models carried the design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as posed. Note the capsid presumption — Part 02 is where that gets corrected. Five parts: method first, because the session is about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claims, decoupled: the science bet and the method bet. Either can be challenged without killing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one: how the answer was produced. This is the half of the deck aimed at a team new to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eight phases, each with a kill-switch. Three of the eight killed a claim. That is the pipeline working, not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falsification log. Read it as a ledger of avoided greenhouse work — each row is a construct series never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consortium slide. Unanimity is not proof: the panel was right about K174R and wrong about p61/p65 — the retrieved paper settled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differed; scoring against the retrieved paper produced the ranking. Grok's reframing won on evidence, not eloquence.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lesson, neutrally: hosted filters blocked legitimate biocontainment design work; open-weight models completed it. Frontier models stayed valuable as reviewers. Rule: a model portfolio, routed by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how-to slide for the team. Each pattern maps to something concrete in this project — falsification, denominators, the inverse swap, the fetched PDF, the rebuttal round, the re-derived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confidence-tier system. Every claim in this deck carries one of these four tags — the team never has to ask 'how firm is that?'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compression claim, scoped honestly: in-silico time collapsed; wet-lab time did not. The value is killed wrong turns, not magic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two: the science itself. The biggest section — the product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in three panels: the phenotype exists, the edits are eleven residues in two chaperones, and the deciding experiment is the never-run inverse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slide: p25 body the aphid ignores; p27 cap placed by p65/p61 — the end the aphid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CPm falsified two independent ways: sequence identity and a functional null (p=1.00). The nuance to keep: CPm is still the binding ligand, just not the variation.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carries its denominators. T36's floor value is drift, not design — which is precisely why drift can be reverse-engineered into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verified Harper table. Singles sit at baseline; the pair jumps to 17.9% against wild type's 24.1%. The quote is the design rule: compatible p61/p65 pairs,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synergy slide. Additive expectation ~5.3%; observed 17.9%. The ~12.6-point gap is why no single-gene or subset design is worth greenhouse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Titer ruled out: equal accumulation, 30-fold transmission difference. This is the separability premise — the product's reason to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Killiny's competition evidence independently names the same three proteins Harper's genetics did. The binding assay is the optional days-scale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eleven. Strips show where they sit on each protein; the charged cluster marked. Numbering anchors to the clone actually assayed — AY170468 for Trial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p33: verified effect (16.3 pp, p=0.001), verified viroporin biophysics, unmeasured titer confound. Its multifunctionality is why it isn't the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K174R: dead as a residue story, alive as a lesson. The 6/6 unanimous peer-review catch, confirmed by the census. Gene-level p33 effect is unaffected.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Complementation: 0.5% alone, 35.7% mixed. Trial design rule now; deployment constraint later. State it or a reviewer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Existence proof across the family: LIYV frameshift (assembly fine, vector dead), chimera boundary, GLRaV-3 same architecture. Caveat: nobody has done it with a point mutant — that's Approach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three: the portfolio. Different assumptions played against each other in one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table. A is the lead because its effect is largest, published and verified. B runs cheaply alongside. C waits for A's residue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A with its five assumptions spelled out, each tied to a specific measurement. Assumptions must be provable — here each one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B: the p33 arm with the review's two conditions built in — titer normalization and a registered reciprocal. It converts an unattributed effect into an attributed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C: the literal capsid point mutant, milestone-gated behind A's residue map, with five design rules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discriminator matrix: constructs × readouts, with registered predictions. Failures here are mechanism data, not dead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four: the credibility machinery — prerequisites, amplifiers, disqualifiers, statistics discipline, data rules, risks, and the decision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of five prerequisites in hand. The fifth — physical access to a transmissible backbone clone plus containment status — is answerable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Amplifiers 2×2. The CYVaV parallel is the platform beat: capsid-free by architecture vs. capsidated but vector-silenced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Disqualifiers. Fatal: no silencing — cheap to learn. Weakens ×2: complementation rescue and titer loss; both are designed-for, not discovered-later.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Statistics discipline: CI plot on key rates, the power reality for small effects, and multiplicity control. The containment claim is a zero over a large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data rules. Keep as a permanent checklist for the wet-lab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Anti-patterns. Dark card = the dangerous category: drift, unmeasured titer, mixed trees, host swaps, undocumented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register: six risks, six counters, all pre-registered.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matrix: Q1 gates everything. Cards give the three registered outcomes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five: the plan. Everything before a clone is already done; the asks are logistics.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0 is done: six documented deliverables. Six logistics asks remain — none is an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Assay card: Harper's protocol untouched, masked reading, titer everywhere. ~550-700 aphids, roughly $8-13K, three to four weeks of aphid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Pre-registration slide: H0/H1, pass/unclear/fail bands with their next moves, and the null statement written before any clone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 with gates. Stage 0 costs two weeks and no greenhouse; Stage 2's fail criteria are written down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five-level ladder. Fund 01–02; 03–05 are the ambition, explicitly not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Week-by-week. The two credibility choices: registered fail criteria, masked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next-AI menu: Shilts 2026 retrieval, round-3 panel, segregation census, structure ranking (flagged prediction-grade), receptor sweep, and the repo-to-chatbot step the team is already sizing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questions in two columns — an afternoon of records work on the left, the trial's scientific yield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 left, durable assets right. Naming limits early is what makes the positive claims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corrections log as a trust slide. Five real errors, five fixes, one superseded-materials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with tiers. The one tier-3 debt: Shilts 2026 full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road: confirm the three inputs this week, gate at parental-titer infection, verdict at week 20. The ask: one scientist, a few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· TRIAL · 003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271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QUESTION · TRANSMISSION-DEAD CTV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6916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i="1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Eleven substitutions,
</a:t>
            </a:r>
            <a:pPr indent="0" marL="0">
              <a:lnSpc>
                <a:spcPct val="102000"/>
              </a:lnSpc>
              <a:buNone/>
            </a:pPr>
            <a:r>
              <a:rPr lang="en-US" sz="4000" i="1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falsified favorite, one experiment.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Nine substitutions in p61 and two in p65 — the chaperones that build the virion's aphid-facing tail — are predicted to keep CTV assembling and moving inside the plant while making it unreadable to Toxoptera citricida. The hypothesis rests on published, re-verified genetics. The way it was found — multiple models, adversarial review, five wrong answers killed on the record — is the other half of this session.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5623560"/>
            <a:ext cx="11167567" cy="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PREPARED FOR THE SILVEC TEAM · Q3 AI STRATEGY SESSION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2016 · KILLINY 2016 · SHILTS 2020 · GENBANK KC517488 / AY170468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1440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2344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mutation(s) to a capsid still makes a functional virion with respect to self-assembly and internal plant movement, but would make it incompatible to an insect vector — disabling plant-to-plant movement?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743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 a first trial, do this for Citrus tristeza virus, to deactivate aphid transmission.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2918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THE QUESTION · AS POSED · SEPTEMBER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064" y="4297680"/>
            <a:ext cx="11167567" cy="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50109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METHOD — HOW AI GOT USED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50109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HYPOTHESIS — THE SCIENCE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50109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APPROACHES — THREE BETS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7287768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287768" y="50109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CONDITIONS — WHAT KILLS IT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9546336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546336" y="50109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PLAN — WEEKS, COST, GATE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/ THIS SESSION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claims on the table.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This deck argues a science claim and a method claim at once. They are independent — one failing does not take the other down.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971800"/>
            <a:ext cx="5394960" cy="265176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31729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 ONE · THE SCIENCE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4472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virion can move in the plant and be blind to the aphid.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0664" y="4114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phenotype exists in nature (greenhouse T36: systemic, full titer, 0.6% transmission). Eleven substitutions in two chaperone genes are the candidate copy of it. One blinded trial — four clones, ~20 weeks — settles necessity.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91072" y="2971800"/>
            <a:ext cx="5394960" cy="265176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31729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 TWO · THE METHOD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4472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AI with adversarial review compresses the research season into sessions.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4114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130-genome census, literature triage, a twelve-review adversarial panel, source retrieval and re-derivation — done in working sessions, not months. Five wrong answers died cheaply. What is left is worth greenhouse space.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WET-LAB CLOCK STARTS TODAY — EVERYTHING BEFORE IT HAS ALREADY BEEN COMPRESSED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54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1563624" y="312724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239572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method.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ONE OF FIVE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9776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Eight working phases. Five wrong answers killed on the record. A six-model adversarial panel that caught what any one model missed — and the platform lesson about which models would do the work at all.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PIPELINE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Eight phases. Sessions, not seasons.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Each phase ended at a gate that could have stopped the project. Nothing downstream was built on an unverified upstream.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P1 · FALSIFIABLE QUESTION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026664" y="261518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"Does CPm explain transmission variance?" — not "what explains it?"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464040" y="2642616"/>
            <a:ext cx="1369771" cy="173736"/>
          </a:xfrm>
          <a:prstGeom prst="rect">
            <a:avLst/>
          </a:prstGeom>
          <a:solidFill>
            <a:srgbClr val="4F5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64040" y="2638044"/>
            <a:ext cx="136977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 ANSWER IS POSSIBLE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12064" y="29855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30038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 · SEQUENCE CENSUS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301294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130 CTV genomes pulled from GenBank; p27/p33/p61/p65 extracted &amp; aligned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64040" y="3040380"/>
            <a:ext cx="1051560" cy="173736"/>
          </a:xfrm>
          <a:prstGeom prst="rect">
            <a:avLst/>
          </a:prstGeom>
          <a:solidFill>
            <a:srgbClr val="4F5A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64040" y="3035808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DATA, NOT PROSE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12064" y="338328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P3 · FALSIFICATION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026664" y="341071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CPm 240/240 identical across a 16× transmission gap — favorite hypothesis dead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64040" y="3438144"/>
            <a:ext cx="1210666" cy="17373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64040" y="3433572"/>
            <a:ext cx="121066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PIVOT, DON'T PATCH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12064" y="378104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37993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P4 · LITERATURE SURVEY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026664" y="380847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Shilts 2020 p33 swap (1.5%→17.8%); Killiny 2016 foregut binding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64040" y="3835908"/>
            <a:ext cx="1581912" cy="173736"/>
          </a:xfrm>
          <a:prstGeom prst="rect">
            <a:avLst/>
          </a:prstGeom>
          <a:solidFill>
            <a:srgbClr val="4F5A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64040" y="3831336"/>
            <a:ext cx="1581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EFFECTS HAVE DENOMINATORS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12064" y="417880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4197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P5 · CANDIDATE RESIDUE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3026664" y="42062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p33 K174R from the 2026 abstract — plus a viroporin mechanism (2025)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64040" y="4233672"/>
            <a:ext cx="1104595" cy="17373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64040" y="4229100"/>
            <a:ext cx="11045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CITED ≠ VERIFIED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12064" y="457657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45948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 · ADVERSARIAL REVIEW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3026664" y="460400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 models × 2 rounds: K174R impossible; power gaps; missing reciprocal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64040" y="4631436"/>
            <a:ext cx="1528877" cy="17373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64040" y="4626864"/>
            <a:ext cx="152887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CONSENSUS MUST RECOMPUTE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12064" y="497433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" y="4992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P7 · SOURCE RETRIEVAL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3026664" y="50017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2016 PDF read: synergy, denominators, titer all verified first-hand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464040" y="5029200"/>
            <a:ext cx="1263701" cy="173736"/>
          </a:xfrm>
          <a:prstGeom prst="rect">
            <a:avLst/>
          </a:prstGeom>
          <a:solidFill>
            <a:srgbClr val="4F5A2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64040" y="5024628"/>
            <a:ext cx="126370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PDF ADJUDICATES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12064" y="537210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2064" y="53903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P8 · RE-DERIVATION &amp; DESIGN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3026664" y="53995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11 substitutions re-derived from accessions; Stage 0 pre-registered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464040" y="5426964"/>
            <a:ext cx="1316736" cy="173736"/>
          </a:xfrm>
          <a:prstGeom prst="rect">
            <a:avLst/>
          </a:prstGeom>
          <a:solidFill>
            <a:srgbClr val="4F5A2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64040" y="5422392"/>
            <a:ext cx="1316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READY FOR GREENHOUSE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12064" y="576986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54</a:t>
            </a:r>
            <a:endParaRPr lang="en-US" sz="650" dirty="0"/>
          </a:p>
        </p:txBody>
      </p:sp>
      <p:sp>
        <p:nvSpPr>
          <p:cNvPr id="48" name="Text 46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GATES ARE THE POINT — PHASES 3, 5 AND 6 ALL KILLED SOMETHING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FALSIFICATION LOG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wrong answers, killed on the record.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one was a plausible AI answer. None survived contact with the sequence data or the published experiment. This log is the asset most teams never keep.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5603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4078224" y="2560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OF THE CLAIM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6181344" y="25603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KILLED IT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12064" y="279806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2880360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CPm sequence variation determines transmission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78224" y="288036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Starting hypothesis; DeepSeek v1–v2 (CPm deletion)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81344" y="2880360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240/240 identity across a 16-fold transmission gap; functional null: CPm+5′UTR 17/90 vs p33 alone 16/90 (Fisher p = 1.00)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339242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344728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p33 K174R is the transmission switch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78224" y="344728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Early brief, from the 2026 abstract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3447288"/>
            <a:ext cx="5230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Re-derivation: donor and T36 clone both encode K174 — nothing was exchanged. R174 sits in 24% and 1.6% transmitters alike; 96.8% of 125 genomes carry R174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" y="395935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014216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charged residues suffice (D324G, E382D, D458G)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078224" y="401421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DeepSeek v3 (electrostatics logic)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4014216"/>
            <a:ext cx="5230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2016: p61 alone reaches 4.0%; the pair reaches 17.9%. The subset never came near — synergy needs the set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" y="44714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" y="45262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Test the genes individually first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078224" y="45262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DeepSeek v3 phase plan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81344" y="4526280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2016: singles restore 1.9% / 4.0% — statistically near the 0.6% baseline. 'Concerted action' is not optional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" y="49286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4983480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effect is virus titer, not vector interaction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78224" y="4983480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DeepSeek mechanism prediction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181344" y="4983480"/>
            <a:ext cx="5230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Fig. 2: RT-qPCR and ELISA identical across hybrids (Tukey HSD p &gt; 0.05) — 30-fold transmission change at equal accumulation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" y="544068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FIVE PLAUSIBLE ANSWERS · FIVE FUNERALS · EACH ONE WOULD HAVE COST A CONSTRUCT SERIES IN THE LAB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54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REVIEW CONSORTIUM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Twelve reviews. Then the data argued back.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Six models, two rounds — independent review, then adversarial rebuttal. What unanimity caught, and what only reading the paper could settle.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PANEL · 6 MODELS × 2 ROUNDS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035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GPT-6 (Astra Pro)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752344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architecture &amp; stats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34198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Grok 4.6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3419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design direction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38039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Gemini 3.1 Pro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3803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holdout skeptic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DeepSeek V4 Pro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52344" y="4187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mechanism models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Qwen3 Max Thinking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52344" y="4572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recomputation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Claude Opus 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752344" y="49560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synthesis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0" cy="32004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UNANIMITY CAUGHT (6/6)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01752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K174R is a mathematical impossibility — both sequences encode K174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'residual gap' for p61/p65 rested on an unread paper's unattributed 23%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14% power at n=90 for a 5-point effect — the planned screen could not see it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reciprocal swap existed; causality untested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Undocumented experimental units → CIs overprecise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8412480" y="2743200"/>
            <a:ext cx="0" cy="32004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3252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THEN THE TWIST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30175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panel ruled p61/p65 'unfounded' — until Harper 2016 was actually fetched. The 23% was the wild-type parent, the 'gap' was spurious, and p61+p65 were verified all along.</a:t>
            </a:r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Verdicts are provisional until the primary source is on the table.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ADVERSARIAL REVIEW FOUND THE HOLES · ONLY FETCHING THE PDF CLOSED THEM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54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1 INDEPENDENT · ROUND 2 REBUTTAL · CONSENSUS RECOMPUTED, NOT VOTED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FOUR / WAYS THE MODELS ANSWERED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models disagreed. The experiment adjudicated.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Same question, four sources. Scored against Harper 2016 — the only source that had actually run the swap.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7889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CRITERION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4718304" y="2788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GROK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6272784" y="27889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DEEPSEEK V3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8010144" y="27889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KIMI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9564624" y="27889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2016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12064" y="302666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310896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p65 + p61 moved together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31089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31089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10144" y="31089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564624" y="3108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" y="341985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347472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Individual genes first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18304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4747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10144" y="34747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64624" y="34747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— synergy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" y="37856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384048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All 11 substitutions tested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18304" y="38404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72784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10144" y="38404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564624" y="38404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" y="415137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" y="420624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Mechanism = binding, not titer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718304" y="42062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89C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4206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010144" y="42062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564624" y="42062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proven (RT-qPCR)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" y="451713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" y="457200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Minimal subset sufficient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718304" y="45720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272784" y="45720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suggested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010144" y="45720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564624" y="45720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" y="488289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2064" y="493776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718304" y="49377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8.5 / 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272784" y="49377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6.5 / 10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49377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correct read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564624" y="493776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adjudicator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2064" y="528523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12064" y="5257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i="1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winning direction was Grok's reciprocal-swap reframing: fix FS577 toward T36 in p65+p61 — a design nobody had proposed in the literature, arrived at by reasoning from Harper's numbers.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GROK + THE PUBLISHED EXPERIMENT ALIGNED 100% — CONFIDENCE CAME FROM CONCORDANCE, NOT CHARISMA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54</a:t>
            </a:r>
            <a:endParaRPr lang="en-US" sz="650" dirty="0"/>
          </a:p>
        </p:txBody>
      </p:sp>
      <p:sp>
        <p:nvSpPr>
          <p:cNvPr id="53" name="Text 51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/ THE PLATFORMS STOOD IN THE WAY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constraint was access, not capability.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team's experience, stated plainly: the mutation-design questions at the center of this project — legitimate biocontainment work aimed at less virus spread — were repeatedly refused by the hosted frontier models. The project stalled until it moved.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743200"/>
            <a:ext cx="5394960" cy="3017520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926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HAPPENED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218688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Refusals mid-project.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Core design questions about capsid mutations and aphid transmission were declined on safety grounds — with no viable route to appeal or adjust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Review roles still worked.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Frontier models stayed useful as critics: GPT-6 and Gemini both served on the adversarial panel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work moved.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Open-weight models — DeepSeek, Kimi, Grok — engaged the full problem with no safety friction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91072" y="2743200"/>
            <a:ext cx="5394960" cy="301752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926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OPERATING RULES THAT CAME OUT OF IT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3218688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Portfolio, not vendor.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Never let a single provider's filters gate a research question — keep three-plus models in rotation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Route, don't fight.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Design work → open-weight models; critique and adversarial review → whoever is sharpest at it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Diversity is insurance.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Different labs, different blind spots — the panel's disagreements were information, not noise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GROK PRODUCED THE WINNING DESIGN DIRECTION — AND IT NEVER ONCE REFUSED THE QUESTION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54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EXPERIENCED BY THE TEAM · SEPT 2026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/ TO ASK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Six question patterns that worked.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 an AI-new team: the difference between a chat and an instrument is the shape of the question. These six produced everything in this deck.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743200"/>
            <a:ext cx="3593592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283464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Make it falsifiable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9224" y="3364992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"Does CPm explain transmission variance?" — a yes/no with a denominator — not "what explains transmission?"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97680" y="2743200"/>
            <a:ext cx="3593592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3464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Demand denominators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364992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rate must arrive as "positive / n". "Poorly transmitted" is not a number; 1 of 66 is.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83296" y="2743200"/>
            <a:ext cx="3593592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0456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586216" y="283464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Ask for the inverse experiment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3364992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gain-of-function swap was published. The loss-of-function knockout — the one the product needs — had never been asked for.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12064" y="4407408"/>
            <a:ext cx="3593592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" y="44988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449884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Force the primary source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5029200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"Cite it" is not enough. "Fetch it, quote it, give the figure number." The 23% that confused the panel dissolved on first reading.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297680" y="4407408"/>
            <a:ext cx="3593592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44988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449884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Run the adversarial round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5029200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Have the models attack their own consensus. K174R died in rebuttal, not in review.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083296" y="4407408"/>
            <a:ext cx="3593592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0456" y="44988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586216" y="4498848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Re-derive, never transcribe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20456" y="5029200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substitution table came from GenBank CDS translations, not from any model's prose — including this one's.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GOOD PROMPT IS A NULL HYPOTHESIS WITH A DENOMINATOR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54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/ THE MODEL CANNOT DO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Trust is a workflow, not a feeling.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verification stack that sits between any model's answer and a decision. Everything in this deck passed through all four tiers.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761488"/>
            <a:ext cx="11167567" cy="713232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889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 · OUR OWN ANALYSIS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0998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Reproducible but unreviewed: alignments, censuses, recomputed statistics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9077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9E9A8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e.g.  </a:t>
            </a:r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CPm 240/240 · residue-174 census · Fisher exact table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" y="3547872"/>
            <a:ext cx="11167567" cy="713232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6758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 · FETCHED FULL TEXT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886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Read end-to-end, quoted word-for-word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69417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9E9A8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e.g.  </a:t>
            </a:r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Shilts 2020 baselines · PLOS Pathog. viroporin · Harper 2016 transmission table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4334256"/>
            <a:ext cx="11167567" cy="713232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4622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 · ABSTRACT ONLY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6725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Real paper, methods unread — flagged on every slide that uses it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480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9E9A8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e.g.  </a:t>
            </a:r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Virology 2026 (~50%, K174R claim) — full text still paywalled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" y="5120640"/>
            <a:ext cx="11167567" cy="713232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52486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4 · QUOTED SECOND-HAND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4589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Only known through another paper's citation — retired once the source was fetched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526694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9E9A8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e.g.  </a:t>
            </a:r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2016's 0.6%→18% via Shilts 2020 — later verified directly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PROPOSES · THE RECORD DISPOSES · AND THE TIER IS WRITTEN ON THE SLIDE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54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TIME COMPRESSION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changed is the wrong-turn budget.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Counted from the project record. The greenhouse itself is untouched — biology keeps its own clock. Everything before the first clone is what got faster.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78892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130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40156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GENOMES CENSUS-ALIGNED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36210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p27, p33, p61, p65 extracted and compared across the public record — the falsification material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78892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40156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REVIEWS IN 2 ROUNDS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6210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Six models, independent then adversarial. Statistics recomputed to unanimity, not voted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78892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340156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WRONG ANSWERS KILLED EARLY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36210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CPm, K174R, the charged subset, single-gene-first, the titer story — none cost a clone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9664" y="2697480"/>
            <a:ext cx="0" cy="16002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697480"/>
            <a:ext cx="0" cy="16002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4709160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STILL TAKES ITS OWN TIME — AND WHY THAT'S FINE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" y="5138928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Cloning &amp; sequence verification: 4–8 weeks — steel and enzymes, not inference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aphid trial: ~8 weeks to ELISA — the biological readout cannot be rushed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Citrus validation: months — trees do not compress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4892040"/>
            <a:ext cx="0" cy="14630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51389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80" i="1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estimate, honestly framed:  </a:t>
            </a:r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conventional path here is a literature season plus one or two construct-series detours per wrong turn avoided. This project reached a pre-registered, power-analyzed, residue-level design in working sessions.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MOVED THE THINKING, NOT THE ASSAY — AND THE THINKING WAS WHERE THE SEASONS WENT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54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1563624" y="312724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239572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hypothesis.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TWO OF FIVE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9776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Why the coat was the wrong target. What nature already built. The swap series that proves a gate exists. The eleven residues that hold it — and the third gene nobody has finished explaining.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ANSWER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Eleven substitutions, two proteins, one experiment.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question as posed has a precise answer — and it is not a coat-protein mutation. In CTV the aphid reads the virion's tail complex, and the transmission difference between two near-identical isolates is already mapped to two genes.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88036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NATURE ALREADY BUILT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13639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phenotype exists. No design needed.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3867912"/>
            <a:ext cx="3282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Greenhouse T36: systemic infection, full titer, decades of stability — 0.6% aphid transmission (1/172). Field isolate FS577, same strain lineage: 24.1% (95/394). The capsids are essentially identical.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2834640"/>
            <a:ext cx="0" cy="25146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288036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TO CHANGE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13639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p61 and p65 — together, or not at all.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867912"/>
            <a:ext cx="3282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Nine substitutions in p61, two in p65, moved as a pair. Alone each restored only 1.9–4.0%; together 17.9%. p25 and p27 stay wild type: the coat is not the interface.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37576" y="2834640"/>
            <a:ext cx="0" cy="25146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6176" y="288036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DECIDES IT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313639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experiment nobody has run.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3867912"/>
            <a:ext cx="3282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et al. ran the swap in the gain direction. The inverse — T36 alleles silencing a transmissible backbone — is the knockout. If it fails, the hypothesis dies in eight weeks, cheaply.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GAIN-OF-TRANSMISSION IS PUBLISHED AND VERIFIED — THE LOSS-OF-TRANSMISSION KNOCKOUT IS THE WHOLE TRIAL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54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2016 · VERIFIED DIRECTLY FROM THE PAPER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11430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VIRION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45389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bipolar particle. The aphid only reads one end.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756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CTV's flexuous rod is two structures in one — and the transmission interface is entirely on the tail.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08484" y="3200400"/>
            <a:ext cx="9822508" cy="146304"/>
          </a:xfrm>
          <a:prstGeom prst="roundRect">
            <a:avLst>
              <a:gd name="adj" fmla="val 50000"/>
            </a:avLst>
          </a:prstGeom>
          <a:solidFill>
            <a:srgbClr val="C9BFA8"/>
          </a:solidFill>
          <a:ln/>
        </p:spPr>
      </p:sp>
      <p:sp>
        <p:nvSpPr>
          <p:cNvPr id="8" name="Shape 6"/>
          <p:cNvSpPr/>
          <p:nvPr/>
        </p:nvSpPr>
        <p:spPr>
          <a:xfrm>
            <a:off x="137249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050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852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654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455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257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058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860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9662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463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265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066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868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670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471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273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074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876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7678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0479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281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082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8884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1686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4487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89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90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92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5694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8495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97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4098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900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9702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2503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305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8106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908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710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6511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313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114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4916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7718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0519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321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6122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8924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1726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4527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329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130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932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5734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8535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337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4138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6940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9742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2543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5345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8146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0948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3750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56551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9353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2154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4956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7758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0559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33361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461628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89644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717660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45676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973692" y="3218688"/>
            <a:ext cx="0" cy="109728"/>
          </a:xfrm>
          <a:prstGeom prst="line">
            <a:avLst/>
          </a:prstGeom>
          <a:noFill/>
          <a:ln w="11430">
            <a:solidFill>
              <a:srgbClr val="B9AE9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12064" y="3200400"/>
            <a:ext cx="796420" cy="146304"/>
          </a:xfrm>
          <a:prstGeom prst="roundRect">
            <a:avLst>
              <a:gd name="adj" fmla="val 50000"/>
            </a:avLst>
          </a:prstGeom>
          <a:solidFill>
            <a:srgbClr val="B8512A"/>
          </a:solidFill>
          <a:ln/>
        </p:spPr>
      </p:sp>
      <p:sp>
        <p:nvSpPr>
          <p:cNvPr id="85" name="Shape 83"/>
          <p:cNvSpPr/>
          <p:nvPr/>
        </p:nvSpPr>
        <p:spPr>
          <a:xfrm>
            <a:off x="591706" y="2926080"/>
            <a:ext cx="155448" cy="155448"/>
          </a:xfrm>
          <a:prstGeom prst="ellipse">
            <a:avLst/>
          </a:prstGeom>
          <a:solidFill>
            <a:srgbClr val="4F5A2C"/>
          </a:solidFill>
          <a:ln w="12700">
            <a:solidFill>
              <a:srgbClr val="EFE8D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54546" y="27249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p65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82847" y="2926080"/>
            <a:ext cx="155448" cy="155448"/>
          </a:xfrm>
          <a:prstGeom prst="ellipse">
            <a:avLst/>
          </a:prstGeom>
          <a:solidFill>
            <a:srgbClr val="4F5A2C"/>
          </a:solidFill>
          <a:ln w="12700">
            <a:solidFill>
              <a:srgbClr val="EFE8D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45687" y="27249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p61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493776" y="3410712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p27 (CPm) tail  ·  ~630 nt  ·  5′ end</a:t>
            </a:r>
            <a:endParaRPr lang="en-US" sz="650" dirty="0"/>
          </a:p>
        </p:txBody>
      </p:sp>
      <p:sp>
        <p:nvSpPr>
          <p:cNvPr id="90" name="Text 88"/>
          <p:cNvSpPr txBox="1"/>
          <p:nvPr/>
        </p:nvSpPr>
        <p:spPr>
          <a:xfrm>
            <a:off x="8479231" y="3410712"/>
            <a:ext cx="2697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p25 (CP) body  ·  ~95% of genome</a:t>
            </a:r>
            <a:endParaRPr lang="en-US" sz="650" dirty="0"/>
          </a:p>
        </p:txBody>
      </p:sp>
      <p:sp>
        <p:nvSpPr>
          <p:cNvPr id="91" name="Text 89"/>
          <p:cNvSpPr txBox="1"/>
          <p:nvPr/>
        </p:nvSpPr>
        <p:spPr>
          <a:xfrm>
            <a:off x="237744" y="31821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5′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11185855" y="31821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3′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512064" y="3977640"/>
            <a:ext cx="5394960" cy="178308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40664" y="41422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p25 · THE BODY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740664" y="441655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Coats ~95% of the genome and doubles as the silencing suppressor. Mutating its surface risks assembly and titer — and the aphid never reads it: free p25 does not compete virion binding.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291072" y="3977640"/>
            <a:ext cx="5394960" cy="1783080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519672" y="41422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p27 + p65 + p61 · THE TAIL</a:t>
            </a:r>
            <a:endParaRPr lang="en-US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6519672" y="441655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p27 (CPm) caps ~630 nt at the 5′ end; p65 (HSP70h) and p61 place it there and restrict it (Satyanarayana 2004). Free p27, p61 and p65 all compete virion binding at the aphid cibarium. That is the docking site.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CTV'S TRANSMISSION INTERFACE IS A TAIL COMPLEX — 'CAPSID MUTATION' HERE MEANS THE CHAPERONES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54</a:t>
            </a:r>
            <a:endParaRPr lang="en-US" sz="650" dirty="0"/>
          </a:p>
        </p:txBody>
      </p:sp>
      <p:sp>
        <p:nvSpPr>
          <p:cNvPr id="102" name="Text 100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SATYANARAYANA 2004 · KILLINY 2016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/ NOT THE COAT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favorite explanation died on sequence data.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CPm was the obvious target — the only coat protein on the virion surface that binds the aphid. Two independent tests killed it as the transmission dial.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240 / 240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246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CPM AMINO ACIDS IDENTICAL · FS577 VS T36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346557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…across a transmission gap of 24.1% vs 1.5%. A sequence that does not vary cannot explain a phenotype that does.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9664" y="2651760"/>
            <a:ext cx="0" cy="17373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424" y="2697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 = 1.00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3246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FUNCTIONAL NULL · SHILTS 2020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3465576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Adding CPm+5′UTR to the p33 swap changed nothing: 17/90 vs 16/90. Where variation exists, it still does nothing.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38744" y="2651760"/>
            <a:ext cx="0" cy="17373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04504" y="2651760"/>
            <a:ext cx="3611880" cy="1828800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87384" y="28072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DISTINCTION THAT SURVIVES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8787384" y="3081528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is dead: CPm as the explanation. What lives: CPm as the ligand — a necessary part of the machine, still a knockout target (Approach C), just not nature's tuning knob.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NECESSARY MACHINERY ≠ THE DETERMINANT — CONFUSING THE TWO COST THIS PROJECT'S FIRST WEEK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54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1: OUR ALIGNMENT · TIER 2: SHILTS 2020 FULL TEXT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NATURAL EXPERIMENT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Nature already ran it. In a greenhouse.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spent decades propagated by grafting — no aphid, no selection for transmission. What emerged reads like a designed containment strain.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APHID TRANSMISSION BY ISOLATE · T. CITRICIDA · WITH DENOMINATORS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971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T68-1 · field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6704" y="3040380"/>
            <a:ext cx="2464290" cy="118872"/>
          </a:xfrm>
          <a:prstGeom prst="rect">
            <a:avLst/>
          </a:prstGeom>
          <a:solidFill>
            <a:srgbClr val="7A76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65858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44.2%   95/215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3337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· field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46704" y="3406140"/>
            <a:ext cx="1344259" cy="118872"/>
          </a:xfrm>
          <a:prstGeom prst="rect">
            <a:avLst/>
          </a:prstGeom>
          <a:solidFill>
            <a:srgbClr val="E89C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45827" y="33375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24.1%   95/394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703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T30 · field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46704" y="3771900"/>
            <a:ext cx="87572" cy="118872"/>
          </a:xfrm>
          <a:prstGeom prst="rect">
            <a:avLst/>
          </a:prstGeom>
          <a:solidFill>
            <a:srgbClr val="7A76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89140" y="3703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1.6%   2/127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4069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· field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46704" y="4137660"/>
            <a:ext cx="83668" cy="118872"/>
          </a:xfrm>
          <a:prstGeom prst="rect">
            <a:avLst/>
          </a:prstGeom>
          <a:solidFill>
            <a:srgbClr val="7A766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85236" y="40690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1.5%   1/66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" y="4434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· infectious clone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46704" y="4503420"/>
            <a:ext cx="33467" cy="118872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35035" y="44348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0.6%   1/172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46704" y="4818888"/>
            <a:ext cx="278892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72384" y="48463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0%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4466844" y="48463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</a:t>
            </a:r>
            <a:endParaRPr lang="en-US" sz="600" dirty="0"/>
          </a:p>
        </p:txBody>
      </p:sp>
      <p:sp>
        <p:nvSpPr>
          <p:cNvPr id="26" name="Text 24"/>
          <p:cNvSpPr txBox="1"/>
          <p:nvPr/>
        </p:nvSpPr>
        <p:spPr>
          <a:xfrm>
            <a:off x="5861304" y="48463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50%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7772400" y="2651760"/>
            <a:ext cx="0" cy="301752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0100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THE CLONE SITS AT THE FLOOR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29718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Drift by construction.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Decades of graft-only passage relaxed selection on transmission; the trait eroded (Harper 2013)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Stable and real.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 a truncation — a viable virus with a silenced vector phase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Same lineage.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T36, FS577 and T30 are one strain family: small residue sets separate 0.6% from 24%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 ASSEMBLY-PERFECT, MOVEMENT-PERFECT, TRANSMISSION-DEAD VIRUS EXISTS — T36 IS THE PROTOTYPE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54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RATES: SHILTS 2020 (FULL TEXT) · CLONE: HARPER 2016 (FULL TEXT)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ADJUDICATING EXPERIMENT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paper settled what the models could not.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et al. 2016 swapped FS577 genes into the T36 clone. Retrieved and re-read during this project — every number below verified against the PDF, with its denominator.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TRANSMISSION RESTORED TO THE T36 CLONE · FIG. 1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9718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clone · none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9504" y="3040380"/>
            <a:ext cx="74910" cy="27432"/>
          </a:xfrm>
          <a:prstGeom prst="rect">
            <a:avLst/>
          </a:prstGeom>
          <a:solidFill>
            <a:srgbClr val="7A76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9278" y="29718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0.6%   1/172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 FS577 p65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9504" y="3314700"/>
            <a:ext cx="237216" cy="27432"/>
          </a:xfrm>
          <a:prstGeom prst="rect">
            <a:avLst/>
          </a:prstGeom>
          <a:solidFill>
            <a:srgbClr val="C9C3B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81584" y="3246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1.9%   5/258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520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 FS577 p61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89504" y="3589020"/>
            <a:ext cx="499403" cy="27432"/>
          </a:xfrm>
          <a:prstGeom prst="rect">
            <a:avLst/>
          </a:prstGeom>
          <a:solidFill>
            <a:srgbClr val="C9C3B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43771" y="35204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4.0%   11/273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3794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 FS577 p65 + p61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9504" y="3863340"/>
            <a:ext cx="2234829" cy="27432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79197" y="3794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17.9%   35/196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" y="4069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 FS577 p6–p18 block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89504" y="4137660"/>
            <a:ext cx="2571926" cy="27432"/>
          </a:xfrm>
          <a:prstGeom prst="rect">
            <a:avLst/>
          </a:prstGeom>
          <a:solidFill>
            <a:srgbClr val="E89C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16294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20.6%   52/253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" y="4343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· wild type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89504" y="4411980"/>
            <a:ext cx="3008904" cy="27432"/>
          </a:xfrm>
          <a:prstGeom prst="rect">
            <a:avLst/>
          </a:prstGeom>
          <a:solidFill>
            <a:srgbClr val="7A76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53272" y="4343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24.1%   95/394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89504" y="4636008"/>
            <a:ext cx="324612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15184" y="46634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0%</a:t>
            </a:r>
            <a:endParaRPr lang="en-US" sz="600" dirty="0"/>
          </a:p>
        </p:txBody>
      </p:sp>
      <p:sp>
        <p:nvSpPr>
          <p:cNvPr id="28" name="Text 26"/>
          <p:cNvSpPr txBox="1"/>
          <p:nvPr/>
        </p:nvSpPr>
        <p:spPr>
          <a:xfrm>
            <a:off x="4238244" y="46634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13%</a:t>
            </a:r>
            <a:endParaRPr lang="en-US" sz="600" dirty="0"/>
          </a:p>
        </p:txBody>
      </p:sp>
      <p:sp>
        <p:nvSpPr>
          <p:cNvPr id="29" name="Text 27"/>
          <p:cNvSpPr txBox="1"/>
          <p:nvPr/>
        </p:nvSpPr>
        <p:spPr>
          <a:xfrm>
            <a:off x="5861304" y="46634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26%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7772400" y="2651760"/>
            <a:ext cx="0" cy="32004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0100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SENTENCE THAT MATTERS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30175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“Aphid transmission requires the concerted action of these two genes through an unknown mechanism, and further, that this requires compatible sequences in these two genes.”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4617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Harper et al. 2016 · Arch Virol 161:3555–3559
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Read in full during this project. The peer-review panel's 'unverified' flag lifted only when the PDF was fetched.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HYBRID INFECTED C. MACROPHYLLA SYSTEMICALLY — MOVEMENT INTACT, TITER INTACT, ONLY THE APHID SAW A DIFFERENCE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54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PROTOCOL: 24 H ACQUISITION · 10 APHIDS/PLANT · ELISA AT 8 WEEKS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SYNERGY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1.9 + 4.0 ≠ 17.9. That inequality is the design.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the genes worked independently, the pair would add. It multiplies. The pair is a co-evolved unit — and the construct must move it as one.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clone 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962656"/>
            <a:ext cx="179954" cy="219456"/>
          </a:xfrm>
          <a:prstGeom prst="rect">
            <a:avLst/>
          </a:prstGeom>
          <a:solidFill>
            <a:srgbClr val="C9C3B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74130" y="2880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0.6%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3355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p65 alone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1024" y="3438144"/>
            <a:ext cx="569854" cy="219456"/>
          </a:xfrm>
          <a:prstGeom prst="rect">
            <a:avLst/>
          </a:prstGeom>
          <a:solidFill>
            <a:srgbClr val="C9C3B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64030" y="33558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1.9%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876678" y="3355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+1.3 pp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831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p61 alone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21024" y="3913632"/>
            <a:ext cx="1199693" cy="219456"/>
          </a:xfrm>
          <a:prstGeom prst="rect">
            <a:avLst/>
          </a:prstGeom>
          <a:solidFill>
            <a:srgbClr val="C9C3B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3869" y="38313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4%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506517" y="3831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+3.4 pp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" y="43068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A8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expected if additive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21024" y="4389120"/>
            <a:ext cx="1589593" cy="219456"/>
          </a:xfrm>
          <a:prstGeom prst="rect">
            <a:avLst/>
          </a:prstGeom>
          <a:solidFill>
            <a:srgbClr val="D9D4BE"/>
          </a:solidFill>
          <a:ln w="9525">
            <a:solidFill>
              <a:srgbClr val="9E9A8C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283769" y="43068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5.3%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896417" y="43068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+4.7 pp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" y="4782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p65 + p61 observed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21024" y="4864608"/>
            <a:ext cx="5368625" cy="21945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62801" y="4782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17.9%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675449" y="4782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+17.3 pp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" y="5257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wild type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21024" y="5340096"/>
            <a:ext cx="7228149" cy="219456"/>
          </a:xfrm>
          <a:prstGeom prst="rect">
            <a:avLst/>
          </a:prstGeom>
          <a:solidFill>
            <a:srgbClr val="C9C3B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22325" y="5257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24.1%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621024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≈ 12.6 pp of synergy — three times the additive expectation, 74% of wild-type rescue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 THE PAIR · NEVER A GENE ALONE · NEVER A CHARGED SUBSET — SYNERGY IS THE CONSTRUCT RULE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54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ARITHMETIC ON VERIFIED HARPER 2016 COUNTS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MECHANISM / TITER RULED OUT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Equal accumulation. Thirty-fold different transmission.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commercially decisive fact in the whole record: you can silence the vector interface without touching viral fitness in the plant.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743200"/>
            <a:ext cx="5394960" cy="141732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9077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2016 · FIG. 2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1821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“No significant difference (Tukey HSD P &gt; 0.05) in virus replication and accumulation caused by the insertions.” — RT-qPCR and ELISA across every hybrid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" y="4389120"/>
            <a:ext cx="237744" cy="173736"/>
          </a:xfrm>
          <a:prstGeom prst="rect">
            <a:avLst/>
          </a:prstGeom>
          <a:solidFill>
            <a:srgbClr val="7A76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" y="4384548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6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3982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moved 30× between hybrids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" y="4773168"/>
            <a:ext cx="237744" cy="173736"/>
          </a:xfrm>
          <a:prstGeom prst="rect">
            <a:avLst/>
          </a:prstGeom>
          <a:solidFill>
            <a:srgbClr val="7A76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" y="476859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782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Viral accumulation did not move at 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" y="5157216"/>
            <a:ext cx="237744" cy="17373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2064" y="5152644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166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⇒ Acquisition is the gate, not abundance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" y="5541264"/>
            <a:ext cx="237744" cy="17373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" y="5536692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550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⇒ The defect lives at the aphid interface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2697480"/>
            <a:ext cx="0" cy="30632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27432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SILVEC SHOULD CARE MOST ABOUT THIS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301752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product keeps working.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containment edit that costs titer costs efficacy; this mechanism says it won't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Movement is separable.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in-plant phase (replication, plasmodesmata, phloem) is untouched — the virion still moves, it just doesn't ride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assay is fast.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 checks gate every construct in days, before any aphid 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PREDICTED DEFECT IS IN THE APHID, NOT THE PLANT — THAT IS THE WHOLE PRODUCT IDEA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54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2016 FIG. 2 · VERIFIED FROM SOURCE</a:t>
            </a:r>
            <a:endParaRPr lang="en-US" sz="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DOCKING SITE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aphid's foregut, named and assayable.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Killiny et al. 2016 localized the event: labeled virions bind the T. citricida cibarium, and the binding has a specific competition profile.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6384" y="3063240"/>
            <a:ext cx="2607869" cy="1371600"/>
          </a:xfrm>
          <a:prstGeom prst="arc">
            <a:avLst>
              <a:gd name="adj1" fmla="val 12000000"/>
              <a:gd name="adj2" fmla="val 20400000"/>
            </a:avLst>
          </a:prstGeom>
          <a:ln w="25400">
            <a:solidFill>
              <a:srgbClr val="1A18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40233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aphid cibarium (foregut)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 rot="1500000">
            <a:off x="1459382" y="3383280"/>
            <a:ext cx="960120" cy="118872"/>
          </a:xfrm>
          <a:prstGeom prst="roundRect">
            <a:avLst>
              <a:gd name="adj" fmla="val 46154"/>
            </a:avLst>
          </a:prstGeom>
          <a:solidFill>
            <a:srgbClr val="B851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19502" y="3273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virion tail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p27 + p65 + p61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Retention is protease-insensitive and chitinase-sensitive — a carbohydrate interface, in the foregut, reached within the aphid's brief acquisition feed.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697480"/>
            <a:ext cx="0" cy="31089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274320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COMPETITION PROFILE · KILLINY 2016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0175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PURIFIED PROTEIN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3017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EFFECT ON VIRION BINDING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989320" y="3255264"/>
            <a:ext cx="557784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3337560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Free p25 (major coat)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333756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9E9A8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competition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3611880"/>
            <a:ext cx="55778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36667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Free p27 (CPm)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66674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competes binding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3941064"/>
            <a:ext cx="55778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399592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Free p61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399592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competes binding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4270248"/>
            <a:ext cx="55778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89320" y="432511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Free p65 (HSP70h)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432511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competes binding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9320" y="4599432"/>
            <a:ext cx="55778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4800600"/>
            <a:ext cx="5577840" cy="914400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493776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accelerator: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fluorescent virions on dissected cibaria read binding in days, not eight weeks — and separate 'never docks' from 'docks but won't transmit'.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TAIL PROTEINS AND ONLY THE TAIL PROTEINS COMPETE FOR THE SITE — GENETICS AND BIOCHEMISTRY AGREE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54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KILLINY ET AL. 2016 · AEM 82:6294 · FULL TEXT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ELEVEN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residue, re-derived from the accessions.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 from a supplement, not from prose — aligned from the annotated CDS translations of FS577 (KC517488) against the T36 clone actually used by Harper (AY170468).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33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p65 · 2 CHANGES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426464" y="2852928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E8D5B8"/>
          </a:solidFill>
          <a:ln w="9525">
            <a:solidFill>
              <a:srgbClr val="C9C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295351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600" dirty="0"/>
          </a:p>
        </p:txBody>
      </p:sp>
      <p:sp>
        <p:nvSpPr>
          <p:cNvPr id="10" name="Text 8"/>
          <p:cNvSpPr txBox="1"/>
          <p:nvPr/>
        </p:nvSpPr>
        <p:spPr>
          <a:xfrm>
            <a:off x="6016752" y="2953512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548 aa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3542121" y="2798064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22081" y="3255264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G227S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6060316" y="2798064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40276" y="3255264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R496H</a:t>
            </a:r>
            <a:endParaRPr lang="en-US" sz="5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3291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p61 · 9 CHANGES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426464" y="3639312"/>
            <a:ext cx="5120640" cy="310896"/>
          </a:xfrm>
          <a:prstGeom prst="roundRect">
            <a:avLst>
              <a:gd name="adj" fmla="val 14706"/>
            </a:avLst>
          </a:prstGeom>
          <a:solidFill>
            <a:srgbClr val="E8D5B8"/>
          </a:solidFill>
          <a:ln w="9525">
            <a:solidFill>
              <a:srgbClr val="C9C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373989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6016752" y="373989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543 aa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013673" y="3584448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3633" y="404164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S169N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3108150" y="3557016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88110" y="3419856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I179T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3533296" y="3584448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13256" y="404164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T224A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4147394" y="3584448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27354" y="404164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M289T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4478063" y="3557016"/>
            <a:ext cx="0" cy="448056"/>
          </a:xfrm>
          <a:prstGeom prst="line">
            <a:avLst/>
          </a:prstGeom>
          <a:noFill/>
          <a:ln w="20320">
            <a:solidFill>
              <a:srgbClr val="8A4F0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58023" y="3419856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D324G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5026028" y="3584448"/>
            <a:ext cx="0" cy="448056"/>
          </a:xfrm>
          <a:prstGeom prst="line">
            <a:avLst/>
          </a:prstGeom>
          <a:noFill/>
          <a:ln w="20320">
            <a:solidFill>
              <a:srgbClr val="8A4F0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5988" y="404164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E382D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5111057" y="3557016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91017" y="3419856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S391G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5715709" y="3584448"/>
            <a:ext cx="0" cy="448056"/>
          </a:xfrm>
          <a:prstGeom prst="line">
            <a:avLst/>
          </a:prstGeom>
          <a:noFill/>
          <a:ln w="20320">
            <a:solidFill>
              <a:srgbClr val="B851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95669" y="404164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I455V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5744052" y="3557016"/>
            <a:ext cx="0" cy="448056"/>
          </a:xfrm>
          <a:prstGeom prst="line">
            <a:avLst/>
          </a:prstGeom>
          <a:noFill/>
          <a:ln w="20320">
            <a:solidFill>
              <a:srgbClr val="8A4F0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24012" y="3419856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D458G</a:t>
            </a:r>
            <a:endParaRPr lang="en-US" sz="550" dirty="0"/>
          </a:p>
        </p:txBody>
      </p:sp>
      <p:sp>
        <p:nvSpPr>
          <p:cNvPr id="37" name="Text 35"/>
          <p:cNvSpPr txBox="1"/>
          <p:nvPr/>
        </p:nvSpPr>
        <p:spPr>
          <a:xfrm>
            <a:off x="512064" y="42245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Dark ticks: the charged cluster (D324G, E382D, D458G) — plausible as a subset on electrostatics, falsified as a sufficient design. All eleven move together.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37960" y="2606040"/>
            <a:ext cx="0" cy="32004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2651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TABLE · FS577 → T36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2926080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7470648" y="29260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SUBSTITUTIONS</a:t>
            </a:r>
            <a:endParaRPr lang="en-US" sz="650" dirty="0"/>
          </a:p>
        </p:txBody>
      </p:sp>
      <p:sp>
        <p:nvSpPr>
          <p:cNvPr id="42" name="Text 40"/>
          <p:cNvSpPr txBox="1"/>
          <p:nvPr/>
        </p:nvSpPr>
        <p:spPr>
          <a:xfrm>
            <a:off x="10122408" y="29260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BIOCHEM CLASS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812280" y="3163824"/>
            <a:ext cx="489204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12280" y="32461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p65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470648" y="32461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G227S · R496H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22408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hydrophobicity + charge shift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12280" y="3575304"/>
            <a:ext cx="48920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12280" y="36301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p61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7470648" y="363016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S169N · I179T · T224A · M289T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122408" y="3630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surface/structural context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12280" y="3959352"/>
            <a:ext cx="48920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12280" y="40142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p61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7470648" y="4014216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S391G · I455V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122408" y="401421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surface + interior/interface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12280" y="4343400"/>
            <a:ext cx="48920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12280" y="43982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p61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7470648" y="43982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D324G · E382D · D458G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0122408" y="4398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charged cluster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12280" y="4727448"/>
            <a:ext cx="48920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812280" y="48920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Segregation. </a:t>
            </a:r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these sites are moderately variable across all genomes but segregate perfectly by transmission phenotype — co-evolution with the trait, not general fitness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Numbering caveat. </a:t>
            </a:r>
            <a:pPr indent="0" marL="0">
              <a:lnSpc>
                <a:spcPct val="104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vs clone EU937521 the same target is 7 changes, not 11 — the anchor is the clone that gets assayed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Prior discrepancies.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2013's 9+3 count differed; another reason to re-derive, never transcribe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CONSTRUCT SPEC IS A TABLE, NOT A PARAGRAPH — AND IT CAN BE REGENERATED FROM GENBANK IN MINUTES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54</a:t>
            </a:r>
            <a:endParaRPr lang="en-US" sz="650" dirty="0"/>
          </a:p>
        </p:txBody>
      </p:sp>
      <p:sp>
        <p:nvSpPr>
          <p:cNvPr id="64" name="Text 6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MUTAGENESIS_TARGETS_VERIFIED.TXT · STAGE 0 CONSERVATION RANKING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THIRD FACTOR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p33: a real effect without an explanation.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other live gene. A viroporin with a verified transmission effect — and no measured mechanism. That combination is exactly what Approach B is for.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971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Class I viroporin: inward K⁺/Na⁺ currents under voltage clamp in Xenopus oocytes; remodels membranes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Only the third viroporin described in a plant virus (Aknadibossian et al. 2025, full text)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32504" y="2651760"/>
            <a:ext cx="0" cy="30632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2544" y="2697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DOES TO TRANSMISSION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4352544" y="29718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T68-p33 into T36: 1.5% → 17.8% (16/90; Fisher p = 0.0012, OR 14.1 — verified, full text)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Accounts for ~94% of the chimera-series gain; CPm adds ~1 point on top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1584" y="2651760"/>
            <a:ext cx="0" cy="30632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21624" y="2697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NOBODY MEASURED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8421624" y="297180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89C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Source-plant titer in any p33 swap — the accumulation confound is open</a:t>
            </a:r>
            <a:endParaRPr lang="en-US" sz="92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89C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reciprocal: T36-p33 into a high-transmitter — causality untested</a:t>
            </a:r>
            <a:endParaRPr lang="en-US" sz="92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89C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Pleiotropy risk: p33 also runs plasmodesmata movement, host range (sour orange TMD), superinfection exclusion, CmMLP2 immunity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TOOL, NOT YET A TARGET — p33 JOINS THE PANEL AS APPROACH B, WITH TITER NORMALIZATION WRITTEN IN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54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SHILTS 2020 (FULL TEXT) · AKNADIBOSSIAN 2025 (FULL TEXT)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K174R / THE DEAD RESIDUE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abstract named a residue. Alignment buried it.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most instructive failure of the project — a single-residue story that survived a published abstract and died under ten minutes of sequence work.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5176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CLAIM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32704" y="265176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RE-DERIVATION SHOWED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12064" y="288950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" y="2971800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Virology 2026 (abstract): a triple-gene complement raised T36 from ~0.6% to ~50%; 'only p33 differs … a single amino acid change (K174R)'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632704" y="2971800"/>
            <a:ext cx="5870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swap pair — T36 clone and T68-1 — both encode K174 at that position. A K↔R change that moved nothing cannot explain an effect. The residue arithmetic was wrong.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" y="357530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3630168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(24.1%) and T68-1 (44.2%) carry R174 — 'the high-transmission residue'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632704" y="363016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 does T30 — at 1.57%. Same residue, fifteen-fold apart. R174 is neither sufficient nor explanatory.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412394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4178808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K174R as the construct target for a single-residue edit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632704" y="417880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Census of 125 full-length p33 sequences: R174 96.8%, K174 3.2% (4 isolates, none of them measured high transmitters).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064" y="467258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8920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survives: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gene-level result (~50% in a triple substitution) and the 2026 paper's own conclusion — 'coordinated function of P33, P61 and P65'. The full text remains paywalled; every use of it in this deck is tier-3 flagged.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LESSON FOR THE TEAM: A RESIDUE CLAIM FROM AN ABSTRACT IS A RUMOR UNTIL THE ALIGNMENT AGREES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54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PEER REVIEW 6/6 · CENSUS: 130 GENOMES · SHILTS 2026: ABSTRACT ONLY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COMPLEMENTATION / THE FIELD RISK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knockout works alone. Groves are not alone.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largest known hole in the product story: co-infecting genotypes rescue each other. Measurable, designable-around — but only if stated honestly now.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743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0.5%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T36 · SINGLE-GENOTYPE INFECTION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3575304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from a tree carrying only greenhouse T36.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9664" y="2651760"/>
            <a:ext cx="0" cy="17373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5424" y="2743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35.7%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T36 · FROM MIXED INFECTIONS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3575304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Same clone, co-infected with other genotypes: ~70-fold rescue. Harper et al. 2018.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38744" y="2651760"/>
            <a:ext cx="0" cy="17373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04504" y="2651760"/>
            <a:ext cx="3611880" cy="182880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87384" y="2788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MEANS FOR DESIGN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8787384" y="30632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Trial trees carry one genotype, verified by sequencing — no exceptions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Field claims are conditional until mixed-infection behavior is measured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512064" y="4800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biology is the adversary.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silenced construct planted beside a wild strain can ride it in trans — biocontainment is a population property, not just a sequence property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countermeasure is managerial. 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clean-stock programs and block deployment — the same discipline citrus already runs for other pathogens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SINGLE-GENOTYPE IS AN ASSAY RULE ON DAY ONE AND A REGULATORY CLAIM SHAPE ON LAUNCH DAY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54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ET AL. 2018 · ARCH VIROL 163:3373</a:t>
            </a:r>
            <a:endParaRPr lang="en-US" sz="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EXISTENCE PROOF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split phenotype is real. In the family, on the record.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crinivirus minor-coat mutant that moves systemically and is invisible to its vector: the exact phenotype this trial is engineered to copy.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517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VIRUS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49424" y="26517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7187184" y="265176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PROVES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12064" y="288950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297180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LIYV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· whitefly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2971800"/>
            <a:ext cx="4773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CPm frameshift (p1-5b, truncated 453→211 aa): whitefly transmission 0% — virion assembly and systemic movement fully intact (Stewart 2010)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7187184" y="2971800"/>
            <a:ext cx="4315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can be deleted at the minor coat without touching the plant phase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12064" y="352044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35753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LIYV×LCV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chimeras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2249424" y="3575304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CPm with 60% foreign sequence still transmits; at 41%, transmission lost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3575304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interface tolerates mutation breadth — it is plastic but has edges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12064" y="406908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123944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GLRaV-3</a:t>
            </a:r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· mealybug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2249424" y="4123944"/>
            <a:ext cx="4773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Retained in the foregut via CPm + HSP70h + p55 — same retention logic, no mutation data yet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7187184" y="4123944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tail-retention architecture generalizes across Closteroviridae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12064" y="458114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" y="4754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honest caveat: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LIYV's knockout is a frameshift — a sledgehammer, not a residue edit. No published CPm point mutation yet abolishes transmission while sparing assembly. That gap is Approach C's reason to exist.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MOVES IN PLANT · DEAD IN VECTOR · EXISTS IN NATURE — CTV IS THE CASE WHERE IT BECOMES A DESIGN RULE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/ 54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STEWART 2010 JVI 84:12165 · GLRAV-3 LITERATURE · WU 2015 POSITIVE SELECTION AT CPM CODON 9</a:t>
            </a:r>
            <a:endParaRPr lang="en-US" sz="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85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1563624" y="312724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239572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approaches.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EFE8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THREE OF FIVE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9776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E4D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construct lines, three assumption sets — designed so the same season adjudicates between them. Whichever column wins its readouts, Silvec comes out with a design rule.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PORTFOLIO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bets, three assumptions, one season.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Each approach wagers on a different mechanism. They share assay, host and protocol — so their readouts are directly comparable evidence about which story is true.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560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1929384" y="25603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THE KNOCKOUT (LEAD)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5221224" y="25603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· THE VIROPORIN ARM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8421624" y="2560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· THE TRUE CAPSID MUTANT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12064" y="279806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288036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CONSTRUCT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1929384" y="28803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backbone + T36 p61 (9) + p65 (2)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288036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backbone + T36 p33 (whole gene) + reciprocal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2880360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tail background + single p27 point edits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" y="330098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355848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ASSUMES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1929384" y="335584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gates at the tail interface; the 11 residues are the functional unit; titer untouched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3355848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tracks accumulation / ion homeostasis; binding unchanged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421624" y="33558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docking ligand itself can be edited at one surface residue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" y="390448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3959352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PREDICTS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>
            <a:off x="1929384" y="3959352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24.1% → ≤5%</a:t>
            </a:r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at parental titer; binding collapses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221224" y="3959352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falls with titer; cibarium binding stays normal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421624" y="395935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falls at equal titer; docking specifically dead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" y="445312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450799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KILLS IT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1929384" y="450799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silencing on two backbones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221224" y="4507992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Titer-normalized effect vanishes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421624" y="450799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residue map (dependent on A)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" y="49286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49834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CLOCK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1929384" y="498348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 wk to verdict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221224" y="49834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+ 4 wk, parallel arm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421624" y="4983480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starts after A's map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2064" y="531266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A HEDGE — A DISCRIMINATOR: THE THREE PREDICT DIFFERENT MEASUREMENTS, NOT JUST DIFFERENT OUTCOMES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/ 54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APPROACH / A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knockout — the lead bet.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Move T36's p61+p65 alleles into the transmissible FS577 backbone. Harper proved the pair opens the gate; Trial 1 asks whether the same residues close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651760"/>
            <a:ext cx="4206240" cy="3108960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816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CONSTRUCT SET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1089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3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Parent —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wild type (24.1%; system validation)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3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A1 —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+ T36 p61 alone (9 changes)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3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A2 —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+ T36 p65 alone (2 changes)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3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A3 —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+ T36 p61 + p65 (all 11)</a:t>
            </a:r>
            <a:endParaRPr lang="en-US" sz="93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3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Rule — </a:t>
            </a:r>
            <a:pPr indent="0" marL="0">
              <a:lnSpc>
                <a:spcPct val="104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p25 and p27 stay wild type; full-length sequence every clone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983480" y="2651760"/>
            <a:ext cx="0" cy="31089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6700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ASSUMPTIONS — EACH MAPPED TO ITS TEST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9443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9443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ASSUMPTION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9443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PROVEN BY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303520" y="3182112"/>
            <a:ext cx="640080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326440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26440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11 residues are necessary for transmission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326440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A3 silences FS577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3593592"/>
            <a:ext cx="640080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364845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36484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Mechanism is docking, not accumulation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3648456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RT-qPCR titer stays parental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3977640"/>
            <a:ext cx="640080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4032504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403250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p33 is not required for the silencing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403250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A3 alone reaches ≤5% (else B joins)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4416552"/>
            <a:ext cx="640080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0" y="4471416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447141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Single-genotype results bound the field claim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447141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Purity sequencing; mixed arm parked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4855464"/>
            <a:ext cx="640080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3520" y="4910328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760720" y="4910328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pair — not a subset — is the unit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9103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A1/A2 singles stay near parental 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5294376"/>
            <a:ext cx="640080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PRE-REGISTERED: SILENCE TO ≤5% AT PARENTAL TITER = GO · ANYTHING ELSE IS A WRITTEN-DOWN NEXT STEP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/ 54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MINIMUM KILL TEST: PARENT + A3 · FULL DESIGN: +A1/A2 (~1,000 PLANTS)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APPROACH / B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different wager on how transmission works.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p33's verified effect runs through accumulation and ion homeostasis rather than docking, that is a second, independent containment lever — and this arm prices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697480"/>
            <a:ext cx="5394960" cy="306324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8620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1546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Primary —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p33 (whole gene) into FS577, titer-matched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Registered reciprocal —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missing causality test, designed before data arrives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Mandatory —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RT-qPCR titer on every source plant; transmission normalized per unit titer — the peer review's loudest fix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Excluded — </a:t>
            </a:r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K174R point edit: falsified; never enters the library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291072" y="2697480"/>
            <a:ext cx="5394960" cy="306324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8620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BUYS, WIN OR LOSE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31546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transmission tracks titer —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mechanism is accumulation; binding stays normal; Approach A remains the product path and B is explained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transmission falls at fixed titer —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second interface exists: two independent silencing levers for the platform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Watch the pleiotropy — </a:t>
            </a:r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p33 is movement / host-range / superinfection machinery; the titer gate (≥80% WT) is what makes this arm safe to run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PEER REVIEW'S PRICE OF ADMISSION: TITER-NORMALIZED INOCULUM, OR THE NUMBERS MEAN NOTHING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/ 54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SHILTS 2020 SWAP DATA · AKNADIBOSSIAN 2025 VIROPORIN · PANELS R1+R2</a:t>
            </a:r>
            <a:endParaRPr lang="en-US" sz="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APPROACH / C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literal capsid mutation — after the map.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question as originally posed: a p27 (minor coat) point edit that kills docking while sparing assembly. Nobody has published one. The residue map from Approach A is what makes it aimable.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RULE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4718304" y="2606040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12064" y="284378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" y="292608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Align CPm across strains and family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926080"/>
            <a:ext cx="6784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Surface / variable / positively selected sites first — e.g. codon 9 (Wu et al. 2015)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12064" y="327355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3328416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Non-conservative single substitutions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3328416"/>
            <a:ext cx="6784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LIYV says truncations work; the goal is the minimal edit, not the maximal disruption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12064" y="367588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373075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Keep transmissible p61/p65 in the background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3730752"/>
            <a:ext cx="6784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 a CPm effect is not confounded by the T36 chaperone set — the lesson Harper's genetics teaches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12064" y="413308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18795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Screen on the cibarium binding assay first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4718304" y="4187952"/>
            <a:ext cx="6784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Days, not weeks: only binding-dead candidates earn greenhouse space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12064" y="459028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464515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Gate C on A's residue map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4718304" y="4645152"/>
            <a:ext cx="6784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p61/p65 carry transmission, the map says where CPm sits relative to the functional unit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12064" y="504748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Why it matters commercially: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single-residue edit is the cleanest possible regulatory and patent claim — one changed codon, one mechanism, one phenotype. It is worth having; it is not worth guessing at before the map.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IS THE INHERITANCE OF A, NOT A COMPETITOR — THE MAP FROM ONE DESIGN AIMS THE NEXT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/ 54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LIYV PRECEDENT (STEWART 2010) · WU 2015 · KILLINY 2016 ASSAY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DISCRIMINATOR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protocol, three mechanisms, different predictions.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three approaches are not three guesses at the same answer — they predict different measurements across the same three readouts. The season tells you which story was true.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CONSTRUCT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3529584" y="26974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RT-QPCR TITER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5907024" y="26974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CIBARIUM BINDING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8650224" y="26974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TRANSMISSION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12064" y="293522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30175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wild type (parent)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3017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parental (ref)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07024" y="301752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strong (ref)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650224" y="301752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24.1%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" y="341985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47472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A3 · + T36 p61+p65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29584" y="347472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= parental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07024" y="347472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▼ collapses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650224" y="347472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≤5%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" y="398678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404164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E89C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 · + T36 p33 (whole gene)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529584" y="404164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89C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? titer-linked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907024" y="404164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= unchanged (pred.)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650224" y="404164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if accumulation gates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" y="455371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460857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 · p27 point edits (later)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529584" y="460857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= parental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907024" y="460857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▼ dead at the tail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650224" y="460857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≤5%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" y="512064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binding assay is the tie-breaker of record: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silenced construct that never docks = interface defect (design more C-type edits); one that docks but fails = downstream defect (rethink the interface model). Both are publishable mechanism answers — but only the first extends the design rule.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WHICHEVER COLUMN MOVES, SILVEC LEARNS WHICH MACHINE IT IS EDITING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/ 54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PREDICTIONS REGISTERED BEFORE CLONING — THAT IS WHAT MAKES THEM EVIDENCE AFTER</a:t>
            </a:r>
            <a:endParaRPr lang="en-US" sz="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1563624" y="312724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239572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conditions.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FOUR OF FIVE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9776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the trial needs in hand before it deserves greenhouse space. What would raise the value of a yes. What would kill it. And how the numbers get kept honest while everyone is hoping.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 / PREREQUISITES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conditions. Four in hand, one to confirm.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any first virology trial must clear before it deserves greenhouse space. This one clears more of them than most topics could.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06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3163824" y="26060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MATTERS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8010144" y="26060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12064" y="284378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292608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Infectious clones exist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63824" y="2926080"/>
            <a:ext cx="4681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Gain-of-function swaps were already demonstrated on this exact backbone — the inverse is standard subcloning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10144" y="2926080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 — 947R (AY170468) · FS577 (KC517488)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" y="334670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340156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published assay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163824" y="3401568"/>
            <a:ext cx="4681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Harper protocol is documented end-to-end, with verified positive and negative baselines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010144" y="3401568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 — 24 H ACQ · 10 APHIDS · ELISA 8 WK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" y="382219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387705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defined host and vector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163824" y="3877056"/>
            <a:ext cx="4681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host species, one aphid species — no host-range ambiguity contaminating the readout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10144" y="3877056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 — C. MACROPHYLLA · T. CITRICIDA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2064" y="429768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" y="435254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titer control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163824" y="4352544"/>
            <a:ext cx="4681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 separates movement loss from docking loss — the two phenotypes the trial must keep apart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4352544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 — RT-QPCR + ELISA ON SOURCE FLUSH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2064" y="477316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482803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transmissible backbone clone in hand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163824" y="4828032"/>
            <a:ext cx="4681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knockout needs a recipient that transmits. Field-isolate clones exist; physical access and containment status must be confirmed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010144" y="482803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 CONFIRM — FS577 OR T68 CLONE · THIS WEEK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2064" y="528523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FIFTH ROW IS THE WHOLE TRIAL — AND IT IS A PHONE CALL, NOT AN EXPERIMENT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/ 54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 / AMPLIFIERS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would make it a great trial.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None required for the knockout. Each raises the value of the same lab work — or compresses the loop from weeks to days.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743200"/>
            <a:ext cx="5394960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871216"/>
            <a:ext cx="4992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RAISES THE VALUE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09067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residue map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01568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Eleven substitutions tested in blocks, then singles, converts one knockout into a transferable design rule for any closterovirus transmission module.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291072" y="2743200"/>
            <a:ext cx="5394960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871216"/>
            <a:ext cx="4992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RAISES THE VALUE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9067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second backbone (T68)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401568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Same tail architecture, different genotype. Reproducing the silencing there separates a universal mechanism from an isolate quirk — a rule, not a result.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12064" y="4425696"/>
            <a:ext cx="5394960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553712"/>
            <a:ext cx="4992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SHORTENS THE LOOP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77316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cibarium binding assay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5084064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Fluorescent virions on dissected foreguts (Killiny 2016). Days instead of eight weeks — and it splits 'never docks' from 'docks but won't transmit'.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291072" y="4425696"/>
            <a:ext cx="5394960" cy="148132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553712"/>
            <a:ext cx="4992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COSTS NOTHING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77316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CYVaV platform parallel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084064"/>
            <a:ext cx="4992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Silvec's own vector is capsid-free — vector-incompatible by architecture. Every CTV result lands beside it as the same biocontainment logic, written in two systems.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FIRST TWO MAKE A RULE · THE THIRD COMPRESSES THE LOOP · THE FOURTH IS WHY IT'S A PLATFORM STORY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/ 54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 / DISQUALIFIERS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would make it the wrong trial.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failure mode is fatal and detectable in the first assay. The other two keep the science sound but shrink the claim.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697480"/>
            <a:ext cx="11167567" cy="969264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862072"/>
            <a:ext cx="960120" cy="17373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57500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FATAL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8163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swap doesn't silence the backbone.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83664" y="31272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FS577 carrying T36's p61+p65 still transmits, gating depends on something the eleven residues don't supply. Two clones were all it cost to find out.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EIGHT-WEEK READOUT DECIDES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12064" y="3776472"/>
            <a:ext cx="11167567" cy="969264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941064"/>
            <a:ext cx="960120" cy="173736"/>
          </a:xfrm>
          <a:prstGeom prst="rect">
            <a:avLst/>
          </a:prstGeom>
          <a:solidFill>
            <a:srgbClr val="E89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93649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WEAKENS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1883664" y="38953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Mixed infections rescue transmission.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883664" y="4206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0.5% alone, 35.7% co-infected. Field claims rest on single-genotype conditions — and real groves are mixed. Known before the first clone is built.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ASSAY SINGLE INFECTIONS · DEPLOYMENT CLAIM NARROWS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12064" y="4855464"/>
            <a:ext cx="11167567" cy="969264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020056"/>
            <a:ext cx="960120" cy="173736"/>
          </a:xfrm>
          <a:prstGeom prst="rect">
            <a:avLst/>
          </a:prstGeom>
          <a:solidFill>
            <a:srgbClr val="E89C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0154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WEAKENS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1883664" y="4974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 or movement falls with transmission.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883664" y="528523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Then you've built an assembly defect wearing a vector defect's clothes. The entire premise is that the two are separable.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5285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RT-QPCR ON SOURCE TISSUE DISCRIMINATES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THE FATAL CASE HOLDS, THE FALLBACK IS THE p27 MAP — APPROACH C, NOT ABANDONMENT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/ 54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STATISTICS DISCIPLINE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Small numbers look exact. The intervals say otherwise.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peer panel recomputed every claim to unanimity. These are the three statistical habits that keep the trial from lying to itself.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517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95% CONFIDENCE INTERVALS · CLOPPER-PEARSON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92608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T68-1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85309" y="3090672"/>
            <a:ext cx="1002182" cy="0"/>
          </a:xfrm>
          <a:prstGeom prst="line">
            <a:avLst/>
          </a:prstGeom>
          <a:noFill/>
          <a:ln w="25400">
            <a:solidFill>
              <a:srgbClr val="7A76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5309" y="3049524"/>
            <a:ext cx="0" cy="82296"/>
          </a:xfrm>
          <a:prstGeom prst="line">
            <a:avLst/>
          </a:prstGeom>
          <a:noFill/>
          <a:ln w="12700">
            <a:solidFill>
              <a:srgbClr val="7A76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7491" y="3049524"/>
            <a:ext cx="0" cy="82296"/>
          </a:xfrm>
          <a:prstGeom prst="line">
            <a:avLst/>
          </a:prstGeom>
          <a:noFill/>
          <a:ln w="12700">
            <a:solidFill>
              <a:srgbClr val="7A76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37022" y="3044952"/>
            <a:ext cx="91440" cy="91440"/>
          </a:xfrm>
          <a:prstGeom prst="ellipse">
            <a:avLst/>
          </a:prstGeom>
          <a:solidFill>
            <a:srgbClr val="7A76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29260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95/215</a:t>
            </a:r>
            <a:endParaRPr lang="en-US" sz="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25526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66667" y="3374136"/>
            <a:ext cx="91440" cy="91440"/>
          </a:xfrm>
          <a:prstGeom prst="ellipse">
            <a:avLst/>
          </a:prstGeom>
          <a:solidFill>
            <a:srgbClr val="E89C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325526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95/394</a:t>
            </a:r>
            <a:endParaRPr lang="en-US" sz="6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358444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T36+p33 swap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3749040"/>
            <a:ext cx="1228954" cy="0"/>
          </a:xfrm>
          <a:prstGeom prst="line">
            <a:avLst/>
          </a:prstGeom>
          <a:noFill/>
          <a:ln w="25400">
            <a:solidFill>
              <a:srgbClr val="E89C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707892"/>
            <a:ext cx="0" cy="82296"/>
          </a:xfrm>
          <a:prstGeom prst="line">
            <a:avLst/>
          </a:prstGeom>
          <a:noFill/>
          <a:ln w="12700">
            <a:solidFill>
              <a:srgbClr val="E89C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46474" y="3707892"/>
            <a:ext cx="0" cy="82296"/>
          </a:xfrm>
          <a:prstGeom prst="line">
            <a:avLst/>
          </a:prstGeom>
          <a:noFill/>
          <a:ln w="12700">
            <a:solidFill>
              <a:srgbClr val="E89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05810" y="3703320"/>
            <a:ext cx="91440" cy="91440"/>
          </a:xfrm>
          <a:prstGeom prst="ellipse">
            <a:avLst/>
          </a:prstGeom>
          <a:solidFill>
            <a:srgbClr val="E89C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27648" y="358444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16/90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" y="39136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63323" y="4078224"/>
            <a:ext cx="393558" cy="0"/>
          </a:xfrm>
          <a:prstGeom prst="line">
            <a:avLst/>
          </a:prstGeom>
          <a:noFill/>
          <a:ln w="25400">
            <a:solidFill>
              <a:srgbClr val="7A76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63323" y="4037076"/>
            <a:ext cx="0" cy="82296"/>
          </a:xfrm>
          <a:prstGeom prst="line">
            <a:avLst/>
          </a:prstGeom>
          <a:noFill/>
          <a:ln w="12700">
            <a:solidFill>
              <a:srgbClr val="7A76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6881" y="4037076"/>
            <a:ext cx="0" cy="82296"/>
          </a:xfrm>
          <a:prstGeom prst="line">
            <a:avLst/>
          </a:prstGeom>
          <a:noFill/>
          <a:ln w="12700">
            <a:solidFill>
              <a:srgbClr val="7A76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8553" y="4032504"/>
            <a:ext cx="91440" cy="91440"/>
          </a:xfrm>
          <a:prstGeom prst="ellipse">
            <a:avLst/>
          </a:prstGeom>
          <a:solidFill>
            <a:srgbClr val="7A766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391363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2/127</a:t>
            </a:r>
            <a:endParaRPr lang="en-US" sz="6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" y="424281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field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52350" y="4407408"/>
            <a:ext cx="593994" cy="0"/>
          </a:xfrm>
          <a:prstGeom prst="line">
            <a:avLst/>
          </a:prstGeom>
          <a:noFill/>
          <a:ln w="25400">
            <a:solidFill>
              <a:srgbClr val="B851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2350" y="4366260"/>
            <a:ext cx="0" cy="82296"/>
          </a:xfrm>
          <a:prstGeom prst="line">
            <a:avLst/>
          </a:prstGeom>
          <a:noFill/>
          <a:ln w="12700">
            <a:solidFill>
              <a:srgbClr val="B851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46344" y="4366260"/>
            <a:ext cx="0" cy="82296"/>
          </a:xfrm>
          <a:prstGeom prst="line">
            <a:avLst/>
          </a:prstGeom>
          <a:noFill/>
          <a:ln w="12700">
            <a:solidFill>
              <a:srgbClr val="B851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13432" y="4361688"/>
            <a:ext cx="91440" cy="91440"/>
          </a:xfrm>
          <a:prstGeom prst="ellipse">
            <a:avLst/>
          </a:prstGeom>
          <a:solidFill>
            <a:srgbClr val="B851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424281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1/66</a:t>
            </a:r>
            <a:endParaRPr lang="en-US" sz="600" dirty="0"/>
          </a:p>
        </p:txBody>
      </p:sp>
      <p:sp>
        <p:nvSpPr>
          <p:cNvPr id="35" name="Text 33"/>
          <p:cNvSpPr txBox="1"/>
          <p:nvPr/>
        </p:nvSpPr>
        <p:spPr>
          <a:xfrm>
            <a:off x="512064" y="4800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T36's '1.5%' is one positive plant out of 66 — say 'low single digits' when the distinction matters.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2606040"/>
            <a:ext cx="0" cy="32004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274320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8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Don't chase 5-point gaps.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9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n=90/arm sees a 5-pp effect at 14% power; 80% power needs ~934/arm. Small effects are unbuyable — design for big ones</a:t>
            </a:r>
            <a:endParaRPr lang="en-US" sz="9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8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Containment is a zero.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9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0/200 transmissions → upper 95% bound 1.5%. That is the claim shape 'transmission-disabled' actually means</a:t>
            </a:r>
            <a:endParaRPr lang="en-US" sz="9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8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Multiplicity is a leak. </a:t>
            </a:r>
            <a:pPr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 uncorrected tests → 30% chance of a false positive. The panel caps primaries at 3–4, Bonferroni α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RATE IS STATED WITH ITS n · EVERY CLAIM WITH ITS INTERVAL · EVERY COMPARISON WITH ITS CORRECTION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/ 54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RECOMPUTED TO 6/6 UNANIMITY · ROUND-2 PANEL</a:t>
            </a:r>
            <a:endParaRPr lang="en-US" sz="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/ REQUIREMENTS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makes a transmission number count.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Six rules, all learnable from Harper's own two papers. They generalize to any vector-competence work Silvec ever runs.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697480"/>
            <a:ext cx="3593592" cy="137160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27889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Single-genotype source trees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" y="3172968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Complementation between co-infecting genotypes moves T36 ~70-fold. One clone per tree; purity verified by sequencing.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97680" y="2697480"/>
            <a:ext cx="3593592" cy="137160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7889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same assay, the same way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172968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 h acquisition, 10 aphids per plant, 24 h inoculation, ELISA at 8 weeks. The protocol exists so results are comparable.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83296" y="2697480"/>
            <a:ext cx="3593592" cy="137160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0456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278892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 on every source plant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3172968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is only interpretable against source titer. RT-qPCR plus ELISA on the flush the aphids actually fed on.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12064" y="4251960"/>
            <a:ext cx="3593592" cy="137160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" y="4343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43434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Denominators, not adjectives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4727448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'35 of 196' carries its confidence interval inside it. 'About a fifth' does not.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297680" y="4251960"/>
            <a:ext cx="3593592" cy="137160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4343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3434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Blinded scoring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727448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Whoever reads the ELISA does not know which clone is on the bench. A 1% effect at the assay floor needs protection from expectation.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083296" y="4251960"/>
            <a:ext cx="3593592" cy="137160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0456" y="4343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631936" y="43434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row per plant, machine-readable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220456" y="4727448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Clone, titer, aphid batch, acquisition date, OD, Ct. Fifty clean rows beat five hundred narrated ones.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STANDING CHECKLIST — USEFUL ON EVERY FUTURE VECTOR PROJECT, WHATEVER THIS TRIAL FINDS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/ 54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/ ANTI-PATTERNS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makes a transmission number lie.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categories. The second is the dangerous one — missing data announces itself; biased data produces a confident result that is wrong.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743200"/>
            <a:ext cx="5394960" cy="301752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9077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MAKES IT UNUSABLE · HARD BLOCKERS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200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Rates without denominators.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'Poorly transmitted' is not a number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Mixed isolates passed as one genotype.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quasispecies clouds make every swap ambiguous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Non-clonal starting material.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greenhouse T36 populations drift by construction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Undocumented aphid colonies. </a:t>
            </a:r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T. citricida competence varies by colony and lineage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291072" y="2743200"/>
            <a:ext cx="5394960" cy="3017520"/>
          </a:xfrm>
          <a:prstGeom prst="rect">
            <a:avLst/>
          </a:prstGeom>
          <a:solidFill>
            <a:srgbClr val="1A18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9077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MAKES IT MISLEADING · SILENT DEGRADERS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3182112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2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Greenhouse drift read as biology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900"/>
              </a:spcAft>
              <a:buNone/>
            </a:pPr>
            <a:r>
              <a:rPr lang="en-US" sz="86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   T36 lost transmission exactly this way: decades of graft-only passage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2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Titer drift between source plants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900"/>
              </a:spcAft>
              <a:buNone/>
            </a:pPr>
            <a:r>
              <a:rPr lang="en-US" sz="86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   scales with titer; unmeasured, it reads as genotype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2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Scoring from mixed-symptom trees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900"/>
              </a:spcAft>
              <a:buNone/>
            </a:pPr>
            <a:r>
              <a:rPr lang="en-US" sz="86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   the 35.7% complementation result is this trap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2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Host swaps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900"/>
              </a:spcAft>
              <a:buNone/>
            </a:pPr>
            <a:r>
              <a:rPr lang="en-US" sz="86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   a macrophylla rate says nothing about sweet orange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200"/>
              </a:spcAft>
              <a:buNone/>
            </a:pPr>
            <a:r>
              <a:rPr lang="en-US" sz="92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Undocumented experimental units</a:t>
            </a:r>
            <a:endParaRPr lang="en-US" sz="920" dirty="0"/>
          </a:p>
          <a:p>
            <a:pPr indent="0" marL="0">
              <a:lnSpc>
                <a:spcPct val="98000"/>
              </a:lnSpc>
              <a:spcAft>
                <a:spcPts val="900"/>
              </a:spcAft>
              <a:buNone/>
            </a:pPr>
            <a:r>
              <a:rPr lang="en-US" sz="86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   pooled vs independent inoculations decide if CIs are real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BIGGEST RISK IS QUIET: A DRIFTED OR COMPLEMENTED CLONE MASQUERADING AS A RESULT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/ 54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RISK REGISTER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Six ways it bends. Each has a written counter.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Registered now, so a bad week in the greenhouse reads as a branch on the tree, not a surprise.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060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4443984" y="2606040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COUNTER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12064" y="284378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" y="2926080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Constructs don't assemble or replicate</a:t>
            </a:r>
            <a:endParaRPr lang="en-US" sz="940" dirty="0"/>
          </a:p>
        </p:txBody>
      </p:sp>
      <p:sp>
        <p:nvSpPr>
          <p:cNvPr id="11" name="Text 9"/>
          <p:cNvSpPr txBox="1"/>
          <p:nvPr/>
        </p:nvSpPr>
        <p:spPr>
          <a:xfrm>
            <a:off x="4443984" y="2926080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Stage-0 N. benthamiana agroinfiltration, RT-qPCR at day 5–7; ≥80% of WT titer or the clone never meets an aphid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329184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3346704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Partial silencing (5–15% band)</a:t>
            </a:r>
            <a:endParaRPr lang="en-US" sz="94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3346704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Pre-planned Phase 2 joins — p33 whole-gene arm or the reciprocal — no redesign under time pressure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12064" y="371246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3767328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Pleiotropic movement loss</a:t>
            </a:r>
            <a:endParaRPr lang="en-US" sz="94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3767328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p61/p65 are HSP homologs, not p23; verify by full-length sequencing and systemic-symptom tracking anyway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13308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187952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Host transfer: macrophylla ≠ sweet orange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4443984" y="4187952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Trial reads movement on the assay host; citrus validation is its own stage with its own gate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12064" y="455371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4608576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Drifted or mixed clone stocks</a:t>
            </a:r>
            <a:endParaRPr lang="en-US" sz="940" dirty="0"/>
          </a:p>
        </p:txBody>
      </p:sp>
      <p:sp>
        <p:nvSpPr>
          <p:cNvPr id="23" name="Text 21"/>
          <p:cNvSpPr txBox="1"/>
          <p:nvPr/>
        </p:nvSpPr>
        <p:spPr>
          <a:xfrm>
            <a:off x="4443984" y="4608576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Clonal founders, re-sequence every batch; quasispecies clouds are the classic silent degrader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12064" y="497433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5029200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Experimental units undocumented</a:t>
            </a:r>
            <a:endParaRPr lang="en-US" sz="940" dirty="0"/>
          </a:p>
        </p:txBody>
      </p:sp>
      <p:sp>
        <p:nvSpPr>
          <p:cNvPr id="26" name="Text 24"/>
          <p:cNvSpPr txBox="1"/>
          <p:nvPr/>
        </p:nvSpPr>
        <p:spPr>
          <a:xfrm>
            <a:off x="4443984" y="5029200"/>
            <a:ext cx="7059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Plants/runs/batches logged before statistics are invoked — the panel's structural fix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12064" y="539496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RISK IS A REGISTERED BRANCH — THE TRIAL CAN SURPRISE US WITH DATA, NOT WITH DESIGN GAPS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/ 54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DECISION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answers, three outcomes.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Each answer changes what happens next. The first one changes it absolutely.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060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4992624" y="26060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YES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8284464" y="26060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NO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12064" y="284378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2926080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· </a:t>
            </a:r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 T36 p61+p65 silence the transmissible backbone?</a:t>
            </a:r>
            <a:endParaRPr lang="en-US" sz="94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29260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hypothesis stands. Build the map.</a:t>
            </a:r>
            <a:endParaRPr lang="en-US" sz="94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926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Backbone-dependent. Stop or redesign.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12064" y="33284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3383280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 · </a:t>
            </a:r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Are titer and systemic movement preserved?</a:t>
            </a:r>
            <a:endParaRPr lang="en-US" sz="940" dirty="0"/>
          </a:p>
        </p:txBody>
      </p:sp>
      <p:sp>
        <p:nvSpPr>
          <p:cNvPr id="16" name="Text 14"/>
          <p:cNvSpPr txBox="1"/>
          <p:nvPr/>
        </p:nvSpPr>
        <p:spPr>
          <a:xfrm>
            <a:off x="4992624" y="33832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phenotypes are separable — the premise holds.</a:t>
            </a:r>
            <a:endParaRPr lang="en-US" sz="94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33832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assembly defect, not a vector defect.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37856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3840480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· </a:t>
            </a:r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 single-gene swaps silence partially?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4992624" y="38404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graded gate — the residue map has headroom.</a:t>
            </a:r>
            <a:endParaRPr lang="en-US" sz="94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38404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All-or-nothing: the pair is the minimal edit.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12064" y="42428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" y="4297680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 · </a:t>
            </a:r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Does cibarium binding track transmission?</a:t>
            </a:r>
            <a:endParaRPr lang="en-US" sz="940" dirty="0"/>
          </a:p>
        </p:txBody>
      </p:sp>
      <p:sp>
        <p:nvSpPr>
          <p:cNvPr id="24" name="Text 22"/>
          <p:cNvSpPr txBox="1"/>
          <p:nvPr/>
        </p:nvSpPr>
        <p:spPr>
          <a:xfrm>
            <a:off x="4992624" y="429768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days-scale screen for every future variant.</a:t>
            </a:r>
            <a:endParaRPr lang="en-US" sz="940" dirty="0"/>
          </a:p>
        </p:txBody>
      </p:sp>
      <p:sp>
        <p:nvSpPr>
          <p:cNvPr id="25" name="Text 23"/>
          <p:cNvSpPr txBox="1"/>
          <p:nvPr/>
        </p:nvSpPr>
        <p:spPr>
          <a:xfrm>
            <a:off x="8284464" y="42976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Failure is downstream of docking — different biology.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512064" y="47000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" y="4828032"/>
            <a:ext cx="3593592" cy="109728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Strong case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419856" y="4946904"/>
            <a:ext cx="502920" cy="173736"/>
          </a:xfrm>
          <a:prstGeom prst="rect">
            <a:avLst/>
          </a:prstGeom>
          <a:solidFill>
            <a:srgbClr val="4F5A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19856" y="494233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" y="523951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Proceed to the residue map and second backbone. The design rule is real.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306824" y="4828032"/>
            <a:ext cx="3593592" cy="109728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9704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Proof of principle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214616" y="4946904"/>
            <a:ext cx="502920" cy="173736"/>
          </a:xfrm>
          <a:prstGeom prst="rect">
            <a:avLst/>
          </a:prstGeom>
          <a:solidFill>
            <a:srgbClr val="E89C4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14616" y="494233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4489704" y="523951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Publishable and defensible — but the platform claim narrows to what the titer data supports.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8101584" y="4828032"/>
            <a:ext cx="3593592" cy="109728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84464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Change target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1009376" y="4946904"/>
            <a:ext cx="502920" cy="173736"/>
          </a:xfrm>
          <a:prstGeom prst="rect">
            <a:avLst/>
          </a:prstGeom>
          <a:solidFill>
            <a:srgbClr val="B8512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009376" y="494233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8284464" y="523951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Move to the p27 map via the binding assay — or reframe as a T36 mechanism study with p33 in play.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IS THE GATE · Q3 SIZES THE DESIGN SPACE · Q4 BUYS THE FAST SCREEN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/ 54</a:t>
            </a:r>
            <a:endParaRPr lang="en-US" sz="650" dirty="0"/>
          </a:p>
        </p:txBody>
      </p:sp>
      <p:sp>
        <p:nvSpPr>
          <p:cNvPr id="45" name="Text 43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1563624" y="312724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239572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plan.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FIVE OF FIVE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9776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is already finished in silico. The protocol, the pre-registered pass line, the stages with their gates — and the next round of AI work that runs in parallel while the greenhouse ticks.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 / IN SILICO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Already done: everything that doesn't grow.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Stage 0 closed inside the working sessions. What remains before construct ordering is logistics, not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697480"/>
            <a:ext cx="5394960" cy="306324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8620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DONE · IN THE REPO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1546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Substitution table re-derived from GenBank CDS (11 changes, AY170468 numbering)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Conservation &amp; ranking annotation per residue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Pre-registered H0/H1 + decision bands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Power analysis &amp; sample sizes (binomial, verified)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Risk register with counters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Corrections log — five errors fixed, superseded decks marked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291072" y="2697480"/>
            <a:ext cx="5394960" cy="3063240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8620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 ORDERING · LOGISTICS ONLY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31546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Physical access: transmissible backbone clone (FS577 or T68)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Aphid colony on hand + its historical baseline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Containment route for construct work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Citrus host for validation phase (Hamlin? Duncan? grapefruit?)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550"/>
              </a:spcAft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Capacity: ~550–700 aphid transfers across 3–4 weeks</a:t>
            </a:r>
            <a:endParaRPr lang="en-US" sz="94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scientist, a few hours, to confirm the five above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ANALYSIS IS COMPLETE · THE REMAINING QUESTIONS COULD BE ANSWERED IN ONE AFTERNOON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 / 54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ASSAY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protocol already exists. We change nothing.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Harper's published pipeline, run with clone identity masked and titer on every source plant. Comparable by construction to every number in the record.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CONDITIONS · HARPER 2016 PROTOCOL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9718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C. macrophylla seedlings, single-genotype infections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 h acquisition on titred source flush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 T. citricida per plant · 24 h inoculation access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ELISA readout at 8 weeks · clone identity masked from scorers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RT-qPCR + ELISA titer on every source plant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029200" y="2651760"/>
            <a:ext cx="0" cy="31089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2697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ARMS &amp; NUMBERS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971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ARM</a:t>
            </a:r>
            <a:endParaRPr lang="en-US" sz="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71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349240" y="3209544"/>
            <a:ext cx="310896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3291840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Primary construct (A3)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29184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250–300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349240" y="3547872"/>
            <a:ext cx="310896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3602736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control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60273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100–150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349240" y="3858768"/>
            <a:ext cx="310896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3913632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Singles A1 / A2 (optional)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391363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each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49240" y="4169664"/>
            <a:ext cx="310896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9240" y="4224528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Total Phase 1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22452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≈550–700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349240" y="4480560"/>
            <a:ext cx="310896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2651760"/>
            <a:ext cx="0" cy="31089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2697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&amp; CLOCK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9535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~$8–13K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38328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PHASE 1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3602736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≈$2–3K aphid trials + $5–10K construct synthesis &amp; validation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3–4 wk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5445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TRANSMISSION RUN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764024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After infection is confirmed; 8-week ELISA is the long pole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 ENOUGH TO FIT NEXT TO EXISTING GREENHOUSE WORK · LARGE ENOUGH THAT 0/200 READS AS ≤1.5%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 / 54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PRE-REGISTERED / CRITERIA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pass line is signed before the clones exist.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Nothing about the verdict gets renegotiated after the data lands. That is what makes a win unarguable — and a loss useful.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51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066544" y="26517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TRANSMISSION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4078224" y="26517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MEANING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6912864" y="26517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MOVE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12064" y="288950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29718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H0 · NULL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066544" y="29718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≥ 15%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4078224" y="29718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p61+p65 alone insufficient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6912864" y="29718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Pre-planned: add the p33 gene arm (Approach B), or run the reciprocal — no ad-hoc rescue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12064" y="337413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4290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 · UNCLEAR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2066544" y="34290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A18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– 15%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4078224" y="34290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Partial effect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6912864" y="34290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Phase 2: block/single-swap panel to build the residue map; binding assay splits docking vs downstream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12064" y="383133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3886200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 · PASS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066544" y="3886200"/>
            <a:ext cx="1847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≤ 5%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4078224" y="3886200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Biocontainment achieved at parental titer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886200"/>
            <a:ext cx="4590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Proceed to citrus validation; begin Approach C (p27 residue map); draft the IP position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12064" y="434340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" y="4617720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2064" y="4754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null statement, written in advance:  </a:t>
            </a:r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“If transmission remains ≥15% at parental titer, we conclude the eleven-residue set is not sufficient for silencing on this backbone, and transmission gating depends on factors outside p61+p65.”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" y="54864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Construct spec, hypotheses and criteria frozen in the repo before cloning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Predictions and analysis plan registered (OSF) so the panel — and reviewers — can audit them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" y="6126480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" y="6217920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HARKING · NO MOVING GOALPOSTS · A 1% EFFECT MASKED FROM HOPE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 / 54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STAGE_0_IN_SILICO_PLANNING.MD · PRE-REGISTERED</a:t>
            </a:r>
            <a:endParaRPr lang="en-US" sz="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/ GO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staged plan, gated at the first assay.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Nothing living is touched before the alignment gate passes; nothing expensive is committed before systemic infection at parental titer.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 · 2 WEEKS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Align and design.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66090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Re-derive the eleven substitutions from the GenBank CDS translations — never a supplement — and freeze the four constructs in writing. Register H0/H1, criteria, and the null statement.</a:t>
            </a:r>
            <a:endParaRPr lang="en-US" sz="860" dirty="0"/>
          </a:p>
        </p:txBody>
      </p:sp>
      <p:sp>
        <p:nvSpPr>
          <p:cNvPr id="10" name="Text 8"/>
          <p:cNvSpPr txBox="1"/>
          <p:nvPr/>
        </p:nvSpPr>
        <p:spPr>
          <a:xfrm>
            <a:off x="9464040" y="2679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9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PROCEED IF: ALIGNMENT CONFIRMED · BACKBONE CLONE IN HAND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512064" y="345643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1 · 4–8 WEEKS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Build and verify.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52958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Assemble A–A3 on the FS577 backbone; full-length sequence every clone; agroinoculate C. macrophylla; confirm systemic infection at parental titer. No aphid work before this passes.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35478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9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ONLY THING GREENHOUSE SPACE BUYS BEFORE THIS IS SEEDLINGS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12064" y="432511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2 · ~8 WEEKS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Transmit — blinded.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39826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 h acquisition on titred flush, 10 T. citricida per plant, ELISA at 8 weeks, clone identity masked. ~250 plants on the primary arm.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44165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9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 IF TITER DROPS OR TRANSMISSION STAYS ABOVE 5%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12064" y="519379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5257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3 · DAYS (OPTIONAL)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Add the binding screen.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526694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Fluorescent-virion cibarium competitive binding, Killiny protocol. If it tracks transmission, every later iteration takes days, not weeks.</a:t>
            </a:r>
            <a:endParaRPr lang="en-US" sz="860" dirty="0"/>
          </a:p>
        </p:txBody>
      </p:sp>
      <p:sp>
        <p:nvSpPr>
          <p:cNvPr id="25" name="Text 23"/>
          <p:cNvSpPr txBox="1"/>
          <p:nvPr/>
        </p:nvSpPr>
        <p:spPr>
          <a:xfrm>
            <a:off x="9464040" y="52852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9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CHEAP TO FIND OUT · HIGH LEVERAGE IF IT WORKS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2064" y="606247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JUDGE ON RANKING AND PRE-REGISTERED CRITERIA — NOT A POST-HOC STORY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 / 54</a:t>
            </a:r>
            <a:endParaRPr lang="en-US" sz="650" dirty="0"/>
          </a:p>
        </p:txBody>
      </p:sp>
      <p:sp>
        <p:nvSpPr>
          <p:cNvPr id="30" name="Text 28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/ FAR THIS GOES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levels. The first is a season away.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Each level needs the one below it working. Levels 01 and 02 are the trial; the rest is what the trial unlocks.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06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1197864" y="260604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DOES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4215384" y="260604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8787384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20" kern="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 · CLOCK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12064" y="2843784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292608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40" dirty="0"/>
          </a:p>
        </p:txBody>
      </p:sp>
      <p:sp>
        <p:nvSpPr>
          <p:cNvPr id="13" name="Text 11"/>
          <p:cNvSpPr txBox="1"/>
          <p:nvPr/>
        </p:nvSpPr>
        <p:spPr>
          <a:xfrm>
            <a:off x="1197864" y="29260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Confirm the knockout</a:t>
            </a:r>
            <a:endParaRPr lang="en-US" sz="940" dirty="0"/>
          </a:p>
        </p:txBody>
      </p:sp>
      <p:sp>
        <p:nvSpPr>
          <p:cNvPr id="14" name="Text 12"/>
          <p:cNvSpPr txBox="1"/>
          <p:nvPr/>
        </p:nvSpPr>
        <p:spPr>
          <a:xfrm>
            <a:off x="4215384" y="292608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p61+p65 into a transmissible backbone; titer and transmission scored blinded</a:t>
            </a:r>
            <a:endParaRPr lang="en-US" sz="940" dirty="0"/>
          </a:p>
        </p:txBody>
      </p:sp>
      <p:sp>
        <p:nvSpPr>
          <p:cNvPr id="15" name="Text 13"/>
          <p:cNvSpPr txBox="1"/>
          <p:nvPr/>
        </p:nvSpPr>
        <p:spPr>
          <a:xfrm>
            <a:off x="8787384" y="29260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FOUR CLONES · 0–3 MONTHS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" y="33284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38328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40" dirty="0"/>
          </a:p>
        </p:txBody>
      </p:sp>
      <p:sp>
        <p:nvSpPr>
          <p:cNvPr id="18" name="Text 16"/>
          <p:cNvSpPr txBox="1"/>
          <p:nvPr/>
        </p:nvSpPr>
        <p:spPr>
          <a:xfrm>
            <a:off x="1197864" y="33832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Map the necessary residues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215384" y="338328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Block then single swaps say which of the eleven carry the effect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8787384" y="33832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01 + THE PANEL · 3–6 MONTHS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2064" y="37856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384048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40" dirty="0"/>
          </a:p>
        </p:txBody>
      </p:sp>
      <p:sp>
        <p:nvSpPr>
          <p:cNvPr id="23" name="Text 21"/>
          <p:cNvSpPr txBox="1"/>
          <p:nvPr/>
        </p:nvSpPr>
        <p:spPr>
          <a:xfrm>
            <a:off x="1197864" y="38404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Engineer a clean CPm point mutant</a:t>
            </a:r>
            <a:endParaRPr lang="en-US" sz="940" dirty="0"/>
          </a:p>
        </p:txBody>
      </p:sp>
      <p:sp>
        <p:nvSpPr>
          <p:cNvPr id="24" name="Text 22"/>
          <p:cNvSpPr txBox="1"/>
          <p:nvPr/>
        </p:nvSpPr>
        <p:spPr>
          <a:xfrm>
            <a:off x="4215384" y="384048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literal capsid mutation — the original question — aimed by a now-known interface</a:t>
            </a:r>
            <a:endParaRPr lang="en-US" sz="940" dirty="0"/>
          </a:p>
        </p:txBody>
      </p:sp>
      <p:sp>
        <p:nvSpPr>
          <p:cNvPr id="25" name="Text 23"/>
          <p:cNvSpPr txBox="1"/>
          <p:nvPr/>
        </p:nvSpPr>
        <p:spPr>
          <a:xfrm>
            <a:off x="8787384" y="38404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02 + BINDING ASSAY · 6–12 MONTHS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2064" y="42428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429768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40" dirty="0"/>
          </a:p>
        </p:txBody>
      </p:sp>
      <p:sp>
        <p:nvSpPr>
          <p:cNvPr id="28" name="Text 26"/>
          <p:cNvSpPr txBox="1"/>
          <p:nvPr/>
        </p:nvSpPr>
        <p:spPr>
          <a:xfrm>
            <a:off x="1197864" y="42976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Transfer across closteroviruses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4215384" y="429768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same tail logic in BYV-type and crinivirus systems — generality, not just CTV</a:t>
            </a:r>
            <a:endParaRPr lang="en-US" sz="940" dirty="0"/>
          </a:p>
        </p:txBody>
      </p:sp>
      <p:sp>
        <p:nvSpPr>
          <p:cNvPr id="30" name="Text 28"/>
          <p:cNvSpPr txBox="1"/>
          <p:nvPr/>
        </p:nvSpPr>
        <p:spPr>
          <a:xfrm>
            <a:off x="8787384" y="42976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 03 + A SECOND SYSTEM · 9–18 MONTHS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" y="47000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475488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40" dirty="0"/>
          </a:p>
        </p:txBody>
      </p:sp>
      <p:sp>
        <p:nvSpPr>
          <p:cNvPr id="33" name="Text 31"/>
          <p:cNvSpPr txBox="1"/>
          <p:nvPr/>
        </p:nvSpPr>
        <p:spPr>
          <a:xfrm>
            <a:off x="1197864" y="475488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Codify biocontainment by design</a:t>
            </a:r>
            <a:endParaRPr lang="en-US" sz="940" dirty="0"/>
          </a:p>
        </p:txBody>
      </p:sp>
      <p:sp>
        <p:nvSpPr>
          <p:cNvPr id="34" name="Text 32"/>
          <p:cNvSpPr txBox="1"/>
          <p:nvPr/>
        </p:nvSpPr>
        <p:spPr>
          <a:xfrm>
            <a:off x="4215384" y="475488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4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documented design rule — virions that can't ride vectors — beside CYVaV's capsid-free architecture</a:t>
            </a:r>
            <a:endParaRPr lang="en-US" sz="940" dirty="0"/>
          </a:p>
        </p:txBody>
      </p:sp>
      <p:sp>
        <p:nvSpPr>
          <p:cNvPr id="35" name="Text 33"/>
          <p:cNvSpPr txBox="1"/>
          <p:nvPr/>
        </p:nvSpPr>
        <p:spPr>
          <a:xfrm>
            <a:off x="8787384" y="475488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5A56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ABOVE + SCEPTICISM · 18 MONTHS +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2064" y="515721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 TO LEVELS 01–02 NOW · 03–05 ARE THE REASON TO START, NOT A PROMISE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 / 54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WORKING MODEL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How this runs, week by week.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credibility of the whole exercise rests on two choices: fail criteria registered before anything is cloned, and clone identity masked from everyone reading an ELISA.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74320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0–2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0175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Align and design.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" y="3456432"/>
            <a:ext cx="2487168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" y="3584448"/>
            <a:ext cx="2532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Re-derive the substitutions from the accessions, freeze the construct list, register criteria. Your effort: one scientist, a few hours.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3346704" y="274320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2–10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346704" y="30175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Clone and verify.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46704" y="3456432"/>
            <a:ext cx="2487168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46704" y="3584448"/>
            <a:ext cx="2532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Synthesis and assembly of the four clones, full-length sequencing, agroinoculation. Aphids only after systemic infection at parental titer.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274320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10–18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30175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Transmit — blinded.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3456432"/>
            <a:ext cx="2487168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81344" y="3584448"/>
            <a:ext cx="2532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published Harper protocol, run with clone identity sealed. Expectation cannot steer a 1% readout.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9015984" y="274320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18–20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9015984" y="30175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Score and decide.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15984" y="3456432"/>
            <a:ext cx="2487168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15984" y="3584448"/>
            <a:ext cx="2532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Outcomes against the registered criteria, not against hope. Deliverable: go on the residue map — or a clean, explained null.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12064" y="5760720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5852160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EVERYTHING IS DELIVERED AS CONSTRUCTS, SEQUENCES AND DATA SILVEC KEEPS — STOP AFTER STAGE 0 AND THE ALIGNMENT IS STILL YOURS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 / 54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BLINDING + PRE-REGISTRATION ARE WHAT MAKE A POSITIVE RESULT REPORTABLE</a:t>
            </a:r>
            <a:endParaRPr lang="en-US" sz="6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/ AI RUNS NEXT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next round of sessions, priced in days.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While the greenhouse clock runs, the model work continues. Six items, each with the model type to use and the verification to demand.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697480"/>
            <a:ext cx="3593592" cy="138988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" y="2807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Retrieve Shilts 2026 full text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309981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tier-3 flag (~50%, 'coordinated function') either hardens or dissolves; panel re-scores it</a:t>
            </a:r>
            <a:endParaRPr lang="en-US" sz="860" dirty="0"/>
          </a:p>
        </p:txBody>
      </p:sp>
      <p:sp>
        <p:nvSpPr>
          <p:cNvPr id="10" name="Text 8"/>
          <p:cNvSpPr txBox="1"/>
          <p:nvPr/>
        </p:nvSpPr>
        <p:spPr>
          <a:xfrm>
            <a:off x="649224" y="384962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LITERATURE AGENT → TIER 2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4297680" y="2697480"/>
            <a:ext cx="3593592" cy="138988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807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Adversarial panel, round 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09981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final protocol gets attacked before it gets clones — same roster, fresh eyes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84962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CONSORTIUM → CONSENSUS LOG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8083296" y="2697480"/>
            <a:ext cx="3593592" cy="138988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0456" y="28072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Phenotype-segregation census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0456" y="309981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tag the 11 residues across the 130-genome alignment by transmission phenotype — data already in hand</a:t>
            </a:r>
            <a:endParaRPr lang="en-US" sz="86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384962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 + MODEL REVIEW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12064" y="4251960"/>
            <a:ext cx="3593592" cy="138988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" y="43616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Structure-guided residue ranking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" y="465429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AlphaFold-grade models of p27/p61/p65 surface for the block panel — labeled prediction-only until the binding assay rules</a:t>
            </a:r>
            <a:endParaRPr lang="en-US" sz="86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540410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OPEN-MODEL PIPELINE → AF FLAG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4297680" y="4251960"/>
            <a:ext cx="3593592" cy="138988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43616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Receptor literature sweep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465429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is known of the T. citricida cibarium receptor and closterovirus tail genetics — maps the interface C must hit</a:t>
            </a:r>
            <a:endParaRPr lang="en-US" sz="86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540410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DEEP-RESEARCH PASS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8083296" y="4251960"/>
            <a:ext cx="3593592" cy="1389888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0456" y="43616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living knowledge base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0456" y="4654296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repo is public and the Q&amp;A base is structured JSON — one step from a team chatbot where every answer carries its source and tier</a:t>
            </a:r>
            <a:endParaRPr lang="en-US" sz="860" dirty="0"/>
          </a:p>
        </p:txBody>
      </p:sp>
      <p:sp>
        <p:nvSpPr>
          <p:cNvPr id="30" name="Text 28"/>
          <p:cNvSpPr txBox="1"/>
          <p:nvPr/>
        </p:nvSpPr>
        <p:spPr>
          <a:xfrm>
            <a:off x="8220456" y="5404104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 OVER THE REPO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ITEM IS DAYS OF MODEL TIME — AND EACH ONE CANCELS A WET-LAB DETOUR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 / 54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/ QUESTIONS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we need, and what nobody knows yet.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left column is answerable this week from the team's own records. The right is what the trial exists to find 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2743200"/>
            <a:ext cx="5394960" cy="3017520"/>
          </a:xfrm>
          <a:prstGeom prst="rect">
            <a:avLst/>
          </a:prstGeom>
          <a:solidFill>
            <a:srgbClr val="E7D3BF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9077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ANSWERABLE FROM YOUR RECORDS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200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Is a transmissible infectious clone (FS577 or T68) physically accessible?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Which T. citricida colony is on hand — and its historical baseline?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containment does CTV construct work already run under?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Who in-house has closterovirus cloning or CTV assay experience?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does a 250-plant, 8-week C. macrophylla cohort actually cost?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8A4F0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Which citrus host anchors the validation phase?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91072" y="2743200"/>
            <a:ext cx="5394960" cy="3017520"/>
          </a:xfrm>
          <a:prstGeom prst="rect">
            <a:avLst/>
          </a:prstGeom>
          <a:solidFill>
            <a:srgbClr val="F4EDE0"/>
          </a:solidFill>
          <a:ln w="9525">
            <a:solidFill>
              <a:srgbClr val="D9D4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9077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ANSWERABLE ONLY BY THE TRIAL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3200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 the eleven residues act additively or epistatically?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 p65's two substitutions suffice without p61's nine?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Does the knockout fail at docking, or downstream of it?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Does silencing reproduce on a second backbone (T68)?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Can a single p27 substitution replicate the whole effect?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Does titer-normalized p33 move transmission independently?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LEFT COLUMN IS THIS WEEK'S AGENDA · THE RIGHT COLUMN IS THE REASON TO RUN THE TRIAL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/ 54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 / EXPECTATIONS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this will not do.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Worth stating plainly at the outset. A first engineered-virus trial fails more often from overclaiming than from underperforming.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 WILL NOT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301752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Cure tristeza in the field.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Co-infecting transmissible strains complement the knockout — 35.7% is the demonstration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Authorize release.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This is the design of a laboratory experiment; nothing here proposes environmental deployment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Map the interface on its own.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knockout is on/off; the residue map needs the staged panel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</a:t>
            </a:r>
            <a:pPr indent="0" marL="0">
              <a:lnSpc>
                <a:spcPct val="104000"/>
              </a:lnSpc>
              <a:buNone/>
            </a:pPr>
            <a:r>
              <a:rPr lang="en-US" sz="96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Transfer untested. </a:t>
            </a:r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Family rules do not cross; CYVaV has no capsid to edit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629107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 KEEP EITHER WAY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91072" y="301752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exact p61/p65 substitution map of the T36↔FS577 pair, with accessions, in writing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sequence-verified constructs on one backbone — reusable for reversion, complementation and binding studies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blinded, pre-registered aphid assay Silvec can rerun for any future variant or product claim</a:t>
            </a:r>
            <a:endParaRPr lang="en-US" sz="96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</a:t>
            </a:r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falsification log, a verification stack, and a review consortium worth more than any single answer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12064" y="6053328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6144768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BASIS AND LIMITS ON THE NEXT SLIDE — EVERY NUMBER IN THIS DECK CARRIES ITS TIER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 / 54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CORRECTIONS LOG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errors found and fixed. Kept on purpose.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Recorded so they are not reintroduced — and so the team can see exactly what the verification stack is for.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p33 identity first reported as 44.7% from an ungapped comparison across an indel</a:t>
            </a:r>
            <a:endParaRPr lang="en-US" sz="92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697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Proper gapped alignment: 98.7% (295/302)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12064" y="3209544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" y="32644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Residue 174 first called off field isolate U16304, whose p33 reading frame differs</a:t>
            </a:r>
            <a:endParaRPr lang="en-US" sz="92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644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Residue calls anchored to infectious clone EU937521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12064" y="3776472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383133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2026 Virology paper cited 67× as 'Harper et al. 2026'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83133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Authors are Shilts, Nehela &amp; Killiny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12064" y="4343400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43982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foregut-binding paper cited 24× as 'Prado et al. 2016'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39826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Authors are Killiny, Harper, Alfaress, El-Mohtar &amp; Dawson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12064" y="4910328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9651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✗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p61/p65 written up as a fallback if p33 fails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96519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✓  </a:t>
            </a:r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2026 abstract presents them as required partners — the lead construct is built on them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12064" y="5477256"/>
            <a:ext cx="11167567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Also marked SUPERSEDED: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earlier CPm-target decks remain in the project. Do not circulate — the CPm premise is falsified; the K174R-centered arc deck carries an abstract-only claim now re-scored.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" y="6199632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6291072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LOG IS THE EVIDENCE THE PROCESS WORKS — EACH LINE IS A DETOUR THAT NEVER REACHED THE BENCH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 / 54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 DECK SLIDE 16 · PANEL ROUNDS 1–2</a:t>
            </a:r>
            <a:endParaRPr lang="en-US" sz="6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FE8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/ SOURCES &amp; TIERS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71016"/>
            <a:ext cx="1062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claim, mapped to how firm it is.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89280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Full citations with the verification tier each one actually holds today.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69748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et al. 2016 — p61/p65 swap series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12064" y="28895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Arch Virol 161:3555–3559 · doi:10.1007/s00705-016-3070-x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398264" y="2889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 · FULL TEXT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512064" y="3172968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326440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Shilts et al. 2020 — isolate baselines + p33 swap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34564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Viruses 12:1131 · doi:10.3390/v12101131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398264" y="3456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 · FULL TEXT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12064" y="3739896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" y="383133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Killiny et al. 2016 — cibarium binding &amp; competition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" y="40233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AEM 82:6294–6302 · doi:10.1128/AEM.01914-16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398264" y="4023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 · FULL TEXT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12064" y="4306824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439826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Aknadibossian et al. 2025 — p33 viroporin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" y="45902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PLOS Pathog 21:e1013730 · doi:10.1371/journal.ppat.1013730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398264" y="4590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 · FULL TEXT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12064" y="4873752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" y="4965192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et al. 2018 — complementation 35.7%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" y="51572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Arch Virol 163:3373–3376 · doi:10.1007/s00705-018-4009-1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5157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T2 · FULL TEXT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2064" y="5440680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553212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Shilts, Nehela &amp; Killiny 2026 — triple complement ~50%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12064" y="57241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Virology 621:110928 · PMID 42061270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4398264" y="57241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T3 · ABSTRACT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2064" y="6007608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26480" y="269748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Satyanarayana et al. 2004 — bipolar virion assembly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28895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PNAS 101:799–804 · doi:10.1073/pnas.0307747100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10012680" y="2889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T4 · CITED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126480" y="3172968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26480" y="326440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2013 — greenhouse drift / genotypic groups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126480" y="34564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Front Microbiol 4:93 · doi:10.3389/fmicb.2013.00093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3456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T4 · CITED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126480" y="3739896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26480" y="383133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Stewart et al. 2010 — LIYV CPm frameshift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40233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J Virol 84:12165–12173 · doi:10.1128/JVI.01192-10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0012680" y="4023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T4 · CITED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126480" y="4306824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26480" y="439826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Wu et al. 2015 — CPm positive selection (codon 9)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459028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Arch Virol 160:787–794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0012680" y="4590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T4 · CITED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6126480" y="4873752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Accessions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126480" y="51572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KC517488 · T36 clone AY170468 · EU937521 · T36 field U16304 · T68-1 JQ965169 · T30 AF260651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10012680" y="5157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T1 · RE-DERIVED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6126480" y="5440680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126480" y="553212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analyses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126480" y="57241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130-genome census · alignments · Fisher/CI recomputation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10012680" y="57241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220" kern="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T1 · OURS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6126480" y="6007608"/>
            <a:ext cx="5349240" cy="0"/>
          </a:xfrm>
          <a:prstGeom prst="line">
            <a:avLst/>
          </a:prstGeom>
          <a:noFill/>
          <a:ln w="9525">
            <a:solidFill>
              <a:srgbClr val="D9D4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064" y="6016752"/>
            <a:ext cx="1116756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12064" y="6108192"/>
            <a:ext cx="111675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 IS A DEBT ITEM — RETRIEVE VIROLOGY 621:110928 BEFORE CONSTRUCTS ARE ORDERED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 / 54</a:t>
            </a:r>
            <a:endParaRPr lang="en-US" sz="650" dirty="0"/>
          </a:p>
        </p:txBody>
      </p:sp>
      <p:sp>
        <p:nvSpPr>
          <p:cNvPr id="58" name="Text 56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2064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4032" y="3566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20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 / 54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9601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40" kern="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ROAD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1280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Twenty weeks to a </a:t>
            </a:r>
            <a:pPr indent="0" marL="0">
              <a:buNone/>
            </a:pPr>
            <a:r>
              <a:rPr lang="en-US" sz="3400" i="1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verdict.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2057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Nothing expensive is committed before the gate: sequence-verified clones infecting C. macrophylla at parental titer. The first stage is worth doing whatever is decided about modelling.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12064" y="28346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Confirm inputs · this week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78024" y="2889504"/>
            <a:ext cx="446364" cy="182880"/>
          </a:xfrm>
          <a:prstGeom prst="roundRect">
            <a:avLst>
              <a:gd name="adj" fmla="val 20000"/>
            </a:avLst>
          </a:prstGeom>
          <a:solidFill>
            <a:srgbClr val="B851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32888" y="2884932"/>
            <a:ext cx="35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BACKBONE · COLONY · CONTAINMENT</a:t>
            </a:r>
            <a:endParaRPr lang="en-US" sz="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32186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Clone &amp; verify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4388" y="3273552"/>
            <a:ext cx="3570915" cy="182880"/>
          </a:xfrm>
          <a:prstGeom prst="roundRect">
            <a:avLst>
              <a:gd name="adj" fmla="val 20000"/>
            </a:avLst>
          </a:prstGeom>
          <a:solidFill>
            <a:srgbClr val="7A76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79252" y="3268980"/>
            <a:ext cx="347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FOUR CLONES · FULL-LENGTH SEQ · SYSTEMIC TITER</a:t>
            </a:r>
            <a:endParaRPr lang="en-US" sz="6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36027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Gate · infection at parental titer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5303" y="3657600"/>
            <a:ext cx="446364" cy="182880"/>
          </a:xfrm>
          <a:prstGeom prst="roundRect">
            <a:avLst>
              <a:gd name="adj" fmla="val 20000"/>
            </a:avLst>
          </a:prstGeom>
          <a:solidFill>
            <a:srgbClr val="E89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50167" y="3653028"/>
            <a:ext cx="35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 STOP HERE, CHEAPLY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6426723" y="3662172"/>
            <a:ext cx="137160" cy="137160"/>
          </a:xfrm>
          <a:prstGeom prst="diamond">
            <a:avLst/>
          </a:prstGeom>
          <a:solidFill>
            <a:srgbClr val="1A181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986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Transmit — blinded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1668" y="4041648"/>
            <a:ext cx="3570915" cy="182880"/>
          </a:xfrm>
          <a:prstGeom prst="roundRect">
            <a:avLst>
              <a:gd name="adj" fmla="val 20000"/>
            </a:avLst>
          </a:prstGeom>
          <a:solidFill>
            <a:srgbClr val="B851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96532" y="4037076"/>
            <a:ext cx="347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PROTOCOL · TITER ON EVERY SOURCE</a:t>
            </a:r>
            <a:endParaRPr lang="en-US" sz="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" y="43708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Score &amp; decide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2582" y="4425696"/>
            <a:ext cx="892729" cy="182880"/>
          </a:xfrm>
          <a:prstGeom prst="roundRect">
            <a:avLst>
              <a:gd name="adj" fmla="val 20000"/>
            </a:avLst>
          </a:prstGeom>
          <a:solidFill>
            <a:srgbClr val="4F5A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67446" y="4421124"/>
            <a:ext cx="8012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REGISTERED CRITERIA · GO ON THE MAP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478024" y="4782312"/>
            <a:ext cx="8927287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03704" y="48097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4435526" y="48097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W5</a:t>
            </a:r>
            <a:endParaRPr lang="en-US" sz="600" dirty="0"/>
          </a:p>
        </p:txBody>
      </p:sp>
      <p:sp>
        <p:nvSpPr>
          <p:cNvPr id="26" name="Text 24"/>
          <p:cNvSpPr txBox="1"/>
          <p:nvPr/>
        </p:nvSpPr>
        <p:spPr>
          <a:xfrm>
            <a:off x="6667348" y="48097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600" dirty="0"/>
          </a:p>
        </p:txBody>
      </p:sp>
      <p:sp>
        <p:nvSpPr>
          <p:cNvPr id="27" name="Text 25"/>
          <p:cNvSpPr txBox="1"/>
          <p:nvPr/>
        </p:nvSpPr>
        <p:spPr>
          <a:xfrm>
            <a:off x="8899169" y="48097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W15</a:t>
            </a:r>
            <a:endParaRPr lang="en-US" sz="600" dirty="0"/>
          </a:p>
        </p:txBody>
      </p:sp>
      <p:sp>
        <p:nvSpPr>
          <p:cNvPr id="28" name="Text 26"/>
          <p:cNvSpPr txBox="1"/>
          <p:nvPr/>
        </p:nvSpPr>
        <p:spPr>
          <a:xfrm>
            <a:off x="11130991" y="480974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W20</a:t>
            </a:r>
            <a:endParaRPr lang="en-US" sz="6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E89C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Start with the alignment  →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" y="56235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weeks of sequence work, then a decision point the whole team can audit. The residue map, the second backbone, and the point-mutant capsid edit wait behind it.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" y="6263640"/>
            <a:ext cx="11167567" cy="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63367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6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TRANSMISSION-DEAD CTV HYPOTHESIS · 2026 · CONFIDENTIAL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63367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spc="160" kern="0" dirty="0">
                <a:solidFill>
                  <a:srgbClr val="B3AE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 / 54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Transmission-dead CTV — hypothesis trial 003</dc:title>
  <dc:subject>AI strategy session 03 — transmission-dead CTV hypothesis and method</dc:subject>
  <dc:creator>Silvec Biologics</dc:creator>
  <cp:lastModifiedBy>Silvec Biologics</cp:lastModifiedBy>
  <cp:revision>1</cp:revision>
  <dcterms:created xsi:type="dcterms:W3CDTF">2026-09-05T17:02:14Z</dcterms:created>
  <dcterms:modified xsi:type="dcterms:W3CDTF">2026-09-05T17:02:14Z</dcterms:modified>
</cp:coreProperties>
</file>